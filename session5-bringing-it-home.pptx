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or not you've been at every session, here's the arc in sixty seconds. We started with mindset: when to use AI at all. Then talking to AI well: the actual mechanics of a good prompt. Then power levels: what to reach for when prompting alone isn't enough. Then trust: how to know when to believe what comes back. And today, we bring all of that together on one real example, plus two more everyday applications, and a way to keep the value of all this going after today.
Prep: this slide is doing real work (making the session self-sufficient); deliver it with real care, not as a throwaway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today's demo, a quick map, not a claim that AI does all of this well today, just a mental map of where it plausibly fits across a typical desk workflow. Pre-trade research and analysis. Trade capture and structuring assistance. Post-trade reporting and summarization. Client communication drafting, always human-reviewed, given everything we covered last session. And risk or exposure monitoring, surfacing patterns worth your attention, not replacing your judgment. Today's demo lives mostly in the middle of this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depends on the finalized scenario; draft once the [DRAFT] above is resolved. General shape: "Here's exactly what we're going to do together. [state the scenario]. Watch for the moves we've covered all series (prompting, context, tool choice, verification); they're all about to show up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scenario finalized (see slide 4 prep note) well before this is built.
Step 2: rehearse this narration at least once end-to-end; know in advance which specific lines/cells map to which series concept so the callouts feel natural.
Step 3: confirm the full run works reliably end-to-end at least twice before presenting it live.
TIMING DECISION NEEDED (unresolved, needs Sai's call before finalizing): both the primary and secondary demo inside one 10-15 min block is tight. Options: (a) trim A3 to a single narrated slide instead of a live demo; (b) fold A3 into Q&amp;A as a quick show-not-tell if a relevant question comes up naturally; (c) extend demo time by trimming the slide deck toward 9-10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name what actually just happened, because it's easy to watch a demo and just see 'it worked' rather than why it worked. The prompt we used followed the role-task-format-constraints checklist from session two. The context we gave it was deliberately scoped, not just 'everything.' The tool we selected was chosen narrowly, on purpose. And before we trusted the result, we ran it through the verification habit from last session. None of that was luck: every one of those was a deliberate choice, and now you've seen all of them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gears to a second, very different everyday use. This isn't about AI writing new code for you: it's about AI helping you understand code someone else already wrote, with little or no documentation, faster than reading it line by line yourself. If you've ever inherited a codebase where the original author's long gone, you know exactly the pain this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looks like. On the left, a function with essentially no comments, the kind everyone has at least one of somewhere. On the right, asked to explain it step by step and flag anything unusual. Notice it didn't just describe what the code does: it flagged this one thing here as worth testing before you'd trust it to change. That's the habit worth taking away: use it to orient fast, then verify before you act, same theme as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practical skill, extending something from session one. When you're picking which agents or tools to select in AI Studio, ask three things: what's the actual task, what's your input, what output do you need. Then match that to the smallest set of tools that covers it, not everything 'just in case.' Selecting too much can actually slow things down and muddy the result, just as much as selecting too little can leave the task incomplete. Start narrow, add only if the first attempt falls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part that decides whether everything from this series compounds or fades. A shared place (doesn't need to be fancy, a doc or a channel is enough) where anyone can post 'here's a prompt or agent setup that worked well for X,' with enough detail someone else could actually reuse it. I have a proposal for where this could live [state it], but honestly, who owns curating and pruning it is worth deciding together, right now, rather than me deciding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sessions, and I want to leave you with five concrete things to actually do, starting Monday morning, one per session. Before you open AI Studio: ask if it could just be a rule. On your next real prompt: run it through role, task, format, constraints. When something's not working with prompting alone: know whether that's a RAG need or a fine-tuning wish. Before you act on anything material: verify it. And this week: post one prompt that worked well into the library we just talked about, so it's not just words in a room today. That's the whole series, in five actions.
Prep: this is the single most important slide to get right in the whole series; rehearse the delivery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until content is decided; decide this slide's actual content last, after rehearsing the full series once and seeing what consistently wants more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E2761"/>
          </a:solidFill>
          <a:ln/>
        </p:spPr>
      </p:sp>
      <p:sp>
        <p:nvSpPr>
          <p:cNvPr id="3" name="Shape 1"/>
          <p:cNvSpPr/>
          <p:nvPr/>
        </p:nvSpPr>
        <p:spPr>
          <a:xfrm>
            <a:off x="-1463040" y="4663440"/>
            <a:ext cx="3291840" cy="3291840"/>
          </a:xfrm>
          <a:prstGeom prst="ellipse">
            <a:avLst/>
          </a:prstGeom>
          <a:solidFill>
            <a:srgbClr val="1E2761"/>
          </a:solidFill>
          <a:ln/>
        </p:spPr>
      </p:sp>
      <p:sp>
        <p:nvSpPr>
          <p:cNvPr id="4" name="Text 2"/>
          <p:cNvSpPr/>
          <p:nvPr/>
        </p:nvSpPr>
        <p:spPr>
          <a:xfrm>
            <a:off x="502920" y="566928"/>
            <a:ext cx="73152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USE-CASE-DRIVEN SERIES</a:t>
            </a:r>
            <a:endParaRPr lang="en-US" sz="1300" dirty="0"/>
          </a:p>
        </p:txBody>
      </p:sp>
      <p:sp>
        <p:nvSpPr>
          <p:cNvPr id="5" name="Shape 3"/>
          <p:cNvSpPr/>
          <p:nvPr/>
        </p:nvSpPr>
        <p:spPr>
          <a:xfrm>
            <a:off x="822960" y="1965960"/>
            <a:ext cx="1051560" cy="1051560"/>
          </a:xfrm>
          <a:prstGeom prst="ellipse">
            <a:avLst/>
          </a:prstGeom>
          <a:solidFill>
            <a:srgbClr val="E8A33D"/>
          </a:solidFill>
          <a:ln/>
        </p:spPr>
      </p:sp>
      <p:sp>
        <p:nvSpPr>
          <p:cNvPr id="6" name="Text 4"/>
          <p:cNvSpPr/>
          <p:nvPr/>
        </p:nvSpPr>
        <p:spPr>
          <a:xfrm>
            <a:off x="822960" y="1965960"/>
            <a:ext cx="1051560" cy="1051560"/>
          </a:xfrm>
          <a:prstGeom prst="rect">
            <a:avLst/>
          </a:prstGeom>
          <a:noFill/>
          <a:ln/>
        </p:spPr>
        <p:txBody>
          <a:bodyPr wrap="square" lIns="0" tIns="0" rIns="0" bIns="0" rtlCol="0" anchor="ctr"/>
          <a:lstStyle/>
          <a:p>
            <a:pPr algn="ctr" indent="0" marL="0">
              <a:buNone/>
            </a:pPr>
            <a:r>
              <a:rPr lang="en-US" sz="3400" b="1" dirty="0">
                <a:solidFill>
                  <a:srgbClr val="141B45"/>
                </a:solidFill>
                <a:latin typeface="Cambria" pitchFamily="34" charset="0"/>
                <a:ea typeface="Cambria" pitchFamily="34" charset="-122"/>
                <a:cs typeface="Cambria" pitchFamily="34" charset="-120"/>
              </a:rPr>
              <a:t>5</a:t>
            </a:r>
            <a:endParaRPr lang="en-US" sz="3400" dirty="0"/>
          </a:p>
        </p:txBody>
      </p:sp>
      <p:sp>
        <p:nvSpPr>
          <p:cNvPr id="7" name="Text 5"/>
          <p:cNvSpPr/>
          <p:nvPr/>
        </p:nvSpPr>
        <p:spPr>
          <a:xfrm>
            <a:off x="2148840" y="1783080"/>
            <a:ext cx="9509760" cy="173736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Bringing It Home</a:t>
            </a:r>
            <a:endParaRPr lang="en-US" sz="4000" dirty="0"/>
          </a:p>
        </p:txBody>
      </p:sp>
      <p:sp>
        <p:nvSpPr>
          <p:cNvPr id="8" name="Text 6"/>
          <p:cNvSpPr/>
          <p:nvPr/>
        </p:nvSpPr>
        <p:spPr>
          <a:xfrm>
            <a:off x="2148840" y="1371600"/>
            <a:ext cx="9509760" cy="36576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Applied</a:t>
            </a:r>
            <a:endParaRPr lang="en-US" sz="1400" dirty="0"/>
          </a:p>
        </p:txBody>
      </p:sp>
      <p:sp>
        <p:nvSpPr>
          <p:cNvPr id="9" name="Text 7"/>
          <p:cNvSpPr/>
          <p:nvPr/>
        </p:nvSpPr>
        <p:spPr>
          <a:xfrm>
            <a:off x="2148840" y="3246120"/>
            <a:ext cx="8961120" cy="822960"/>
          </a:xfrm>
          <a:prstGeom prst="rect">
            <a:avLst/>
          </a:prstGeom>
          <a:noFill/>
          <a:ln/>
        </p:spPr>
        <p:txBody>
          <a:bodyPr wrap="square" lIns="0" tIns="0" rIns="0" bIns="0" rtlCol="0" anchor="ctr"/>
          <a:lstStyle/>
          <a:p>
            <a:pPr algn="l" indent="0" marL="0">
              <a:buNone/>
            </a:pPr>
            <a:r>
              <a:rPr lang="en-US" sz="1700" i="1" dirty="0">
                <a:solidFill>
                  <a:srgbClr val="CADCFC"/>
                </a:solidFill>
                <a:latin typeface="Calibri" pitchFamily="34" charset="0"/>
                <a:ea typeface="Calibri" pitchFamily="34" charset="-122"/>
                <a:cs typeface="Calibri" pitchFamily="34" charset="-120"/>
              </a:rPr>
              <a:t>Applying it and sustaining the habit (A1–A3, A5): AI with finance, legacy code, tool selection, and a team habit that compounds.</a:t>
            </a:r>
            <a:endParaRPr lang="en-US" sz="1700" dirty="0"/>
          </a:p>
        </p:txBody>
      </p:sp>
      <p:sp>
        <p:nvSpPr>
          <p:cNvPr id="10" name="Text 8"/>
          <p:cNvSpPr/>
          <p:nvPr/>
        </p:nvSpPr>
        <p:spPr>
          <a:xfrm>
            <a:off x="502920" y="6355080"/>
            <a:ext cx="7315200" cy="274320"/>
          </a:xfrm>
          <a:prstGeom prst="rect">
            <a:avLst/>
          </a:prstGeom>
          <a:noFill/>
          <a:ln/>
        </p:spPr>
        <p:txBody>
          <a:bodyPr wrap="square" lIns="0" tIns="0" rIns="0" bIns="0" rtlCol="0" anchor="ctr"/>
          <a:lstStyle/>
          <a:p>
            <a:pPr indent="0" marL="0">
              <a:buNone/>
            </a:pPr>
            <a:r>
              <a:rPr lang="en-US" sz="1000" dirty="0">
                <a:solidFill>
                  <a:srgbClr val="8895BC"/>
                </a:solidFill>
                <a:latin typeface="Calibri" pitchFamily="34" charset="0"/>
                <a:ea typeface="Calibri" pitchFamily="34" charset="-122"/>
                <a:cs typeface="Calibri" pitchFamily="34" charset="-120"/>
              </a:rPr>
              <a:t>HSBC Global Markets · L&amp;D Series</a:t>
            </a:r>
            <a:endParaRPr lang="en-US" sz="10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Let's Put It All Together</a:t>
            </a:r>
            <a:endParaRPr lang="en-US" sz="2900" dirty="0"/>
          </a:p>
        </p:txBody>
      </p:sp>
      <p:sp>
        <p:nvSpPr>
          <p:cNvPr id="3" name="Text 1"/>
          <p:cNvSpPr/>
          <p:nvPr/>
        </p:nvSpPr>
        <p:spPr>
          <a:xfrm>
            <a:off x="502920" y="1097280"/>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The series arc, in one slide (hook + self-contained recap)</a:t>
            </a:r>
            <a:endParaRPr lang="en-US" sz="145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5" name="Text 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11400739" y="201168"/>
            <a:ext cx="192024" cy="192024"/>
          </a:xfrm>
          <a:prstGeom prst="rect">
            <a:avLst/>
          </a:prstGeom>
          <a:solidFill>
            <a:srgbClr val="FFFFFF"/>
          </a:solidFill>
          <a:ln/>
        </p:spPr>
      </p:sp>
      <p:sp>
        <p:nvSpPr>
          <p:cNvPr id="7" name="Shape 5"/>
          <p:cNvSpPr/>
          <p:nvPr/>
        </p:nvSpPr>
        <p:spPr>
          <a:xfrm rot="5400000">
            <a:off x="11544757" y="249174"/>
            <a:ext cx="192024" cy="96012"/>
          </a:xfrm>
          <a:prstGeom prst="triangle">
            <a:avLst/>
          </a:prstGeom>
          <a:solidFill>
            <a:srgbClr val="E52713"/>
          </a:solidFill>
          <a:ln/>
        </p:spPr>
      </p:sp>
      <p:sp>
        <p:nvSpPr>
          <p:cNvPr id="8" name="Shape 6"/>
          <p:cNvSpPr/>
          <p:nvPr/>
        </p:nvSpPr>
        <p:spPr>
          <a:xfrm rot="16200000">
            <a:off x="11256721" y="249174"/>
            <a:ext cx="192024" cy="96012"/>
          </a:xfrm>
          <a:prstGeom prst="triangle">
            <a:avLst/>
          </a:prstGeom>
          <a:solidFill>
            <a:srgbClr val="E52713"/>
          </a:solidFill>
          <a:ln/>
        </p:spPr>
      </p:sp>
      <p:sp>
        <p:nvSpPr>
          <p:cNvPr id="9" name="Shape 7"/>
          <p:cNvSpPr/>
          <p:nvPr/>
        </p:nvSpPr>
        <p:spPr>
          <a:xfrm rot="10800000">
            <a:off x="11400739" y="201168"/>
            <a:ext cx="192024" cy="96012"/>
          </a:xfrm>
          <a:prstGeom prst="triangle">
            <a:avLst/>
          </a:prstGeom>
          <a:solidFill>
            <a:srgbClr val="E52713"/>
          </a:solidFill>
          <a:ln/>
        </p:spPr>
      </p:sp>
      <p:sp>
        <p:nvSpPr>
          <p:cNvPr id="10" name="Shape 8"/>
          <p:cNvSpPr/>
          <p:nvPr/>
        </p:nvSpPr>
        <p:spPr>
          <a:xfrm>
            <a:off x="11400739" y="297180"/>
            <a:ext cx="192024" cy="96012"/>
          </a:xfrm>
          <a:prstGeom prst="triangle">
            <a:avLst/>
          </a:prstGeom>
          <a:solidFill>
            <a:srgbClr val="E52713"/>
          </a:solidFill>
          <a:ln/>
        </p:spPr>
      </p:sp>
      <p:sp>
        <p:nvSpPr>
          <p:cNvPr id="11" name="Shape 9"/>
          <p:cNvSpPr/>
          <p:nvPr/>
        </p:nvSpPr>
        <p:spPr>
          <a:xfrm>
            <a:off x="1146018" y="1984248"/>
            <a:ext cx="658368" cy="658368"/>
          </a:xfrm>
          <a:prstGeom prst="ellipse">
            <a:avLst/>
          </a:prstGeom>
          <a:solidFill>
            <a:srgbClr val="1E2761"/>
          </a:solidFill>
          <a:ln/>
        </p:spPr>
      </p:sp>
      <p:pic>
        <p:nvPicPr>
          <p:cNvPr id="12" name="Image 0" descr="/private/tmp/claude-501/-Users-sai-Work-Office-Teaching/ee8695eb-a8ef-409d-a9ba-c09e44dd9ced/scratchpad/pptx-build/assets/icons/FaLightbulb.png">    </p:cNvPr>
          <p:cNvPicPr>
            <a:picLocks noChangeAspect="1"/>
          </p:cNvPicPr>
          <p:nvPr/>
        </p:nvPicPr>
        <p:blipFill>
          <a:blip r:embed="rId1"/>
          <a:stretch>
            <a:fillRect/>
          </a:stretch>
        </p:blipFill>
        <p:spPr>
          <a:xfrm>
            <a:off x="1304026" y="2142256"/>
            <a:ext cx="342351" cy="342351"/>
          </a:xfrm>
          <a:prstGeom prst="rect">
            <a:avLst/>
          </a:prstGeom>
        </p:spPr>
      </p:pic>
      <p:sp>
        <p:nvSpPr>
          <p:cNvPr id="13" name="Text 10"/>
          <p:cNvSpPr/>
          <p:nvPr/>
        </p:nvSpPr>
        <p:spPr>
          <a:xfrm>
            <a:off x="502920" y="2770632"/>
            <a:ext cx="1944563"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Mindset</a:t>
            </a:r>
            <a:endParaRPr lang="en-US" sz="1250" dirty="0"/>
          </a:p>
        </p:txBody>
      </p:sp>
      <p:sp>
        <p:nvSpPr>
          <p:cNvPr id="14" name="Text 11"/>
          <p:cNvSpPr/>
          <p:nvPr/>
        </p:nvSpPr>
        <p:spPr>
          <a:xfrm>
            <a:off x="502920"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When to use AI at all</a:t>
            </a:r>
            <a:endParaRPr lang="en-US" sz="1000" dirty="0"/>
          </a:p>
        </p:txBody>
      </p:sp>
      <p:sp>
        <p:nvSpPr>
          <p:cNvPr id="15" name="Shape 12"/>
          <p:cNvSpPr/>
          <p:nvPr/>
        </p:nvSpPr>
        <p:spPr>
          <a:xfrm>
            <a:off x="2484059" y="2240280"/>
            <a:ext cx="292608" cy="146304"/>
          </a:xfrm>
          <a:prstGeom prst="rightArrow">
            <a:avLst/>
          </a:prstGeom>
          <a:solidFill>
            <a:srgbClr val="48587A"/>
          </a:solidFill>
          <a:ln/>
        </p:spPr>
      </p:sp>
      <p:sp>
        <p:nvSpPr>
          <p:cNvPr id="16" name="Shape 13"/>
          <p:cNvSpPr/>
          <p:nvPr/>
        </p:nvSpPr>
        <p:spPr>
          <a:xfrm>
            <a:off x="3456341" y="1984248"/>
            <a:ext cx="658368" cy="658368"/>
          </a:xfrm>
          <a:prstGeom prst="ellipse">
            <a:avLst/>
          </a:prstGeom>
          <a:solidFill>
            <a:srgbClr val="1E2761"/>
          </a:solidFill>
          <a:ln/>
        </p:spPr>
      </p:sp>
      <p:pic>
        <p:nvPicPr>
          <p:cNvPr id="17" name="Image 1" descr="/private/tmp/claude-501/-Users-sai-Work-Office-Teaching/ee8695eb-a8ef-409d-a9ba-c09e44dd9ced/scratchpad/pptx-build/assets/icons/FaComments.png">    </p:cNvPr>
          <p:cNvPicPr>
            <a:picLocks noChangeAspect="1"/>
          </p:cNvPicPr>
          <p:nvPr/>
        </p:nvPicPr>
        <p:blipFill>
          <a:blip r:embed="rId2"/>
          <a:stretch>
            <a:fillRect/>
          </a:stretch>
        </p:blipFill>
        <p:spPr>
          <a:xfrm>
            <a:off x="3614349" y="2142256"/>
            <a:ext cx="342351" cy="342351"/>
          </a:xfrm>
          <a:prstGeom prst="rect">
            <a:avLst/>
          </a:prstGeom>
        </p:spPr>
      </p:pic>
      <p:sp>
        <p:nvSpPr>
          <p:cNvPr id="18" name="Text 14"/>
          <p:cNvSpPr/>
          <p:nvPr/>
        </p:nvSpPr>
        <p:spPr>
          <a:xfrm>
            <a:off x="2813243" y="2770632"/>
            <a:ext cx="1944563"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Talking to AI</a:t>
            </a:r>
            <a:endParaRPr lang="en-US" sz="1250" dirty="0"/>
          </a:p>
        </p:txBody>
      </p:sp>
      <p:sp>
        <p:nvSpPr>
          <p:cNvPr id="19" name="Text 15"/>
          <p:cNvSpPr/>
          <p:nvPr/>
        </p:nvSpPr>
        <p:spPr>
          <a:xfrm>
            <a:off x="2813243"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The mechanics of a good prompt</a:t>
            </a:r>
            <a:endParaRPr lang="en-US" sz="1000" dirty="0"/>
          </a:p>
        </p:txBody>
      </p:sp>
      <p:sp>
        <p:nvSpPr>
          <p:cNvPr id="20" name="Shape 16"/>
          <p:cNvSpPr/>
          <p:nvPr/>
        </p:nvSpPr>
        <p:spPr>
          <a:xfrm>
            <a:off x="4794382" y="2240280"/>
            <a:ext cx="292608" cy="146304"/>
          </a:xfrm>
          <a:prstGeom prst="rightArrow">
            <a:avLst/>
          </a:prstGeom>
          <a:solidFill>
            <a:srgbClr val="48587A"/>
          </a:solidFill>
          <a:ln/>
        </p:spPr>
      </p:sp>
      <p:sp>
        <p:nvSpPr>
          <p:cNvPr id="21" name="Shape 17"/>
          <p:cNvSpPr/>
          <p:nvPr/>
        </p:nvSpPr>
        <p:spPr>
          <a:xfrm>
            <a:off x="5766664" y="1984248"/>
            <a:ext cx="658368" cy="658368"/>
          </a:xfrm>
          <a:prstGeom prst="ellipse">
            <a:avLst/>
          </a:prstGeom>
          <a:solidFill>
            <a:srgbClr val="1E2761"/>
          </a:solidFill>
          <a:ln/>
        </p:spPr>
      </p:sp>
      <p:pic>
        <p:nvPicPr>
          <p:cNvPr id="22" name="Image 2" descr="/private/tmp/claude-501/-Users-sai-Work-Office-Teaching/ee8695eb-a8ef-409d-a9ba-c09e44dd9ced/scratchpad/pptx-build/assets/icons/FaSlidersH.png">    </p:cNvPr>
          <p:cNvPicPr>
            <a:picLocks noChangeAspect="1"/>
          </p:cNvPicPr>
          <p:nvPr/>
        </p:nvPicPr>
        <p:blipFill>
          <a:blip r:embed="rId3"/>
          <a:stretch>
            <a:fillRect/>
          </a:stretch>
        </p:blipFill>
        <p:spPr>
          <a:xfrm>
            <a:off x="5924672" y="2142256"/>
            <a:ext cx="342351" cy="342351"/>
          </a:xfrm>
          <a:prstGeom prst="rect">
            <a:avLst/>
          </a:prstGeom>
        </p:spPr>
      </p:pic>
      <p:sp>
        <p:nvSpPr>
          <p:cNvPr id="23" name="Text 18"/>
          <p:cNvSpPr/>
          <p:nvPr/>
        </p:nvSpPr>
        <p:spPr>
          <a:xfrm>
            <a:off x="5123566" y="2770632"/>
            <a:ext cx="1944563"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Power levels</a:t>
            </a:r>
            <a:endParaRPr lang="en-US" sz="1250" dirty="0"/>
          </a:p>
        </p:txBody>
      </p:sp>
      <p:sp>
        <p:nvSpPr>
          <p:cNvPr id="24" name="Text 19"/>
          <p:cNvSpPr/>
          <p:nvPr/>
        </p:nvSpPr>
        <p:spPr>
          <a:xfrm>
            <a:off x="5123566"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What to reach for when prompting isn't enough</a:t>
            </a:r>
            <a:endParaRPr lang="en-US" sz="1000" dirty="0"/>
          </a:p>
        </p:txBody>
      </p:sp>
      <p:sp>
        <p:nvSpPr>
          <p:cNvPr id="25" name="Shape 20"/>
          <p:cNvSpPr/>
          <p:nvPr/>
        </p:nvSpPr>
        <p:spPr>
          <a:xfrm>
            <a:off x="7104705" y="2240280"/>
            <a:ext cx="292608" cy="146304"/>
          </a:xfrm>
          <a:prstGeom prst="rightArrow">
            <a:avLst/>
          </a:prstGeom>
          <a:solidFill>
            <a:srgbClr val="48587A"/>
          </a:solidFill>
          <a:ln/>
        </p:spPr>
      </p:sp>
      <p:sp>
        <p:nvSpPr>
          <p:cNvPr id="26" name="Shape 21"/>
          <p:cNvSpPr/>
          <p:nvPr/>
        </p:nvSpPr>
        <p:spPr>
          <a:xfrm>
            <a:off x="8076987" y="1984248"/>
            <a:ext cx="658368" cy="658368"/>
          </a:xfrm>
          <a:prstGeom prst="ellipse">
            <a:avLst/>
          </a:prstGeom>
          <a:solidFill>
            <a:srgbClr val="1E2761"/>
          </a:solidFill>
          <a:ln/>
        </p:spPr>
      </p:sp>
      <p:pic>
        <p:nvPicPr>
          <p:cNvPr id="27" name="Image 3" descr="/private/tmp/claude-501/-Users-sai-Work-Office-Teaching/ee8695eb-a8ef-409d-a9ba-c09e44dd9ced/scratchpad/pptx-build/assets/icons/FaShieldAlt.png">    </p:cNvPr>
          <p:cNvPicPr>
            <a:picLocks noChangeAspect="1"/>
          </p:cNvPicPr>
          <p:nvPr/>
        </p:nvPicPr>
        <p:blipFill>
          <a:blip r:embed="rId4"/>
          <a:stretch>
            <a:fillRect/>
          </a:stretch>
        </p:blipFill>
        <p:spPr>
          <a:xfrm>
            <a:off x="8234995" y="2142256"/>
            <a:ext cx="342351" cy="342351"/>
          </a:xfrm>
          <a:prstGeom prst="rect">
            <a:avLst/>
          </a:prstGeom>
        </p:spPr>
      </p:pic>
      <p:sp>
        <p:nvSpPr>
          <p:cNvPr id="28" name="Text 22"/>
          <p:cNvSpPr/>
          <p:nvPr/>
        </p:nvSpPr>
        <p:spPr>
          <a:xfrm>
            <a:off x="7433889" y="2770632"/>
            <a:ext cx="1944563"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Trust</a:t>
            </a:r>
            <a:endParaRPr lang="en-US" sz="1250" dirty="0"/>
          </a:p>
        </p:txBody>
      </p:sp>
      <p:sp>
        <p:nvSpPr>
          <p:cNvPr id="29" name="Text 23"/>
          <p:cNvSpPr/>
          <p:nvPr/>
        </p:nvSpPr>
        <p:spPr>
          <a:xfrm>
            <a:off x="7433889"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How to know when to believe it</a:t>
            </a:r>
            <a:endParaRPr lang="en-US" sz="1000" dirty="0"/>
          </a:p>
        </p:txBody>
      </p:sp>
      <p:sp>
        <p:nvSpPr>
          <p:cNvPr id="30" name="Shape 24"/>
          <p:cNvSpPr/>
          <p:nvPr/>
        </p:nvSpPr>
        <p:spPr>
          <a:xfrm>
            <a:off x="9415028" y="2240280"/>
            <a:ext cx="292608" cy="146304"/>
          </a:xfrm>
          <a:prstGeom prst="rightArrow">
            <a:avLst/>
          </a:prstGeom>
          <a:solidFill>
            <a:srgbClr val="48587A"/>
          </a:solidFill>
          <a:ln/>
        </p:spPr>
      </p:sp>
      <p:sp>
        <p:nvSpPr>
          <p:cNvPr id="31" name="Shape 25"/>
          <p:cNvSpPr/>
          <p:nvPr/>
        </p:nvSpPr>
        <p:spPr>
          <a:xfrm>
            <a:off x="10387310" y="1984248"/>
            <a:ext cx="658368" cy="658368"/>
          </a:xfrm>
          <a:prstGeom prst="ellipse">
            <a:avLst/>
          </a:prstGeom>
          <a:solidFill>
            <a:srgbClr val="E8A33D"/>
          </a:solidFill>
          <a:ln/>
        </p:spPr>
      </p:sp>
      <p:pic>
        <p:nvPicPr>
          <p:cNvPr id="32" name="Image 4" descr="/private/tmp/claude-501/-Users-sai-Work-Office-Teaching/ee8695eb-a8ef-409d-a9ba-c09e44dd9ced/scratchpad/pptx-build/assets/icons-dark/FaFlagCheckered.png">    </p:cNvPr>
          <p:cNvPicPr>
            <a:picLocks noChangeAspect="1"/>
          </p:cNvPicPr>
          <p:nvPr/>
        </p:nvPicPr>
        <p:blipFill>
          <a:blip r:embed="rId5"/>
          <a:stretch>
            <a:fillRect/>
          </a:stretch>
        </p:blipFill>
        <p:spPr>
          <a:xfrm>
            <a:off x="10545318" y="2142256"/>
            <a:ext cx="342351" cy="342351"/>
          </a:xfrm>
          <a:prstGeom prst="rect">
            <a:avLst/>
          </a:prstGeom>
        </p:spPr>
      </p:pic>
      <p:sp>
        <p:nvSpPr>
          <p:cNvPr id="33" name="Text 26"/>
          <p:cNvSpPr/>
          <p:nvPr/>
        </p:nvSpPr>
        <p:spPr>
          <a:xfrm>
            <a:off x="9744212" y="2770632"/>
            <a:ext cx="1944563" cy="502920"/>
          </a:xfrm>
          <a:prstGeom prst="rect">
            <a:avLst/>
          </a:prstGeom>
          <a:noFill/>
          <a:ln/>
        </p:spPr>
        <p:txBody>
          <a:bodyPr wrap="square" lIns="0" tIns="0" rIns="0" bIns="0" rtlCol="0" anchor="t">
            <a:normAutofit/>
          </a:bodyPr>
          <a:lstStyle/>
          <a:p>
            <a:pPr algn="ctr" indent="0" marL="0">
              <a:buNone/>
            </a:pPr>
            <a:r>
              <a:rPr lang="en-US" sz="1350" b="1" dirty="0">
                <a:solidFill>
                  <a:srgbClr val="A6660E"/>
                </a:solidFill>
                <a:latin typeface="Calibri" pitchFamily="34" charset="0"/>
                <a:ea typeface="Calibri" pitchFamily="34" charset="-122"/>
                <a:cs typeface="Calibri" pitchFamily="34" charset="-120"/>
              </a:rPr>
              <a:t>Here</a:t>
            </a:r>
            <a:endParaRPr lang="en-US" sz="1350" dirty="0"/>
          </a:p>
        </p:txBody>
      </p:sp>
      <p:sp>
        <p:nvSpPr>
          <p:cNvPr id="34" name="Text 27"/>
          <p:cNvSpPr/>
          <p:nvPr/>
        </p:nvSpPr>
        <p:spPr>
          <a:xfrm>
            <a:off x="9744212"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Bringing it together</a:t>
            </a:r>
            <a:endParaRPr lang="en-US" sz="1000" dirty="0"/>
          </a:p>
        </p:txBody>
      </p:sp>
      <p:sp>
        <p:nvSpPr>
          <p:cNvPr id="35" name="Text 28"/>
          <p:cNvSpPr/>
          <p:nvPr/>
        </p:nvSpPr>
        <p:spPr>
          <a:xfrm>
            <a:off x="502920" y="5349240"/>
            <a:ext cx="11185855" cy="54864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If this is the only session you've made it to, that's genuinely fine: everything you need is in this recap and what follows.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A1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AI with Finance: The Landscape</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Where it plausibly fits across a typical workflow</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146018" y="1984248"/>
            <a:ext cx="658368" cy="658368"/>
          </a:xfrm>
          <a:prstGeom prst="ellipse">
            <a:avLst/>
          </a:prstGeom>
          <a:solidFill>
            <a:srgbClr val="1E2761"/>
          </a:solidFill>
          <a:ln/>
        </p:spPr>
      </p:sp>
      <p:pic>
        <p:nvPicPr>
          <p:cNvPr id="13" name="Image 0" descr="/private/tmp/claude-501/-Users-sai-Work-Office-Teaching/ee8695eb-a8ef-409d-a9ba-c09e44dd9ced/scratchpad/pptx-build/assets/icons/FaSearch.png">    </p:cNvPr>
          <p:cNvPicPr>
            <a:picLocks noChangeAspect="1"/>
          </p:cNvPicPr>
          <p:nvPr/>
        </p:nvPicPr>
        <p:blipFill>
          <a:blip r:embed="rId1"/>
          <a:stretch>
            <a:fillRect/>
          </a:stretch>
        </p:blipFill>
        <p:spPr>
          <a:xfrm>
            <a:off x="1304026" y="2142256"/>
            <a:ext cx="342351" cy="342351"/>
          </a:xfrm>
          <a:prstGeom prst="rect">
            <a:avLst/>
          </a:prstGeom>
        </p:spPr>
      </p:pic>
      <p:sp>
        <p:nvSpPr>
          <p:cNvPr id="14" name="Text 11"/>
          <p:cNvSpPr/>
          <p:nvPr/>
        </p:nvSpPr>
        <p:spPr>
          <a:xfrm>
            <a:off x="502920" y="2770632"/>
            <a:ext cx="1944563"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Pre-trade research</a:t>
            </a:r>
            <a:endParaRPr lang="en-US" sz="1250" dirty="0"/>
          </a:p>
        </p:txBody>
      </p:sp>
      <p:sp>
        <p:nvSpPr>
          <p:cNvPr id="15" name="Text 12"/>
          <p:cNvSpPr/>
          <p:nvPr/>
        </p:nvSpPr>
        <p:spPr>
          <a:xfrm>
            <a:off x="502920"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Market commentary, precedent</a:t>
            </a:r>
            <a:endParaRPr lang="en-US" sz="1000" dirty="0"/>
          </a:p>
        </p:txBody>
      </p:sp>
      <p:sp>
        <p:nvSpPr>
          <p:cNvPr id="16" name="Shape 13"/>
          <p:cNvSpPr/>
          <p:nvPr/>
        </p:nvSpPr>
        <p:spPr>
          <a:xfrm>
            <a:off x="2484059" y="2240280"/>
            <a:ext cx="292608" cy="146304"/>
          </a:xfrm>
          <a:prstGeom prst="rightArrow">
            <a:avLst/>
          </a:prstGeom>
          <a:solidFill>
            <a:srgbClr val="48587A"/>
          </a:solidFill>
          <a:ln/>
        </p:spPr>
      </p:sp>
      <p:sp>
        <p:nvSpPr>
          <p:cNvPr id="17" name="Shape 14"/>
          <p:cNvSpPr/>
          <p:nvPr/>
        </p:nvSpPr>
        <p:spPr>
          <a:xfrm>
            <a:off x="3456341" y="1984248"/>
            <a:ext cx="658368" cy="658368"/>
          </a:xfrm>
          <a:prstGeom prst="ellipse">
            <a:avLst/>
          </a:prstGeom>
          <a:solidFill>
            <a:srgbClr val="1E2761"/>
          </a:solidFill>
          <a:ln/>
        </p:spPr>
      </p:sp>
      <p:pic>
        <p:nvPicPr>
          <p:cNvPr id="18" name="Image 1" descr="/private/tmp/claude-501/-Users-sai-Work-Office-Teaching/ee8695eb-a8ef-409d-a9ba-c09e44dd9ced/scratchpad/pptx-build/assets/icons/FaFileAlt.png">    </p:cNvPr>
          <p:cNvPicPr>
            <a:picLocks noChangeAspect="1"/>
          </p:cNvPicPr>
          <p:nvPr/>
        </p:nvPicPr>
        <p:blipFill>
          <a:blip r:embed="rId2"/>
          <a:stretch>
            <a:fillRect/>
          </a:stretch>
        </p:blipFill>
        <p:spPr>
          <a:xfrm>
            <a:off x="3614349" y="2142256"/>
            <a:ext cx="342351" cy="342351"/>
          </a:xfrm>
          <a:prstGeom prst="rect">
            <a:avLst/>
          </a:prstGeom>
        </p:spPr>
      </p:pic>
      <p:sp>
        <p:nvSpPr>
          <p:cNvPr id="19" name="Text 15"/>
          <p:cNvSpPr/>
          <p:nvPr/>
        </p:nvSpPr>
        <p:spPr>
          <a:xfrm>
            <a:off x="2813243" y="2770632"/>
            <a:ext cx="1944563"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Trade capture</a:t>
            </a:r>
            <a:endParaRPr lang="en-US" sz="1250" dirty="0"/>
          </a:p>
        </p:txBody>
      </p:sp>
      <p:sp>
        <p:nvSpPr>
          <p:cNvPr id="20" name="Text 16"/>
          <p:cNvSpPr/>
          <p:nvPr/>
        </p:nvSpPr>
        <p:spPr>
          <a:xfrm>
            <a:off x="2813243"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Structuring assistance</a:t>
            </a:r>
            <a:endParaRPr lang="en-US" sz="1000" dirty="0"/>
          </a:p>
        </p:txBody>
      </p:sp>
      <p:sp>
        <p:nvSpPr>
          <p:cNvPr id="21" name="Shape 17"/>
          <p:cNvSpPr/>
          <p:nvPr/>
        </p:nvSpPr>
        <p:spPr>
          <a:xfrm>
            <a:off x="4794382" y="2240280"/>
            <a:ext cx="292608" cy="146304"/>
          </a:xfrm>
          <a:prstGeom prst="rightArrow">
            <a:avLst/>
          </a:prstGeom>
          <a:solidFill>
            <a:srgbClr val="48587A"/>
          </a:solidFill>
          <a:ln/>
        </p:spPr>
      </p:sp>
      <p:sp>
        <p:nvSpPr>
          <p:cNvPr id="22" name="Shape 18"/>
          <p:cNvSpPr/>
          <p:nvPr/>
        </p:nvSpPr>
        <p:spPr>
          <a:xfrm>
            <a:off x="5766664" y="1984248"/>
            <a:ext cx="658368" cy="658368"/>
          </a:xfrm>
          <a:prstGeom prst="ellipse">
            <a:avLst/>
          </a:prstGeom>
          <a:solidFill>
            <a:srgbClr val="1E2761"/>
          </a:solidFill>
          <a:ln/>
        </p:spPr>
      </p:sp>
      <p:pic>
        <p:nvPicPr>
          <p:cNvPr id="23" name="Image 2" descr="/private/tmp/claude-501/-Users-sai-Work-Office-Teaching/ee8695eb-a8ef-409d-a9ba-c09e44dd9ced/scratchpad/pptx-build/assets/icons/FaChartBar.png">    </p:cNvPr>
          <p:cNvPicPr>
            <a:picLocks noChangeAspect="1"/>
          </p:cNvPicPr>
          <p:nvPr/>
        </p:nvPicPr>
        <p:blipFill>
          <a:blip r:embed="rId3"/>
          <a:stretch>
            <a:fillRect/>
          </a:stretch>
        </p:blipFill>
        <p:spPr>
          <a:xfrm>
            <a:off x="5924672" y="2142256"/>
            <a:ext cx="342351" cy="342351"/>
          </a:xfrm>
          <a:prstGeom prst="rect">
            <a:avLst/>
          </a:prstGeom>
        </p:spPr>
      </p:pic>
      <p:sp>
        <p:nvSpPr>
          <p:cNvPr id="24" name="Text 19"/>
          <p:cNvSpPr/>
          <p:nvPr/>
        </p:nvSpPr>
        <p:spPr>
          <a:xfrm>
            <a:off x="5123566" y="2770632"/>
            <a:ext cx="1944563"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Post-trade reporting</a:t>
            </a:r>
            <a:endParaRPr lang="en-US" sz="1250" dirty="0"/>
          </a:p>
        </p:txBody>
      </p:sp>
      <p:sp>
        <p:nvSpPr>
          <p:cNvPr id="25" name="Text 20"/>
          <p:cNvSpPr/>
          <p:nvPr/>
        </p:nvSpPr>
        <p:spPr>
          <a:xfrm>
            <a:off x="5123566"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Raw data → readable summary</a:t>
            </a:r>
            <a:endParaRPr lang="en-US" sz="1000" dirty="0"/>
          </a:p>
        </p:txBody>
      </p:sp>
      <p:sp>
        <p:nvSpPr>
          <p:cNvPr id="26" name="Shape 21"/>
          <p:cNvSpPr/>
          <p:nvPr/>
        </p:nvSpPr>
        <p:spPr>
          <a:xfrm>
            <a:off x="7104705" y="2240280"/>
            <a:ext cx="292608" cy="146304"/>
          </a:xfrm>
          <a:prstGeom prst="rightArrow">
            <a:avLst/>
          </a:prstGeom>
          <a:solidFill>
            <a:srgbClr val="48587A"/>
          </a:solidFill>
          <a:ln/>
        </p:spPr>
      </p:sp>
      <p:sp>
        <p:nvSpPr>
          <p:cNvPr id="27" name="Shape 22"/>
          <p:cNvSpPr/>
          <p:nvPr/>
        </p:nvSpPr>
        <p:spPr>
          <a:xfrm>
            <a:off x="8076987" y="1984248"/>
            <a:ext cx="658368" cy="658368"/>
          </a:xfrm>
          <a:prstGeom prst="ellipse">
            <a:avLst/>
          </a:prstGeom>
          <a:solidFill>
            <a:srgbClr val="1E2761"/>
          </a:solidFill>
          <a:ln/>
        </p:spPr>
      </p:sp>
      <p:pic>
        <p:nvPicPr>
          <p:cNvPr id="28" name="Image 3" descr="/private/tmp/claude-501/-Users-sai-Work-Office-Teaching/ee8695eb-a8ef-409d-a9ba-c09e44dd9ced/scratchpad/pptx-build/assets/icons/FaComments.png">    </p:cNvPr>
          <p:cNvPicPr>
            <a:picLocks noChangeAspect="1"/>
          </p:cNvPicPr>
          <p:nvPr/>
        </p:nvPicPr>
        <p:blipFill>
          <a:blip r:embed="rId4"/>
          <a:stretch>
            <a:fillRect/>
          </a:stretch>
        </p:blipFill>
        <p:spPr>
          <a:xfrm>
            <a:off x="8234995" y="2142256"/>
            <a:ext cx="342351" cy="342351"/>
          </a:xfrm>
          <a:prstGeom prst="rect">
            <a:avLst/>
          </a:prstGeom>
        </p:spPr>
      </p:pic>
      <p:sp>
        <p:nvSpPr>
          <p:cNvPr id="29" name="Text 23"/>
          <p:cNvSpPr/>
          <p:nvPr/>
        </p:nvSpPr>
        <p:spPr>
          <a:xfrm>
            <a:off x="7433889" y="2770632"/>
            <a:ext cx="1944563"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Client communication</a:t>
            </a:r>
            <a:endParaRPr lang="en-US" sz="1250" dirty="0"/>
          </a:p>
        </p:txBody>
      </p:sp>
      <p:sp>
        <p:nvSpPr>
          <p:cNvPr id="30" name="Text 24"/>
          <p:cNvSpPr/>
          <p:nvPr/>
        </p:nvSpPr>
        <p:spPr>
          <a:xfrm>
            <a:off x="7433889"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Drafting, always human-reviewed</a:t>
            </a:r>
            <a:endParaRPr lang="en-US" sz="1000" dirty="0"/>
          </a:p>
        </p:txBody>
      </p:sp>
      <p:sp>
        <p:nvSpPr>
          <p:cNvPr id="31" name="Shape 25"/>
          <p:cNvSpPr/>
          <p:nvPr/>
        </p:nvSpPr>
        <p:spPr>
          <a:xfrm>
            <a:off x="9415028" y="2240280"/>
            <a:ext cx="292608" cy="146304"/>
          </a:xfrm>
          <a:prstGeom prst="rightArrow">
            <a:avLst/>
          </a:prstGeom>
          <a:solidFill>
            <a:srgbClr val="48587A"/>
          </a:solidFill>
          <a:ln/>
        </p:spPr>
      </p:sp>
      <p:sp>
        <p:nvSpPr>
          <p:cNvPr id="32" name="Shape 26"/>
          <p:cNvSpPr/>
          <p:nvPr/>
        </p:nvSpPr>
        <p:spPr>
          <a:xfrm>
            <a:off x="10387310" y="1984248"/>
            <a:ext cx="658368" cy="658368"/>
          </a:xfrm>
          <a:prstGeom prst="ellipse">
            <a:avLst/>
          </a:prstGeom>
          <a:solidFill>
            <a:srgbClr val="1E2761"/>
          </a:solidFill>
          <a:ln/>
        </p:spPr>
      </p:sp>
      <p:pic>
        <p:nvPicPr>
          <p:cNvPr id="33" name="Image 4" descr="/private/tmp/claude-501/-Users-sai-Work-Office-Teaching/ee8695eb-a8ef-409d-a9ba-c09e44dd9ced/scratchpad/pptx-build/assets/icons/FaEye.png">    </p:cNvPr>
          <p:cNvPicPr>
            <a:picLocks noChangeAspect="1"/>
          </p:cNvPicPr>
          <p:nvPr/>
        </p:nvPicPr>
        <p:blipFill>
          <a:blip r:embed="rId5"/>
          <a:stretch>
            <a:fillRect/>
          </a:stretch>
        </p:blipFill>
        <p:spPr>
          <a:xfrm>
            <a:off x="10545318" y="2142256"/>
            <a:ext cx="342351" cy="342351"/>
          </a:xfrm>
          <a:prstGeom prst="rect">
            <a:avLst/>
          </a:prstGeom>
        </p:spPr>
      </p:pic>
      <p:sp>
        <p:nvSpPr>
          <p:cNvPr id="34" name="Text 27"/>
          <p:cNvSpPr/>
          <p:nvPr/>
        </p:nvSpPr>
        <p:spPr>
          <a:xfrm>
            <a:off x="9744212" y="2770632"/>
            <a:ext cx="1944563"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Risk monitoring</a:t>
            </a:r>
            <a:endParaRPr lang="en-US" sz="1250" dirty="0"/>
          </a:p>
        </p:txBody>
      </p:sp>
      <p:sp>
        <p:nvSpPr>
          <p:cNvPr id="35" name="Text 28"/>
          <p:cNvSpPr/>
          <p:nvPr/>
        </p:nvSpPr>
        <p:spPr>
          <a:xfrm>
            <a:off x="9744212" y="3209544"/>
            <a:ext cx="1944563" cy="87782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Surfacing patterns worth attention</a:t>
            </a:r>
            <a:endParaRPr lang="en-US" sz="1000" dirty="0"/>
          </a:p>
        </p:txBody>
      </p:sp>
      <p:sp>
        <p:nvSpPr>
          <p:cNvPr id="36" name="Text 29"/>
          <p:cNvSpPr/>
          <p:nvPr/>
        </p:nvSpPr>
        <p:spPr>
          <a:xfrm>
            <a:off x="502920" y="5349240"/>
            <a:ext cx="11185855" cy="54864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Not a claim AI does all of this well today, just a map of where it plausibly fits. Today's demo lives mostly in the middle.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A1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Setting Up Today's Scenario</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What we're about to walk through</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892808"/>
            <a:ext cx="11185855" cy="1554480"/>
          </a:xfrm>
          <a:prstGeom prst="roundRect">
            <a:avLst>
              <a:gd name="adj" fmla="val 5294"/>
            </a:avLst>
          </a:prstGeom>
          <a:solidFill>
            <a:srgbClr val="141B45"/>
          </a:solidFill>
          <a:ln/>
          <a:effectLst>
            <a:outerShdw sx="100000" sy="100000" kx="0" ky="0" algn="bl" rotWithShape="0" blurRad="76200" dist="25400" dir="5400000">
              <a:srgbClr val="1E2761">
                <a:alpha val="16000"/>
              </a:srgbClr>
            </a:outerShdw>
          </a:effectLst>
        </p:spPr>
      </p:sp>
      <p:sp>
        <p:nvSpPr>
          <p:cNvPr id="13" name="Text 11"/>
          <p:cNvSpPr/>
          <p:nvPr/>
        </p:nvSpPr>
        <p:spPr>
          <a:xfrm>
            <a:off x="822960" y="2093976"/>
            <a:ext cx="10545775" cy="32004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TODAY'S TASK</a:t>
            </a:r>
            <a:endParaRPr lang="en-US" sz="1100" dirty="0"/>
          </a:p>
        </p:txBody>
      </p:sp>
      <p:sp>
        <p:nvSpPr>
          <p:cNvPr id="14" name="Text 12"/>
          <p:cNvSpPr/>
          <p:nvPr/>
        </p:nvSpPr>
        <p:spPr>
          <a:xfrm>
            <a:off x="822960" y="2459736"/>
            <a:ext cx="10545775" cy="822960"/>
          </a:xfrm>
          <a:prstGeom prst="rect">
            <a:avLst/>
          </a:prstGeom>
          <a:noFill/>
          <a:ln/>
        </p:spPr>
        <p:txBody>
          <a:bodyPr wrap="square" lIns="0" tIns="0" rIns="0" bIns="0" rtlCol="0" anchor="ctr">
            <a:normAutofit/>
          </a:bodyPr>
          <a:lstStyle/>
          <a:p>
            <a:pPr indent="0" marL="0">
              <a:buNone/>
            </a:pPr>
            <a:r>
              <a:rPr lang="en-US" sz="1500" i="1" dirty="0">
                <a:solidFill>
                  <a:srgbClr val="FFFFFF"/>
                </a:solidFill>
                <a:latin typeface="Calibri" pitchFamily="34" charset="0"/>
                <a:ea typeface="Calibri" pitchFamily="34" charset="-122"/>
                <a:cs typeface="Calibri" pitchFamily="34" charset="-120"/>
              </a:rPr>
              <a:t>[DRAFT: define the specific finance scenario used in the demo, e.g. "Turning a batch of trader messages into a structured, verified summary."]</a:t>
            </a:r>
            <a:endParaRPr lang="en-US" sz="1500" dirty="0"/>
          </a:p>
        </p:txBody>
      </p:sp>
      <p:sp>
        <p:nvSpPr>
          <p:cNvPr id="15" name="Shape 13"/>
          <p:cNvSpPr/>
          <p:nvPr/>
        </p:nvSpPr>
        <p:spPr>
          <a:xfrm>
            <a:off x="502920" y="3675888"/>
            <a:ext cx="11185855" cy="594360"/>
          </a:xfrm>
          <a:prstGeom prst="roundRect">
            <a:avLst>
              <a:gd name="adj" fmla="val 13846"/>
            </a:avLst>
          </a:prstGeom>
          <a:solidFill>
            <a:srgbClr val="FFF4E0"/>
          </a:solidFill>
          <a:ln/>
        </p:spPr>
      </p:sp>
      <p:sp>
        <p:nvSpPr>
          <p:cNvPr id="16" name="Shape 14"/>
          <p:cNvSpPr/>
          <p:nvPr/>
        </p:nvSpPr>
        <p:spPr>
          <a:xfrm>
            <a:off x="502920" y="3675888"/>
            <a:ext cx="82296" cy="594360"/>
          </a:xfrm>
          <a:prstGeom prst="roundRect">
            <a:avLst/>
          </a:prstGeom>
          <a:solidFill>
            <a:srgbClr val="E8A33D"/>
          </a:solidFill>
          <a:ln/>
        </p:spPr>
      </p:sp>
      <p:sp>
        <p:nvSpPr>
          <p:cNvPr id="17" name="Text 15"/>
          <p:cNvSpPr/>
          <p:nvPr/>
        </p:nvSpPr>
        <p:spPr>
          <a:xfrm>
            <a:off x="758952" y="3767328"/>
            <a:ext cx="10728655" cy="41148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finalize this scenario before anything else in the session; this slide, slide 6, and the entire demo depend on it. Highest-priority prep item in session 5.</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966960" y="-1371600"/>
            <a:ext cx="3840480" cy="3840480"/>
          </a:xfrm>
          <a:prstGeom prst="ellipse">
            <a:avLst/>
          </a:prstGeom>
          <a:solidFill>
            <a:srgbClr val="1E2761"/>
          </a:solidFill>
          <a:ln/>
        </p:spPr>
      </p:sp>
      <p:sp>
        <p:nvSpPr>
          <p:cNvPr id="3" name="Text 1"/>
          <p:cNvSpPr/>
          <p:nvPr/>
        </p:nvSpPr>
        <p:spPr>
          <a:xfrm>
            <a:off x="502920" y="502920"/>
            <a:ext cx="91440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502920" y="841248"/>
            <a:ext cx="11185855" cy="65836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AI with Finance: Live-Coded Demo</a:t>
            </a:r>
            <a:endParaRPr lang="en-US" sz="2700" dirty="0"/>
          </a:p>
        </p:txBody>
      </p:sp>
      <p:sp>
        <p:nvSpPr>
          <p:cNvPr id="5" name="Text 3"/>
          <p:cNvSpPr/>
          <p:nvPr/>
        </p:nvSpPr>
        <p:spPr>
          <a:xfrm>
            <a:off x="502920" y="1444752"/>
            <a:ext cx="11185855" cy="365760"/>
          </a:xfrm>
          <a:prstGeom prst="rect">
            <a:avLst/>
          </a:prstGeom>
          <a:noFill/>
          <a:ln/>
        </p:spPr>
        <p:txBody>
          <a:bodyPr wrap="square" lIns="0" tIns="0" rIns="0" bIns="0"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~10–15 min · no code-along, narrated, live-coded or pre-built notebook</a:t>
            </a:r>
            <a:endParaRPr lang="en-US" sz="1350" dirty="0"/>
          </a:p>
        </p:txBody>
      </p:sp>
      <p:sp>
        <p:nvSpPr>
          <p:cNvPr id="6" name="Shape 4"/>
          <p:cNvSpPr/>
          <p:nvPr/>
        </p:nvSpPr>
        <p:spPr>
          <a:xfrm>
            <a:off x="502920" y="2020824"/>
            <a:ext cx="457200" cy="457200"/>
          </a:xfrm>
          <a:prstGeom prst="ellipse">
            <a:avLst/>
          </a:prstGeom>
          <a:solidFill>
            <a:srgbClr val="E8A33D"/>
          </a:solidFill>
          <a:ln/>
        </p:spPr>
      </p:sp>
      <p:sp>
        <p:nvSpPr>
          <p:cNvPr id="7" name="Text 5"/>
          <p:cNvSpPr/>
          <p:nvPr/>
        </p:nvSpPr>
        <p:spPr>
          <a:xfrm>
            <a:off x="502920" y="202082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161288" y="196596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Set up the scenario</a:t>
            </a:r>
            <a:endParaRPr lang="en-US" sz="1500" dirty="0"/>
          </a:p>
        </p:txBody>
      </p:sp>
      <p:sp>
        <p:nvSpPr>
          <p:cNvPr id="9" name="Text 7"/>
          <p:cNvSpPr/>
          <p:nvPr/>
        </p:nvSpPr>
        <p:spPr>
          <a:xfrm>
            <a:off x="1161288" y="249174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The task from slide 4, restated briefly on-screen.</a:t>
            </a:r>
            <a:endParaRPr lang="en-US" sz="1150" dirty="0"/>
          </a:p>
        </p:txBody>
      </p:sp>
      <p:sp>
        <p:nvSpPr>
          <p:cNvPr id="10" name="Shape 8"/>
          <p:cNvSpPr/>
          <p:nvPr/>
        </p:nvSpPr>
        <p:spPr>
          <a:xfrm>
            <a:off x="502920" y="3072384"/>
            <a:ext cx="457200" cy="457200"/>
          </a:xfrm>
          <a:prstGeom prst="ellipse">
            <a:avLst/>
          </a:prstGeom>
          <a:solidFill>
            <a:srgbClr val="E8A33D"/>
          </a:solidFill>
          <a:ln/>
        </p:spPr>
      </p:sp>
      <p:sp>
        <p:nvSpPr>
          <p:cNvPr id="11" name="Text 9"/>
          <p:cNvSpPr/>
          <p:nvPr/>
        </p:nvSpPr>
        <p:spPr>
          <a:xfrm>
            <a:off x="502920" y="307238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161288" y="301752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Write/run the code, narrating each series concept as it appears</a:t>
            </a:r>
            <a:endParaRPr lang="en-US" sz="1500" dirty="0"/>
          </a:p>
        </p:txBody>
      </p:sp>
      <p:sp>
        <p:nvSpPr>
          <p:cNvPr id="13" name="Text 11"/>
          <p:cNvSpPr/>
          <p:nvPr/>
        </p:nvSpPr>
        <p:spPr>
          <a:xfrm>
            <a:off x="1161288" y="354330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e.g. "this step is context engineering," "this is deliberate tool selection," "this is the verification check."</a:t>
            </a:r>
            <a:endParaRPr lang="en-US" sz="1150" dirty="0"/>
          </a:p>
        </p:txBody>
      </p:sp>
      <p:sp>
        <p:nvSpPr>
          <p:cNvPr id="14" name="Shape 12"/>
          <p:cNvSpPr/>
          <p:nvPr/>
        </p:nvSpPr>
        <p:spPr>
          <a:xfrm>
            <a:off x="502920" y="4123944"/>
            <a:ext cx="457200" cy="457200"/>
          </a:xfrm>
          <a:prstGeom prst="ellipse">
            <a:avLst/>
          </a:prstGeom>
          <a:solidFill>
            <a:srgbClr val="E8A33D"/>
          </a:solidFill>
          <a:ln/>
        </p:spPr>
      </p:sp>
      <p:sp>
        <p:nvSpPr>
          <p:cNvPr id="15" name="Text 13"/>
          <p:cNvSpPr/>
          <p:nvPr/>
        </p:nvSpPr>
        <p:spPr>
          <a:xfrm>
            <a:off x="502920" y="412394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161288" y="406908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Land on the result</a:t>
            </a:r>
            <a:endParaRPr lang="en-US" sz="1500" dirty="0"/>
          </a:p>
        </p:txBody>
      </p:sp>
      <p:sp>
        <p:nvSpPr>
          <p:cNvPr id="17" name="Text 15"/>
          <p:cNvSpPr/>
          <p:nvPr/>
        </p:nvSpPr>
        <p:spPr>
          <a:xfrm>
            <a:off x="1161288" y="459486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The final output: every step was one of the five things covered this series.</a:t>
            </a:r>
            <a:endParaRPr lang="en-US" sz="1150" dirty="0"/>
          </a:p>
        </p:txBody>
      </p:sp>
      <p:sp>
        <p:nvSpPr>
          <p:cNvPr id="18" name="Shape 16"/>
          <p:cNvSpPr/>
          <p:nvPr/>
        </p:nvSpPr>
        <p:spPr>
          <a:xfrm>
            <a:off x="502920" y="5175504"/>
            <a:ext cx="457200" cy="457200"/>
          </a:xfrm>
          <a:prstGeom prst="ellipse">
            <a:avLst/>
          </a:prstGeom>
          <a:solidFill>
            <a:srgbClr val="E8A33D"/>
          </a:solidFill>
          <a:ln/>
        </p:spPr>
      </p:sp>
      <p:sp>
        <p:nvSpPr>
          <p:cNvPr id="19" name="Text 17"/>
          <p:cNvSpPr/>
          <p:nvPr/>
        </p:nvSpPr>
        <p:spPr>
          <a:xfrm>
            <a:off x="502920" y="517550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4</a:t>
            </a:r>
            <a:endParaRPr lang="en-US" sz="1600" dirty="0"/>
          </a:p>
        </p:txBody>
      </p:sp>
      <p:sp>
        <p:nvSpPr>
          <p:cNvPr id="20" name="Text 18"/>
          <p:cNvSpPr/>
          <p:nvPr/>
        </p:nvSpPr>
        <p:spPr>
          <a:xfrm>
            <a:off x="1161288" y="512064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(Time-permitting) AI Studio agent-selection walkthrough</a:t>
            </a:r>
            <a:endParaRPr lang="en-US" sz="1500" dirty="0"/>
          </a:p>
        </p:txBody>
      </p:sp>
      <p:sp>
        <p:nvSpPr>
          <p:cNvPr id="21" name="Text 19"/>
          <p:cNvSpPr/>
          <p:nvPr/>
        </p:nvSpPr>
        <p:spPr>
          <a:xfrm>
            <a:off x="1161288" y="564642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Secondary demo, A3; trim to a narrated slide or fold into Q&amp;A if time is tight.</a:t>
            </a:r>
            <a:endParaRPr lang="en-US" sz="1150" dirty="0"/>
          </a:p>
        </p:txBody>
      </p:sp>
      <p:sp>
        <p:nvSpPr>
          <p:cNvPr id="22" name="Text 20"/>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Bringing It Home</a:t>
            </a:r>
            <a:endParaRPr lang="en-US" sz="900" dirty="0"/>
          </a:p>
        </p:txBody>
      </p:sp>
      <p:sp>
        <p:nvSpPr>
          <p:cNvPr id="23"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5</a:t>
            </a:r>
            <a:endParaRPr lang="en-US" sz="900" dirty="0"/>
          </a:p>
        </p:txBody>
      </p:sp>
      <p:sp>
        <p:nvSpPr>
          <p:cNvPr id="24" name="Shape 22"/>
          <p:cNvSpPr/>
          <p:nvPr/>
        </p:nvSpPr>
        <p:spPr>
          <a:xfrm>
            <a:off x="11400739" y="201168"/>
            <a:ext cx="192024" cy="192024"/>
          </a:xfrm>
          <a:prstGeom prst="rect">
            <a:avLst/>
          </a:prstGeom>
          <a:solidFill>
            <a:srgbClr val="FFFFFF"/>
          </a:solidFill>
          <a:ln/>
        </p:spPr>
      </p:sp>
      <p:sp>
        <p:nvSpPr>
          <p:cNvPr id="25" name="Shape 23"/>
          <p:cNvSpPr/>
          <p:nvPr/>
        </p:nvSpPr>
        <p:spPr>
          <a:xfrm rot="5400000">
            <a:off x="11544757" y="249174"/>
            <a:ext cx="192024" cy="96012"/>
          </a:xfrm>
          <a:prstGeom prst="triangle">
            <a:avLst/>
          </a:prstGeom>
          <a:solidFill>
            <a:srgbClr val="E52713"/>
          </a:solidFill>
          <a:ln/>
        </p:spPr>
      </p:sp>
      <p:sp>
        <p:nvSpPr>
          <p:cNvPr id="26" name="Shape 24"/>
          <p:cNvSpPr/>
          <p:nvPr/>
        </p:nvSpPr>
        <p:spPr>
          <a:xfrm rot="16200000">
            <a:off x="11256721" y="249174"/>
            <a:ext cx="192024" cy="96012"/>
          </a:xfrm>
          <a:prstGeom prst="triangle">
            <a:avLst/>
          </a:prstGeom>
          <a:solidFill>
            <a:srgbClr val="E52713"/>
          </a:solidFill>
          <a:ln/>
        </p:spPr>
      </p:sp>
      <p:sp>
        <p:nvSpPr>
          <p:cNvPr id="27" name="Shape 25"/>
          <p:cNvSpPr/>
          <p:nvPr/>
        </p:nvSpPr>
        <p:spPr>
          <a:xfrm rot="10800000">
            <a:off x="11400739" y="201168"/>
            <a:ext cx="192024" cy="96012"/>
          </a:xfrm>
          <a:prstGeom prst="triangle">
            <a:avLst/>
          </a:prstGeom>
          <a:solidFill>
            <a:srgbClr val="E52713"/>
          </a:solidFill>
          <a:ln/>
        </p:spPr>
      </p:sp>
      <p:sp>
        <p:nvSpPr>
          <p:cNvPr id="28" name="Shape 26"/>
          <p:cNvSpPr/>
          <p:nvPr/>
        </p:nvSpPr>
        <p:spPr>
          <a:xfrm>
            <a:off x="11400739" y="297180"/>
            <a:ext cx="192024" cy="96012"/>
          </a:xfrm>
          <a:prstGeom prst="triangle">
            <a:avLst/>
          </a:prstGeom>
          <a:solidFill>
            <a:srgbClr val="E52713"/>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A1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What We Just Did, Unpacked</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Naming the moves, tied back to the series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3291840"/>
          </a:xfrm>
          <a:prstGeom prst="roundRect">
            <a:avLst>
              <a:gd name="adj" fmla="val 2500"/>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822960" y="2114550"/>
            <a:ext cx="384048" cy="384048"/>
          </a:xfrm>
          <a:prstGeom prst="ellipse">
            <a:avLst/>
          </a:prstGeom>
          <a:solidFill>
            <a:srgbClr val="1E2761"/>
          </a:solidFill>
          <a:ln/>
        </p:spPr>
      </p:sp>
      <p:sp>
        <p:nvSpPr>
          <p:cNvPr id="14" name="Text 12"/>
          <p:cNvSpPr/>
          <p:nvPr/>
        </p:nvSpPr>
        <p:spPr>
          <a:xfrm>
            <a:off x="822960" y="211455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1</a:t>
            </a:r>
            <a:endParaRPr lang="en-US" sz="1300" dirty="0"/>
          </a:p>
        </p:txBody>
      </p:sp>
      <p:sp>
        <p:nvSpPr>
          <p:cNvPr id="15" name="Text 13"/>
          <p:cNvSpPr/>
          <p:nvPr/>
        </p:nvSpPr>
        <p:spPr>
          <a:xfrm>
            <a:off x="1353312" y="2002536"/>
            <a:ext cx="9869119" cy="364617"/>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The prompt we used</a:t>
            </a:r>
            <a:endParaRPr lang="en-US" sz="1300" dirty="0"/>
          </a:p>
        </p:txBody>
      </p:sp>
      <p:sp>
        <p:nvSpPr>
          <p:cNvPr id="16" name="Text 14"/>
          <p:cNvSpPr/>
          <p:nvPr/>
        </p:nvSpPr>
        <p:spPr>
          <a:xfrm>
            <a:off x="1353312" y="2374697"/>
            <a:ext cx="9869119" cy="304952"/>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Role / Task / Format / Constraints: session 2</a:t>
            </a:r>
            <a:endParaRPr lang="en-US" sz="1050" dirty="0"/>
          </a:p>
        </p:txBody>
      </p:sp>
      <p:sp>
        <p:nvSpPr>
          <p:cNvPr id="17" name="Shape 15"/>
          <p:cNvSpPr/>
          <p:nvPr/>
        </p:nvSpPr>
        <p:spPr>
          <a:xfrm>
            <a:off x="822960" y="2777490"/>
            <a:ext cx="384048" cy="384048"/>
          </a:xfrm>
          <a:prstGeom prst="ellipse">
            <a:avLst/>
          </a:prstGeom>
          <a:solidFill>
            <a:srgbClr val="1E2761"/>
          </a:solidFill>
          <a:ln/>
        </p:spPr>
      </p:sp>
      <p:sp>
        <p:nvSpPr>
          <p:cNvPr id="18" name="Text 16"/>
          <p:cNvSpPr/>
          <p:nvPr/>
        </p:nvSpPr>
        <p:spPr>
          <a:xfrm>
            <a:off x="822960" y="277749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2</a:t>
            </a:r>
            <a:endParaRPr lang="en-US" sz="1300" dirty="0"/>
          </a:p>
        </p:txBody>
      </p:sp>
      <p:sp>
        <p:nvSpPr>
          <p:cNvPr id="19" name="Text 17"/>
          <p:cNvSpPr/>
          <p:nvPr/>
        </p:nvSpPr>
        <p:spPr>
          <a:xfrm>
            <a:off x="1353312" y="2665476"/>
            <a:ext cx="9869119" cy="364617"/>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The context we provided</a:t>
            </a:r>
            <a:endParaRPr lang="en-US" sz="1300" dirty="0"/>
          </a:p>
        </p:txBody>
      </p:sp>
      <p:sp>
        <p:nvSpPr>
          <p:cNvPr id="20" name="Text 18"/>
          <p:cNvSpPr/>
          <p:nvPr/>
        </p:nvSpPr>
        <p:spPr>
          <a:xfrm>
            <a:off x="1353312" y="3037637"/>
            <a:ext cx="9869119" cy="304952"/>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Deliberately scoped, not just "everything": session 2</a:t>
            </a:r>
            <a:endParaRPr lang="en-US" sz="1050" dirty="0"/>
          </a:p>
        </p:txBody>
      </p:sp>
      <p:sp>
        <p:nvSpPr>
          <p:cNvPr id="21" name="Shape 19"/>
          <p:cNvSpPr/>
          <p:nvPr/>
        </p:nvSpPr>
        <p:spPr>
          <a:xfrm>
            <a:off x="822960" y="3440430"/>
            <a:ext cx="384048" cy="384048"/>
          </a:xfrm>
          <a:prstGeom prst="ellipse">
            <a:avLst/>
          </a:prstGeom>
          <a:solidFill>
            <a:srgbClr val="1E2761"/>
          </a:solidFill>
          <a:ln/>
        </p:spPr>
      </p:sp>
      <p:sp>
        <p:nvSpPr>
          <p:cNvPr id="22" name="Text 20"/>
          <p:cNvSpPr/>
          <p:nvPr/>
        </p:nvSpPr>
        <p:spPr>
          <a:xfrm>
            <a:off x="822960" y="344043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3</a:t>
            </a:r>
            <a:endParaRPr lang="en-US" sz="1300" dirty="0"/>
          </a:p>
        </p:txBody>
      </p:sp>
      <p:sp>
        <p:nvSpPr>
          <p:cNvPr id="23" name="Text 21"/>
          <p:cNvSpPr/>
          <p:nvPr/>
        </p:nvSpPr>
        <p:spPr>
          <a:xfrm>
            <a:off x="1353312" y="3328416"/>
            <a:ext cx="9869119" cy="364617"/>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The tool(s) we selected</a:t>
            </a:r>
            <a:endParaRPr lang="en-US" sz="1300" dirty="0"/>
          </a:p>
        </p:txBody>
      </p:sp>
      <p:sp>
        <p:nvSpPr>
          <p:cNvPr id="24" name="Text 22"/>
          <p:cNvSpPr/>
          <p:nvPr/>
        </p:nvSpPr>
        <p:spPr>
          <a:xfrm>
            <a:off x="1353312" y="3700577"/>
            <a:ext cx="9869119" cy="304952"/>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Chosen narrowly, on purpose: sessions 1–2</a:t>
            </a:r>
            <a:endParaRPr lang="en-US" sz="1050" dirty="0"/>
          </a:p>
        </p:txBody>
      </p:sp>
      <p:sp>
        <p:nvSpPr>
          <p:cNvPr id="25" name="Shape 23"/>
          <p:cNvSpPr/>
          <p:nvPr/>
        </p:nvSpPr>
        <p:spPr>
          <a:xfrm>
            <a:off x="822960" y="4103370"/>
            <a:ext cx="384048" cy="384048"/>
          </a:xfrm>
          <a:prstGeom prst="ellipse">
            <a:avLst/>
          </a:prstGeom>
          <a:solidFill>
            <a:srgbClr val="1E2761"/>
          </a:solidFill>
          <a:ln/>
        </p:spPr>
      </p:sp>
      <p:sp>
        <p:nvSpPr>
          <p:cNvPr id="26" name="Text 24"/>
          <p:cNvSpPr/>
          <p:nvPr/>
        </p:nvSpPr>
        <p:spPr>
          <a:xfrm>
            <a:off x="822960" y="410337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4</a:t>
            </a:r>
            <a:endParaRPr lang="en-US" sz="1300" dirty="0"/>
          </a:p>
        </p:txBody>
      </p:sp>
      <p:sp>
        <p:nvSpPr>
          <p:cNvPr id="27" name="Text 25"/>
          <p:cNvSpPr/>
          <p:nvPr/>
        </p:nvSpPr>
        <p:spPr>
          <a:xfrm>
            <a:off x="1353312" y="3991356"/>
            <a:ext cx="9869119" cy="364617"/>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The check before we trusted it</a:t>
            </a:r>
            <a:endParaRPr lang="en-US" sz="1300" dirty="0"/>
          </a:p>
        </p:txBody>
      </p:sp>
      <p:sp>
        <p:nvSpPr>
          <p:cNvPr id="28" name="Text 26"/>
          <p:cNvSpPr/>
          <p:nvPr/>
        </p:nvSpPr>
        <p:spPr>
          <a:xfrm>
            <a:off x="1353312" y="4363517"/>
            <a:ext cx="9869119" cy="304952"/>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The verification habit: session 4</a:t>
            </a:r>
            <a:endParaRPr lang="en-US" sz="1050" dirty="0"/>
          </a:p>
        </p:txBody>
      </p:sp>
      <p:sp>
        <p:nvSpPr>
          <p:cNvPr id="29" name="Shape 27"/>
          <p:cNvSpPr/>
          <p:nvPr/>
        </p:nvSpPr>
        <p:spPr>
          <a:xfrm>
            <a:off x="502920" y="5184648"/>
            <a:ext cx="11185855" cy="594360"/>
          </a:xfrm>
          <a:prstGeom prst="roundRect">
            <a:avLst>
              <a:gd name="adj" fmla="val 13846"/>
            </a:avLst>
          </a:prstGeom>
          <a:solidFill>
            <a:srgbClr val="FFF4E0"/>
          </a:solidFill>
          <a:ln/>
        </p:spPr>
      </p:sp>
      <p:sp>
        <p:nvSpPr>
          <p:cNvPr id="30" name="Shape 28"/>
          <p:cNvSpPr/>
          <p:nvPr/>
        </p:nvSpPr>
        <p:spPr>
          <a:xfrm>
            <a:off x="502920" y="5184648"/>
            <a:ext cx="82296" cy="594360"/>
          </a:xfrm>
          <a:prstGeom prst="roundRect">
            <a:avLst/>
          </a:prstGeom>
          <a:solidFill>
            <a:srgbClr val="E8A33D"/>
          </a:solidFill>
          <a:ln/>
        </p:spPr>
      </p:sp>
      <p:sp>
        <p:nvSpPr>
          <p:cNvPr id="31" name="Text 29"/>
          <p:cNvSpPr/>
          <p:nvPr/>
        </p:nvSpPr>
        <p:spPr>
          <a:xfrm>
            <a:off x="758952" y="5276088"/>
            <a:ext cx="10728655" cy="41148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build this slide only after the demo scenario (slide 4) and actual demo run are finalized; it needs to reference real, specific moments from that exact run.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A2</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 Different Kind of Legacy</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Old code, no docs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Text 10"/>
          <p:cNvSpPr/>
          <p:nvPr/>
        </p:nvSpPr>
        <p:spPr>
          <a:xfrm>
            <a:off x="502920" y="1984248"/>
            <a:ext cx="6935230" cy="146304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1A1F36"/>
                </a:solidFill>
                <a:latin typeface="Calibri" pitchFamily="34" charset="0"/>
                <a:ea typeface="Calibri" pitchFamily="34" charset="-122"/>
                <a:cs typeface="Calibri" pitchFamily="34" charset="-120"/>
              </a:rPr>
              <a:t>Not 'write new code with AI':</a:t>
            </a:r>
            <a:endParaRPr lang="en-US" sz="1450" dirty="0"/>
          </a:p>
          <a:p>
            <a:pPr marL="228600" indent="-228600">
              <a:spcAft>
                <a:spcPts val="1000"/>
              </a:spcAft>
              <a:buSzPct val="100000"/>
              <a:buChar char="•"/>
            </a:pPr>
            <a:r>
              <a:rPr lang="en-US" sz="1450" b="1" dirty="0">
                <a:solidFill>
                  <a:srgbClr val="1A1F36"/>
                </a:solidFill>
                <a:latin typeface="Calibri" pitchFamily="34" charset="0"/>
                <a:ea typeface="Calibri" pitchFamily="34" charset="-122"/>
                <a:cs typeface="Calibri" pitchFamily="34" charset="-120"/>
              </a:rPr>
              <a:t>'understand code someone else wrote, with no documentation, faster.'</a:t>
            </a:r>
            <a:endParaRPr lang="en-US" sz="1450" dirty="0"/>
          </a:p>
          <a:p>
            <a:pPr marL="228600" indent="-228600">
              <a:spcAft>
                <a:spcPts val="1000"/>
              </a:spcAft>
              <a:buSzPct val="100000"/>
              <a:buChar char="•"/>
            </a:pPr>
            <a:r>
              <a:rPr lang="en-US" sz="1450" dirty="0">
                <a:solidFill>
                  <a:srgbClr val="1A1F36"/>
                </a:solidFill>
                <a:latin typeface="Calibri" pitchFamily="34" charset="0"/>
                <a:ea typeface="Calibri" pitchFamily="34" charset="-122"/>
                <a:cs typeface="Calibri" pitchFamily="34" charset="-120"/>
              </a:rPr>
              <a:t>A very real, very common pain in quant/trading codebases.</a:t>
            </a:r>
            <a:endParaRPr lang="en-US" sz="1450" dirty="0"/>
          </a:p>
        </p:txBody>
      </p:sp>
      <p:sp>
        <p:nvSpPr>
          <p:cNvPr id="13" name="Shape 11"/>
          <p:cNvSpPr/>
          <p:nvPr/>
        </p:nvSpPr>
        <p:spPr>
          <a:xfrm>
            <a:off x="8333019" y="2167128"/>
            <a:ext cx="1554480" cy="1554480"/>
          </a:xfrm>
          <a:prstGeom prst="ellipse">
            <a:avLst/>
          </a:prstGeom>
          <a:solidFill>
            <a:srgbClr val="48587A"/>
          </a:solidFill>
          <a:ln/>
        </p:spPr>
      </p:sp>
      <p:pic>
        <p:nvPicPr>
          <p:cNvPr id="14" name="Image 0" descr="/private/tmp/claude-501/-Users-sai-Work-Office-Teaching/ee8695eb-a8ef-409d-a9ba-c09e44dd9ced/scratchpad/pptx-build/assets/icons/FaScroll.png">    </p:cNvPr>
          <p:cNvPicPr>
            <a:picLocks noChangeAspect="1"/>
          </p:cNvPicPr>
          <p:nvPr/>
        </p:nvPicPr>
        <p:blipFill>
          <a:blip r:embed="rId1"/>
          <a:stretch>
            <a:fillRect/>
          </a:stretch>
        </p:blipFill>
        <p:spPr>
          <a:xfrm>
            <a:off x="8706094" y="2540203"/>
            <a:ext cx="808330" cy="8083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A2</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 Worked Example</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Explaining an old pricing function</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5364328" cy="3566160"/>
          </a:xfrm>
          <a:prstGeom prst="roundRect">
            <a:avLst>
              <a:gd name="adj" fmla="val 2308"/>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502920" y="1709928"/>
            <a:ext cx="5364328" cy="457200"/>
          </a:xfrm>
          <a:prstGeom prst="roundRect">
            <a:avLst>
              <a:gd name="adj" fmla="val 18000"/>
            </a:avLst>
          </a:prstGeom>
          <a:solidFill>
            <a:srgbClr val="48587A"/>
          </a:solidFill>
          <a:ln/>
        </p:spPr>
      </p:sp>
      <p:sp>
        <p:nvSpPr>
          <p:cNvPr id="14" name="Shape 12"/>
          <p:cNvSpPr/>
          <p:nvPr/>
        </p:nvSpPr>
        <p:spPr>
          <a:xfrm>
            <a:off x="502920" y="1965960"/>
            <a:ext cx="5364328" cy="201168"/>
          </a:xfrm>
          <a:prstGeom prst="rect">
            <a:avLst/>
          </a:prstGeom>
          <a:solidFill>
            <a:srgbClr val="48587A"/>
          </a:solidFill>
          <a:ln/>
        </p:spPr>
      </p:sp>
      <p:sp>
        <p:nvSpPr>
          <p:cNvPr id="15" name="Text 13"/>
          <p:cNvSpPr/>
          <p:nvPr/>
        </p:nvSpPr>
        <p:spPr>
          <a:xfrm>
            <a:off x="640080"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Undocumented code</a:t>
            </a:r>
            <a:endParaRPr lang="en-US" sz="1450" dirty="0"/>
          </a:p>
        </p:txBody>
      </p:sp>
      <p:sp>
        <p:nvSpPr>
          <p:cNvPr id="16" name="Text 14"/>
          <p:cNvSpPr/>
          <p:nvPr/>
        </p:nvSpPr>
        <p:spPr>
          <a:xfrm>
            <a:off x="704088" y="2313432"/>
            <a:ext cx="4961992" cy="283464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[DRAFT: a short, illustrative "explain this old pricing function" snippet]</a:t>
            </a:r>
            <a:endParaRPr lang="en-US" sz="1450" dirty="0"/>
          </a:p>
        </p:txBody>
      </p:sp>
      <p:sp>
        <p:nvSpPr>
          <p:cNvPr id="17" name="Shape 15"/>
          <p:cNvSpPr/>
          <p:nvPr/>
        </p:nvSpPr>
        <p:spPr>
          <a:xfrm>
            <a:off x="6324448" y="1709928"/>
            <a:ext cx="5364328" cy="3566160"/>
          </a:xfrm>
          <a:prstGeom prst="roundRect">
            <a:avLst>
              <a:gd name="adj" fmla="val 2308"/>
            </a:avLst>
          </a:prstGeom>
          <a:solidFill>
            <a:srgbClr val="F4F6FB"/>
          </a:solidFill>
          <a:ln/>
          <a:effectLst>
            <a:outerShdw sx="100000" sy="100000" kx="0" ky="0" algn="bl" rotWithShape="0" blurRad="76200" dist="25400" dir="5400000">
              <a:srgbClr val="1E2761">
                <a:alpha val="16000"/>
              </a:srgbClr>
            </a:outerShdw>
          </a:effectLst>
        </p:spPr>
      </p:sp>
      <p:sp>
        <p:nvSpPr>
          <p:cNvPr id="18" name="Shape 16"/>
          <p:cNvSpPr/>
          <p:nvPr/>
        </p:nvSpPr>
        <p:spPr>
          <a:xfrm>
            <a:off x="6324448" y="1709928"/>
            <a:ext cx="5364328" cy="457200"/>
          </a:xfrm>
          <a:prstGeom prst="roundRect">
            <a:avLst>
              <a:gd name="adj" fmla="val 18000"/>
            </a:avLst>
          </a:prstGeom>
          <a:solidFill>
            <a:srgbClr val="1E2761"/>
          </a:solidFill>
          <a:ln/>
        </p:spPr>
      </p:sp>
      <p:sp>
        <p:nvSpPr>
          <p:cNvPr id="19" name="Shape 17"/>
          <p:cNvSpPr/>
          <p:nvPr/>
        </p:nvSpPr>
        <p:spPr>
          <a:xfrm>
            <a:off x="6324448" y="1965960"/>
            <a:ext cx="5364328" cy="201168"/>
          </a:xfrm>
          <a:prstGeom prst="rect">
            <a:avLst/>
          </a:prstGeom>
          <a:solidFill>
            <a:srgbClr val="1E2761"/>
          </a:solidFill>
          <a:ln/>
        </p:spPr>
      </p:sp>
      <p:sp>
        <p:nvSpPr>
          <p:cNvPr id="20" name="Text 18"/>
          <p:cNvSpPr/>
          <p:nvPr/>
        </p:nvSpPr>
        <p:spPr>
          <a:xfrm>
            <a:off x="6461608"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AI's step-by-step explanation</a:t>
            </a:r>
            <a:endParaRPr lang="en-US" sz="1450" dirty="0"/>
          </a:p>
        </p:txBody>
      </p:sp>
      <p:sp>
        <p:nvSpPr>
          <p:cNvPr id="21" name="Text 19"/>
          <p:cNvSpPr/>
          <p:nvPr/>
        </p:nvSpPr>
        <p:spPr>
          <a:xfrm>
            <a:off x="6525616" y="2313432"/>
            <a:ext cx="4961992" cy="283464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[DRAFT: numbered explanation]</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 flagged: worth testing before relying on it</a:t>
            </a:r>
            <a:endParaRPr lang="en-US" sz="1450" dirty="0"/>
          </a:p>
        </p:txBody>
      </p:sp>
      <p:sp>
        <p:nvSpPr>
          <p:cNvPr id="22" name="Shape 20"/>
          <p:cNvSpPr/>
          <p:nvPr/>
        </p:nvSpPr>
        <p:spPr>
          <a:xfrm>
            <a:off x="502920" y="5458968"/>
            <a:ext cx="11185855" cy="502920"/>
          </a:xfrm>
          <a:prstGeom prst="roundRect">
            <a:avLst>
              <a:gd name="adj" fmla="val 16364"/>
            </a:avLst>
          </a:prstGeom>
          <a:solidFill>
            <a:srgbClr val="FFF4E0"/>
          </a:solidFill>
          <a:ln/>
        </p:spPr>
      </p:sp>
      <p:sp>
        <p:nvSpPr>
          <p:cNvPr id="23" name="Shape 21"/>
          <p:cNvSpPr/>
          <p:nvPr/>
        </p:nvSpPr>
        <p:spPr>
          <a:xfrm>
            <a:off x="502920" y="5458968"/>
            <a:ext cx="82296" cy="502920"/>
          </a:xfrm>
          <a:prstGeom prst="roundRect">
            <a:avLst/>
          </a:prstGeom>
          <a:solidFill>
            <a:srgbClr val="E8A33D"/>
          </a:solidFill>
          <a:ln/>
        </p:spPr>
      </p:sp>
      <p:sp>
        <p:nvSpPr>
          <p:cNvPr id="24" name="Text 22"/>
          <p:cNvSpPr/>
          <p:nvPr/>
        </p:nvSpPr>
        <p:spPr>
          <a:xfrm>
            <a:off x="758952" y="5550408"/>
            <a:ext cx="10728655" cy="32004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build a real, appropriately generic example; should look genuinely undocumented/realistic, not artificially simple.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A3</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Picking Your Tools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A simple heuristic</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938784"/>
          </a:xfrm>
          <a:prstGeom prst="roundRect">
            <a:avLst>
              <a:gd name="adj" fmla="val 8766"/>
            </a:avLst>
          </a:prstGeom>
          <a:solidFill>
            <a:srgbClr val="48587A"/>
          </a:solidFill>
          <a:ln/>
          <a:effectLst>
            <a:outerShdw sx="100000" sy="100000" kx="0" ky="0" algn="bl" rotWithShape="0" blurRad="76200" dist="25400" dir="5400000">
              <a:srgbClr val="1E2761">
                <a:alpha val="16000"/>
              </a:srgbClr>
            </a:outerShdw>
          </a:effectLst>
        </p:spPr>
      </p:sp>
      <p:sp>
        <p:nvSpPr>
          <p:cNvPr id="13" name="Text 11"/>
          <p:cNvSpPr/>
          <p:nvPr/>
        </p:nvSpPr>
        <p:spPr>
          <a:xfrm>
            <a:off x="685800" y="1709928"/>
            <a:ext cx="10820095" cy="93878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What's the task: one action, or does it span domains?</a:t>
            </a:r>
            <a:endParaRPr lang="en-US" sz="1250" dirty="0"/>
          </a:p>
        </p:txBody>
      </p:sp>
      <p:sp>
        <p:nvSpPr>
          <p:cNvPr id="14" name="Shape 12"/>
          <p:cNvSpPr/>
          <p:nvPr/>
        </p:nvSpPr>
        <p:spPr>
          <a:xfrm>
            <a:off x="1285930" y="2776728"/>
            <a:ext cx="9619835" cy="938784"/>
          </a:xfrm>
          <a:prstGeom prst="roundRect">
            <a:avLst>
              <a:gd name="adj" fmla="val 8766"/>
            </a:avLst>
          </a:prstGeom>
          <a:solidFill>
            <a:srgbClr val="5D6E96"/>
          </a:solidFill>
          <a:ln/>
          <a:effectLst>
            <a:outerShdw sx="100000" sy="100000" kx="0" ky="0" algn="bl" rotWithShape="0" blurRad="76200" dist="25400" dir="5400000">
              <a:srgbClr val="1E2761">
                <a:alpha val="16000"/>
              </a:srgbClr>
            </a:outerShdw>
          </a:effectLst>
        </p:spPr>
      </p:sp>
      <p:sp>
        <p:nvSpPr>
          <p:cNvPr id="15" name="Text 13"/>
          <p:cNvSpPr/>
          <p:nvPr/>
        </p:nvSpPr>
        <p:spPr>
          <a:xfrm>
            <a:off x="1468810" y="2776728"/>
            <a:ext cx="9254075" cy="93878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What's the input: a question, a document, live data?</a:t>
            </a:r>
            <a:endParaRPr lang="en-US" sz="1250" dirty="0"/>
          </a:p>
        </p:txBody>
      </p:sp>
      <p:sp>
        <p:nvSpPr>
          <p:cNvPr id="16" name="Shape 14"/>
          <p:cNvSpPr/>
          <p:nvPr/>
        </p:nvSpPr>
        <p:spPr>
          <a:xfrm>
            <a:off x="2068940" y="3843528"/>
            <a:ext cx="8053816" cy="938784"/>
          </a:xfrm>
          <a:prstGeom prst="roundRect">
            <a:avLst>
              <a:gd name="adj" fmla="val 8766"/>
            </a:avLst>
          </a:prstGeom>
          <a:solidFill>
            <a:srgbClr val="48587A"/>
          </a:solidFill>
          <a:ln/>
          <a:effectLst>
            <a:outerShdw sx="100000" sy="100000" kx="0" ky="0" algn="bl" rotWithShape="0" blurRad="76200" dist="25400" dir="5400000">
              <a:srgbClr val="1E2761">
                <a:alpha val="16000"/>
              </a:srgbClr>
            </a:outerShdw>
          </a:effectLst>
        </p:spPr>
      </p:sp>
      <p:sp>
        <p:nvSpPr>
          <p:cNvPr id="17" name="Text 15"/>
          <p:cNvSpPr/>
          <p:nvPr/>
        </p:nvSpPr>
        <p:spPr>
          <a:xfrm>
            <a:off x="2251820" y="3843528"/>
            <a:ext cx="7688056" cy="93878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What output do I need: a number, dashboard, structured data, prose?</a:t>
            </a:r>
            <a:endParaRPr lang="en-US" sz="1250" dirty="0"/>
          </a:p>
        </p:txBody>
      </p:sp>
      <p:sp>
        <p:nvSpPr>
          <p:cNvPr id="18" name="Shape 16"/>
          <p:cNvSpPr/>
          <p:nvPr/>
        </p:nvSpPr>
        <p:spPr>
          <a:xfrm>
            <a:off x="3299384" y="5001768"/>
            <a:ext cx="5592928" cy="685800"/>
          </a:xfrm>
          <a:prstGeom prst="roundRect">
            <a:avLst>
              <a:gd name="adj" fmla="val 12000"/>
            </a:avLst>
          </a:prstGeom>
          <a:solidFill>
            <a:srgbClr val="E8A33D"/>
          </a:solidFill>
          <a:ln/>
          <a:effectLst>
            <a:outerShdw sx="100000" sy="100000" kx="0" ky="0" algn="bl" rotWithShape="0" blurRad="76200" dist="25400" dir="5400000">
              <a:srgbClr val="1E2761">
                <a:alpha val="16000"/>
              </a:srgbClr>
            </a:outerShdw>
          </a:effectLst>
        </p:spPr>
      </p:sp>
      <p:sp>
        <p:nvSpPr>
          <p:cNvPr id="19" name="Text 17"/>
          <p:cNvSpPr/>
          <p:nvPr/>
        </p:nvSpPr>
        <p:spPr>
          <a:xfrm>
            <a:off x="3436544" y="5001768"/>
            <a:ext cx="5318608" cy="685800"/>
          </a:xfrm>
          <a:prstGeom prst="rect">
            <a:avLst/>
          </a:prstGeom>
          <a:noFill/>
          <a:ln/>
        </p:spPr>
        <p:txBody>
          <a:bodyPr wrap="square" lIns="0" tIns="0" rIns="0" bIns="0" rtlCol="0" anchor="ctr">
            <a:normAutofit/>
          </a:bodyPr>
          <a:lstStyle/>
          <a:p>
            <a:pPr algn="ctr" indent="0" marL="0">
              <a:buNone/>
            </a:pPr>
            <a:r>
              <a:rPr lang="en-US" sz="1350" b="1" dirty="0">
                <a:solidFill>
                  <a:srgbClr val="141B45"/>
                </a:solidFill>
                <a:latin typeface="Calibri" pitchFamily="34" charset="0"/>
                <a:ea typeface="Calibri" pitchFamily="34" charset="-122"/>
                <a:cs typeface="Calibri" pitchFamily="34" charset="-120"/>
              </a:rPr>
              <a:t>Match to the smallest set of agents/tools that covers it. Start narrow.</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A5</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Making It Stick</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Building a shared prompt/agent library</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3566160"/>
          </a:xfrm>
          <a:prstGeom prst="roundRect">
            <a:avLst>
              <a:gd name="adj" fmla="val 2308"/>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822960" y="2270760"/>
            <a:ext cx="384048" cy="384048"/>
          </a:xfrm>
          <a:prstGeom prst="ellipse">
            <a:avLst/>
          </a:prstGeom>
          <a:solidFill>
            <a:srgbClr val="1E2761"/>
          </a:solidFill>
          <a:ln/>
        </p:spPr>
      </p:sp>
      <p:sp>
        <p:nvSpPr>
          <p:cNvPr id="14" name="Text 12"/>
          <p:cNvSpPr/>
          <p:nvPr/>
        </p:nvSpPr>
        <p:spPr>
          <a:xfrm>
            <a:off x="822960" y="227076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1</a:t>
            </a:r>
            <a:endParaRPr lang="en-US" sz="1300" dirty="0"/>
          </a:p>
        </p:txBody>
      </p:sp>
      <p:sp>
        <p:nvSpPr>
          <p:cNvPr id="15" name="Text 13"/>
          <p:cNvSpPr/>
          <p:nvPr/>
        </p:nvSpPr>
        <p:spPr>
          <a:xfrm>
            <a:off x="1353312" y="2002536"/>
            <a:ext cx="9869119" cy="536448"/>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How</a:t>
            </a:r>
            <a:endParaRPr lang="en-US" sz="1300" dirty="0"/>
          </a:p>
        </p:txBody>
      </p:sp>
      <p:sp>
        <p:nvSpPr>
          <p:cNvPr id="16" name="Text 14"/>
          <p:cNvSpPr/>
          <p:nvPr/>
        </p:nvSpPr>
        <p:spPr>
          <a:xfrm>
            <a:off x="1353312" y="2537155"/>
            <a:ext cx="9869119" cy="448666"/>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A shared, low-friction location: even a simple doc or channel</a:t>
            </a:r>
            <a:endParaRPr lang="en-US" sz="1050" dirty="0"/>
          </a:p>
        </p:txBody>
      </p:sp>
      <p:sp>
        <p:nvSpPr>
          <p:cNvPr id="17" name="Shape 15"/>
          <p:cNvSpPr/>
          <p:nvPr/>
        </p:nvSpPr>
        <p:spPr>
          <a:xfrm>
            <a:off x="822960" y="3246120"/>
            <a:ext cx="384048" cy="384048"/>
          </a:xfrm>
          <a:prstGeom prst="ellipse">
            <a:avLst/>
          </a:prstGeom>
          <a:solidFill>
            <a:srgbClr val="1E2761"/>
          </a:solidFill>
          <a:ln/>
        </p:spPr>
      </p:sp>
      <p:sp>
        <p:nvSpPr>
          <p:cNvPr id="18" name="Text 16"/>
          <p:cNvSpPr/>
          <p:nvPr/>
        </p:nvSpPr>
        <p:spPr>
          <a:xfrm>
            <a:off x="822960" y="324612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2</a:t>
            </a:r>
            <a:endParaRPr lang="en-US" sz="1300" dirty="0"/>
          </a:p>
        </p:txBody>
      </p:sp>
      <p:sp>
        <p:nvSpPr>
          <p:cNvPr id="19" name="Text 17"/>
          <p:cNvSpPr/>
          <p:nvPr/>
        </p:nvSpPr>
        <p:spPr>
          <a:xfrm>
            <a:off x="1353312" y="2977896"/>
            <a:ext cx="9869119" cy="536448"/>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Where</a:t>
            </a:r>
            <a:endParaRPr lang="en-US" sz="1300" dirty="0"/>
          </a:p>
        </p:txBody>
      </p:sp>
      <p:sp>
        <p:nvSpPr>
          <p:cNvPr id="20" name="Text 18"/>
          <p:cNvSpPr/>
          <p:nvPr/>
        </p:nvSpPr>
        <p:spPr>
          <a:xfrm>
            <a:off x="1353312" y="3512515"/>
            <a:ext cx="9869119" cy="448666"/>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[DRAFT: propose an actual concrete location for your team]</a:t>
            </a:r>
            <a:endParaRPr lang="en-US" sz="1050" dirty="0"/>
          </a:p>
        </p:txBody>
      </p:sp>
      <p:sp>
        <p:nvSpPr>
          <p:cNvPr id="21" name="Shape 19"/>
          <p:cNvSpPr/>
          <p:nvPr/>
        </p:nvSpPr>
        <p:spPr>
          <a:xfrm>
            <a:off x="822960" y="4221480"/>
            <a:ext cx="384048" cy="384048"/>
          </a:xfrm>
          <a:prstGeom prst="ellipse">
            <a:avLst/>
          </a:prstGeom>
          <a:solidFill>
            <a:srgbClr val="1E2761"/>
          </a:solidFill>
          <a:ln/>
        </p:spPr>
      </p:sp>
      <p:sp>
        <p:nvSpPr>
          <p:cNvPr id="22" name="Text 20"/>
          <p:cNvSpPr/>
          <p:nvPr/>
        </p:nvSpPr>
        <p:spPr>
          <a:xfrm>
            <a:off x="822960" y="422148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3</a:t>
            </a:r>
            <a:endParaRPr lang="en-US" sz="1300" dirty="0"/>
          </a:p>
        </p:txBody>
      </p:sp>
      <p:sp>
        <p:nvSpPr>
          <p:cNvPr id="23" name="Text 21"/>
          <p:cNvSpPr/>
          <p:nvPr/>
        </p:nvSpPr>
        <p:spPr>
          <a:xfrm>
            <a:off x="1353312" y="3953256"/>
            <a:ext cx="9869119" cy="536448"/>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Who owns it</a:t>
            </a:r>
            <a:endParaRPr lang="en-US" sz="1300" dirty="0"/>
          </a:p>
        </p:txBody>
      </p:sp>
      <p:sp>
        <p:nvSpPr>
          <p:cNvPr id="24" name="Text 22"/>
          <p:cNvSpPr/>
          <p:nvPr/>
        </p:nvSpPr>
        <p:spPr>
          <a:xfrm>
            <a:off x="1353312" y="4487875"/>
            <a:ext cx="9869119" cy="448666"/>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Open question for the room: decide live</a:t>
            </a:r>
            <a:endParaRPr lang="en-US" sz="1050" dirty="0"/>
          </a:p>
        </p:txBody>
      </p:sp>
      <p:sp>
        <p:nvSpPr>
          <p:cNvPr id="25" name="Shape 23"/>
          <p:cNvSpPr/>
          <p:nvPr/>
        </p:nvSpPr>
        <p:spPr>
          <a:xfrm>
            <a:off x="502920" y="5458968"/>
            <a:ext cx="11185855" cy="502920"/>
          </a:xfrm>
          <a:prstGeom prst="roundRect">
            <a:avLst>
              <a:gd name="adj" fmla="val 16364"/>
            </a:avLst>
          </a:prstGeom>
          <a:solidFill>
            <a:srgbClr val="FFF4E0"/>
          </a:solidFill>
          <a:ln/>
        </p:spPr>
      </p:sp>
      <p:sp>
        <p:nvSpPr>
          <p:cNvPr id="26" name="Shape 24"/>
          <p:cNvSpPr/>
          <p:nvPr/>
        </p:nvSpPr>
        <p:spPr>
          <a:xfrm>
            <a:off x="502920" y="5458968"/>
            <a:ext cx="82296" cy="502920"/>
          </a:xfrm>
          <a:prstGeom prst="roundRect">
            <a:avLst/>
          </a:prstGeom>
          <a:solidFill>
            <a:srgbClr val="E8A33D"/>
          </a:solidFill>
          <a:ln/>
        </p:spPr>
      </p:sp>
      <p:sp>
        <p:nvSpPr>
          <p:cNvPr id="27" name="Text 25"/>
          <p:cNvSpPr/>
          <p:nvPr/>
        </p:nvSpPr>
        <p:spPr>
          <a:xfrm>
            <a:off x="758952" y="5550408"/>
            <a:ext cx="10728655" cy="32004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come with an actual concrete proposed location, not just the abstract idea.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CLOSE</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Close: What to Do Monday Morning</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One action per session, five total</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4114800"/>
          </a:xfrm>
          <a:prstGeom prst="roundRect">
            <a:avLst>
              <a:gd name="adj" fmla="val 2000"/>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822960" y="2130552"/>
            <a:ext cx="384048" cy="384048"/>
          </a:xfrm>
          <a:prstGeom prst="ellipse">
            <a:avLst/>
          </a:prstGeom>
          <a:solidFill>
            <a:srgbClr val="1E2761"/>
          </a:solidFill>
          <a:ln/>
        </p:spPr>
      </p:sp>
      <p:sp>
        <p:nvSpPr>
          <p:cNvPr id="14" name="Text 12"/>
          <p:cNvSpPr/>
          <p:nvPr/>
        </p:nvSpPr>
        <p:spPr>
          <a:xfrm>
            <a:off x="822960" y="2130552"/>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1</a:t>
            </a:r>
            <a:endParaRPr lang="en-US" sz="1300" dirty="0"/>
          </a:p>
        </p:txBody>
      </p:sp>
      <p:sp>
        <p:nvSpPr>
          <p:cNvPr id="15" name="Text 13"/>
          <p:cNvSpPr/>
          <p:nvPr/>
        </p:nvSpPr>
        <p:spPr>
          <a:xfrm>
            <a:off x="1353312" y="2002536"/>
            <a:ext cx="9869119" cy="382219"/>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1. Before opening AI Studio</a:t>
            </a:r>
            <a:endParaRPr lang="en-US" sz="1300" dirty="0"/>
          </a:p>
        </p:txBody>
      </p:sp>
      <p:sp>
        <p:nvSpPr>
          <p:cNvPr id="16" name="Text 14"/>
          <p:cNvSpPr/>
          <p:nvPr/>
        </p:nvSpPr>
        <p:spPr>
          <a:xfrm>
            <a:off x="1353312" y="2391339"/>
            <a:ext cx="9869119" cy="319674"/>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Ask: could this be a rule instead?</a:t>
            </a:r>
            <a:endParaRPr lang="en-US" sz="1050" dirty="0"/>
          </a:p>
        </p:txBody>
      </p:sp>
      <p:sp>
        <p:nvSpPr>
          <p:cNvPr id="17" name="Shape 15"/>
          <p:cNvSpPr/>
          <p:nvPr/>
        </p:nvSpPr>
        <p:spPr>
          <a:xfrm>
            <a:off x="822960" y="2825496"/>
            <a:ext cx="384048" cy="384048"/>
          </a:xfrm>
          <a:prstGeom prst="ellipse">
            <a:avLst/>
          </a:prstGeom>
          <a:solidFill>
            <a:srgbClr val="1E2761"/>
          </a:solidFill>
          <a:ln/>
        </p:spPr>
      </p:sp>
      <p:sp>
        <p:nvSpPr>
          <p:cNvPr id="18" name="Text 16"/>
          <p:cNvSpPr/>
          <p:nvPr/>
        </p:nvSpPr>
        <p:spPr>
          <a:xfrm>
            <a:off x="822960" y="2825496"/>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2</a:t>
            </a:r>
            <a:endParaRPr lang="en-US" sz="1300" dirty="0"/>
          </a:p>
        </p:txBody>
      </p:sp>
      <p:sp>
        <p:nvSpPr>
          <p:cNvPr id="19" name="Text 17"/>
          <p:cNvSpPr/>
          <p:nvPr/>
        </p:nvSpPr>
        <p:spPr>
          <a:xfrm>
            <a:off x="1353312" y="2697480"/>
            <a:ext cx="9869119" cy="382219"/>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2. On your next prompt</a:t>
            </a:r>
            <a:endParaRPr lang="en-US" sz="1300" dirty="0"/>
          </a:p>
        </p:txBody>
      </p:sp>
      <p:sp>
        <p:nvSpPr>
          <p:cNvPr id="20" name="Text 18"/>
          <p:cNvSpPr/>
          <p:nvPr/>
        </p:nvSpPr>
        <p:spPr>
          <a:xfrm>
            <a:off x="1353312" y="3086283"/>
            <a:ext cx="9869119" cy="319674"/>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Run it through Role / Task / Format / Constraints</a:t>
            </a:r>
            <a:endParaRPr lang="en-US" sz="1050" dirty="0"/>
          </a:p>
        </p:txBody>
      </p:sp>
      <p:sp>
        <p:nvSpPr>
          <p:cNvPr id="21" name="Shape 19"/>
          <p:cNvSpPr/>
          <p:nvPr/>
        </p:nvSpPr>
        <p:spPr>
          <a:xfrm>
            <a:off x="822960" y="3520440"/>
            <a:ext cx="384048" cy="384048"/>
          </a:xfrm>
          <a:prstGeom prst="ellipse">
            <a:avLst/>
          </a:prstGeom>
          <a:solidFill>
            <a:srgbClr val="1E2761"/>
          </a:solidFill>
          <a:ln/>
        </p:spPr>
      </p:sp>
      <p:sp>
        <p:nvSpPr>
          <p:cNvPr id="22" name="Text 20"/>
          <p:cNvSpPr/>
          <p:nvPr/>
        </p:nvSpPr>
        <p:spPr>
          <a:xfrm>
            <a:off x="822960" y="352044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3</a:t>
            </a:r>
            <a:endParaRPr lang="en-US" sz="1300" dirty="0"/>
          </a:p>
        </p:txBody>
      </p:sp>
      <p:sp>
        <p:nvSpPr>
          <p:cNvPr id="23" name="Text 21"/>
          <p:cNvSpPr/>
          <p:nvPr/>
        </p:nvSpPr>
        <p:spPr>
          <a:xfrm>
            <a:off x="1353312" y="3392424"/>
            <a:ext cx="9869119" cy="382219"/>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3. When prompting alone falls short</a:t>
            </a:r>
            <a:endParaRPr lang="en-US" sz="1300" dirty="0"/>
          </a:p>
        </p:txBody>
      </p:sp>
      <p:sp>
        <p:nvSpPr>
          <p:cNvPr id="24" name="Text 22"/>
          <p:cNvSpPr/>
          <p:nvPr/>
        </p:nvSpPr>
        <p:spPr>
          <a:xfrm>
            <a:off x="1353312" y="3781227"/>
            <a:ext cx="9869119" cy="319674"/>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Know the difference between a RAG need and a fine-tuning wish</a:t>
            </a:r>
            <a:endParaRPr lang="en-US" sz="1050" dirty="0"/>
          </a:p>
        </p:txBody>
      </p:sp>
      <p:sp>
        <p:nvSpPr>
          <p:cNvPr id="25" name="Shape 23"/>
          <p:cNvSpPr/>
          <p:nvPr/>
        </p:nvSpPr>
        <p:spPr>
          <a:xfrm>
            <a:off x="822960" y="4215384"/>
            <a:ext cx="384048" cy="384048"/>
          </a:xfrm>
          <a:prstGeom prst="ellipse">
            <a:avLst/>
          </a:prstGeom>
          <a:solidFill>
            <a:srgbClr val="1E2761"/>
          </a:solidFill>
          <a:ln/>
        </p:spPr>
      </p:sp>
      <p:sp>
        <p:nvSpPr>
          <p:cNvPr id="26" name="Text 24"/>
          <p:cNvSpPr/>
          <p:nvPr/>
        </p:nvSpPr>
        <p:spPr>
          <a:xfrm>
            <a:off x="822960" y="4215384"/>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4</a:t>
            </a:r>
            <a:endParaRPr lang="en-US" sz="1300" dirty="0"/>
          </a:p>
        </p:txBody>
      </p:sp>
      <p:sp>
        <p:nvSpPr>
          <p:cNvPr id="27" name="Text 25"/>
          <p:cNvSpPr/>
          <p:nvPr/>
        </p:nvSpPr>
        <p:spPr>
          <a:xfrm>
            <a:off x="1353312" y="4087368"/>
            <a:ext cx="9869119" cy="382219"/>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4. Before you act on anything material</a:t>
            </a:r>
            <a:endParaRPr lang="en-US" sz="1300" dirty="0"/>
          </a:p>
        </p:txBody>
      </p:sp>
      <p:sp>
        <p:nvSpPr>
          <p:cNvPr id="28" name="Text 26"/>
          <p:cNvSpPr/>
          <p:nvPr/>
        </p:nvSpPr>
        <p:spPr>
          <a:xfrm>
            <a:off x="1353312" y="4476171"/>
            <a:ext cx="9869119" cy="319674"/>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Verify it</a:t>
            </a:r>
            <a:endParaRPr lang="en-US" sz="1050" dirty="0"/>
          </a:p>
        </p:txBody>
      </p:sp>
      <p:sp>
        <p:nvSpPr>
          <p:cNvPr id="29" name="Shape 27"/>
          <p:cNvSpPr/>
          <p:nvPr/>
        </p:nvSpPr>
        <p:spPr>
          <a:xfrm>
            <a:off x="822960" y="4910328"/>
            <a:ext cx="384048" cy="384048"/>
          </a:xfrm>
          <a:prstGeom prst="ellipse">
            <a:avLst/>
          </a:prstGeom>
          <a:solidFill>
            <a:srgbClr val="1E2761"/>
          </a:solidFill>
          <a:ln/>
        </p:spPr>
      </p:sp>
      <p:sp>
        <p:nvSpPr>
          <p:cNvPr id="30" name="Text 28"/>
          <p:cNvSpPr/>
          <p:nvPr/>
        </p:nvSpPr>
        <p:spPr>
          <a:xfrm>
            <a:off x="822960" y="4910328"/>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5</a:t>
            </a:r>
            <a:endParaRPr lang="en-US" sz="1300" dirty="0"/>
          </a:p>
        </p:txBody>
      </p:sp>
      <p:sp>
        <p:nvSpPr>
          <p:cNvPr id="31" name="Text 29"/>
          <p:cNvSpPr/>
          <p:nvPr/>
        </p:nvSpPr>
        <p:spPr>
          <a:xfrm>
            <a:off x="1353312" y="4782312"/>
            <a:ext cx="9869119" cy="382219"/>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5. This week</a:t>
            </a:r>
            <a:endParaRPr lang="en-US" sz="1300" dirty="0"/>
          </a:p>
        </p:txBody>
      </p:sp>
      <p:sp>
        <p:nvSpPr>
          <p:cNvPr id="32" name="Text 30"/>
          <p:cNvSpPr/>
          <p:nvPr/>
        </p:nvSpPr>
        <p:spPr>
          <a:xfrm>
            <a:off x="1353312" y="5171115"/>
            <a:ext cx="9869119" cy="319674"/>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Post one prompt that worked well in the shared library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BUFFER / OVERFLOW (CUT FIRST IF RUNNING LONG)</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Extra Time? Go Deeper</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Reserved slot</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892808"/>
            <a:ext cx="11185855" cy="1463040"/>
          </a:xfrm>
          <a:prstGeom prst="roundRect">
            <a:avLst>
              <a:gd name="adj" fmla="val 5625"/>
            </a:avLst>
          </a:prstGeom>
          <a:solidFill>
            <a:srgbClr val="FFF4E0"/>
          </a:solidFill>
          <a:ln/>
        </p:spPr>
      </p:sp>
      <p:sp>
        <p:nvSpPr>
          <p:cNvPr id="13" name="Shape 11"/>
          <p:cNvSpPr/>
          <p:nvPr/>
        </p:nvSpPr>
        <p:spPr>
          <a:xfrm>
            <a:off x="502920" y="1892808"/>
            <a:ext cx="82296" cy="1463040"/>
          </a:xfrm>
          <a:prstGeom prst="roundRect">
            <a:avLst/>
          </a:prstGeom>
          <a:solidFill>
            <a:srgbClr val="E8A33D"/>
          </a:solidFill>
          <a:ln/>
        </p:spPr>
      </p:sp>
      <p:sp>
        <p:nvSpPr>
          <p:cNvPr id="14" name="Text 12"/>
          <p:cNvSpPr/>
          <p:nvPr/>
        </p:nvSpPr>
        <p:spPr>
          <a:xfrm>
            <a:off x="758952" y="1984248"/>
            <a:ext cx="10728655" cy="128016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reserve for whichever topic runs long across the series and needs a one-slide "if we have time" extension; decide once all five sessions have been rehearsed once.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1645920" y="-1645920"/>
            <a:ext cx="3840480" cy="3840480"/>
          </a:xfrm>
          <a:prstGeom prst="ellipse">
            <a:avLst/>
          </a:prstGeom>
          <a:solidFill>
            <a:srgbClr val="1E2761"/>
          </a:solidFill>
          <a:ln/>
        </p:spPr>
      </p:sp>
      <p:sp>
        <p:nvSpPr>
          <p:cNvPr id="3" name="Text 1"/>
          <p:cNvSpPr/>
          <p:nvPr/>
        </p:nvSpPr>
        <p:spPr>
          <a:xfrm>
            <a:off x="914400" y="2514600"/>
            <a:ext cx="1033272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APPENDIX</a:t>
            </a:r>
            <a:endParaRPr lang="en-US" sz="1300" dirty="0"/>
          </a:p>
        </p:txBody>
      </p:sp>
      <p:sp>
        <p:nvSpPr>
          <p:cNvPr id="4" name="Text 2"/>
          <p:cNvSpPr/>
          <p:nvPr/>
        </p:nvSpPr>
        <p:spPr>
          <a:xfrm>
            <a:off x="914400" y="2880360"/>
            <a:ext cx="1033272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Anticipated Q&amp;A</a:t>
            </a:r>
            <a:endParaRPr lang="en-US" sz="3400" dirty="0"/>
          </a:p>
        </p:txBody>
      </p:sp>
      <p:sp>
        <p:nvSpPr>
          <p:cNvPr id="5" name="Text 3"/>
          <p:cNvSpPr/>
          <p:nvPr/>
        </p:nvSpPr>
        <p:spPr>
          <a:xfrm>
            <a:off x="914400" y="3794760"/>
            <a:ext cx="1033272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Likely questions with model answers, for reference during live Q&amp;A</a:t>
            </a:r>
            <a:endParaRPr lang="en-US" sz="1500" dirty="0"/>
          </a:p>
        </p:txBody>
      </p:sp>
      <p:sp>
        <p:nvSpPr>
          <p:cNvPr id="6" name="Text 4"/>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Bringing It Home</a:t>
            </a:r>
            <a:endParaRPr lang="en-US" sz="900" dirty="0"/>
          </a:p>
        </p:txBody>
      </p:sp>
      <p:sp>
        <p:nvSpPr>
          <p:cNvPr id="7" name="Text 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13</a:t>
            </a:r>
            <a:endParaRPr lang="en-US" sz="900" dirty="0"/>
          </a:p>
        </p:txBody>
      </p:sp>
      <p:sp>
        <p:nvSpPr>
          <p:cNvPr id="8" name="Shape 6"/>
          <p:cNvSpPr/>
          <p:nvPr/>
        </p:nvSpPr>
        <p:spPr>
          <a:xfrm>
            <a:off x="11400739" y="201168"/>
            <a:ext cx="192024" cy="192024"/>
          </a:xfrm>
          <a:prstGeom prst="rect">
            <a:avLst/>
          </a:prstGeom>
          <a:solidFill>
            <a:srgbClr val="FFFFFF"/>
          </a:solidFill>
          <a:ln/>
        </p:spPr>
      </p:sp>
      <p:sp>
        <p:nvSpPr>
          <p:cNvPr id="9" name="Shape 7"/>
          <p:cNvSpPr/>
          <p:nvPr/>
        </p:nvSpPr>
        <p:spPr>
          <a:xfrm rot="5400000">
            <a:off x="11544757" y="249174"/>
            <a:ext cx="192024" cy="96012"/>
          </a:xfrm>
          <a:prstGeom prst="triangle">
            <a:avLst/>
          </a:prstGeom>
          <a:solidFill>
            <a:srgbClr val="E52713"/>
          </a:solidFill>
          <a:ln/>
        </p:spPr>
      </p:sp>
      <p:sp>
        <p:nvSpPr>
          <p:cNvPr id="10" name="Shape 8"/>
          <p:cNvSpPr/>
          <p:nvPr/>
        </p:nvSpPr>
        <p:spPr>
          <a:xfrm rot="16200000">
            <a:off x="11256721" y="249174"/>
            <a:ext cx="192024" cy="96012"/>
          </a:xfrm>
          <a:prstGeom prst="triangle">
            <a:avLst/>
          </a:prstGeom>
          <a:solidFill>
            <a:srgbClr val="E52713"/>
          </a:solidFill>
          <a:ln/>
        </p:spPr>
      </p:sp>
      <p:sp>
        <p:nvSpPr>
          <p:cNvPr id="11" name="Shape 9"/>
          <p:cNvSpPr/>
          <p:nvPr/>
        </p:nvSpPr>
        <p:spPr>
          <a:xfrm rot="10800000">
            <a:off x="11400739" y="201168"/>
            <a:ext cx="192024" cy="96012"/>
          </a:xfrm>
          <a:prstGeom prst="triangle">
            <a:avLst/>
          </a:prstGeom>
          <a:solidFill>
            <a:srgbClr val="E52713"/>
          </a:solidFill>
          <a:ln/>
        </p:spPr>
      </p:sp>
      <p:sp>
        <p:nvSpPr>
          <p:cNvPr id="12" name="Shape 10"/>
          <p:cNvSpPr/>
          <p:nvPr/>
        </p:nvSpPr>
        <p:spPr>
          <a:xfrm>
            <a:off x="11400739" y="297180"/>
            <a:ext cx="192024" cy="96012"/>
          </a:xfrm>
          <a:prstGeom prst="triangle">
            <a:avLst/>
          </a:prstGeom>
          <a:solidFill>
            <a:srgbClr val="E52713"/>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Q1</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Which of these five sessions' skills matters most day-to-day?</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Honest answer: session 2 (prompting/context/harness); it's the one every other session builds on and the one used in literally every AI Studio interaction.</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A natural closing-session question, people wanting to prioritize their own follow-up learning.</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If you only internalize one thing from the whole series, make it the Role/Task/Format/Constraints checklist: it pays off on every single query.</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Q2</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Can AI actually replace reading legacy code myself?</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No: treat it as a fast first-pass orientation (A2), not a substitute for testing actual behavior before relying on it to change something.</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Understandable eagerness to fully offload a tedious task.</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The failure mode to watch for is trusting the AI's explanation of intent over what the code actually does when run; always verify against real behavior.</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Q3</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What if I pick the wrong agent/tool combination?</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Not catastrophic: the A3 heuristic is a starting habit, not a rule; if the first attempt falls short, add or swap and try again; that iteration itself is useful signal.</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Fear of 'doing it wrong' from a still-developing skill.</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Reassure explicitly that even experienced users iterate on tool selection: it's not a sign of failure, it's the normal way this works.</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Q4</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Who actually owns the prompt library once this series ends?</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Deliberately open for the room to answer: this is meant to be a live discussion point, not a pre-decided answer, since durable ownership needs buy-in from whoever takes it on.</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Genuine uncertainty, and a fair challenge to whether this 'sticks' at all.</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Have a fallback name in mind (e.g. yourself, at least initially) if the room doesn't volunteer anyone, so the series doesn't end on an unresolved note.</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Bringing It Home</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2026-08-10T02:57:54Z</dcterms:created>
  <dcterms:modified xsi:type="dcterms:W3CDTF">2026-08-10T02:57:54Z</dcterms:modified>
</cp:coreProperties>
</file>