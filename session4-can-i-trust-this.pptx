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session so far has assumed the answer you got back was good. Today we deal with what happens when it isn't. Here's a dashboard: looks completely normal. [pause] This number is wrong. Not obviously wrong, plausibly wrong, which is the dangerous kind. That's what today is about: catching this before it costs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in plain terms: four kinds worth knowing. Input filters stop certain requests before they even reach the model. Output filters catch certain responses before they reach you, for example stripping something that looks like a client account number. Permissioning controls what data or tools an agent can touch in the first place. And human-in-the-loop means a person has to approve something before it actually happens: before an email sends, before an action executes.
Resource: general public material on 'LLM application guardrails' or the OWASP Top 10 for LLM Applications is a reasonable, citable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you aren't building these systems; you're using them. So the skill isn't 'know how to build a guardrail,' it's 'know to ask if one exists.' Four questions worth asking before you trust an agent with anything sensitive: has it been tested on cases like mine, what happens if it's wrong, is there a way to flag a bad output, and who's actually accountable if something goes wrong. Same diligence you'd apply to any new system; this isn't special pleading for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risk, stated plainly: a model can be completely confident and completely wrong at the same time, and there's no tonal difference between those two states in the output. It doesn't hedge more when it's less sure, the way a careful colleague might. That's what 'hallucination' means here: not science fiction, just plausible-sounding incorrect content, especially around precise numbers and dates. Treat what comes back the way you'd treat a junior analyst's first draft: probably right, but worth a second look, especially when it matters.
Prep: rehearse this slide: 'confident but wrong' is the emotional center of the session and deserves a clean, unhurried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habits, none of which take more than a few seconds. Trace the number back to a source you can actually verify. Ask yourself if the magnitude feels plausible given what you already know: does the direction and rough size make sense. And for anything material (anything a decision hangs on) spot-check one number manually before you act. This is genuinely fast once it's a habit, and it's the single most useful defense against the slide-5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were here for session two, you'll recognize this: prompt, context, and tool/agent choice, the three levers from that session. Today we add a fourth: data. Sometimes the AI did everything right, and the problem is that the underlying data it was working from was wrong or stale to begin with; that's not an AI problem at all, that's a data problem, and no amount of prompt tuning fixes it. Walk this list in order when something's wrong: cheap explanations first, structural ones last.
Prep: rehearse walking this checklist out loud; it's the most reusable skill in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actually do this, not just talk about it. Here's a bad output. [walk each item] Was the prompt clear? Yes, ruled out. Did it have the context it needed? Yes, ruled out. Was the right tool selected? [land here, if this is your chosen root cause], no, this is it. That's the fix. (Adjust script to match your actual chosen root cause once the example is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in this session (guardrails, verification, troubleshooting) applies to AI use anywhere. This part is specific to us. Global Markets has its own rule book: MNPI, material non-public information; information barriers, the walls that have to stay up between certain desks; and client confidentiality, obligations that don't pause just because a new tool showed up. None of this is new: it's the same discipline you already practice with email and chat. It just needs to extend to AI,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deliberately left for you to finalize once the content itself is compliance-approved; do not present this slide's content as-is without that review.)
MANDATORY, HIGHEST PRIORITY IN THE SERIES: get this slide's content reviewed and signed off by compliance before this session is delivered to any audience. This is the one place in the whole series where your own judgment isn't sufficient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slide ten felt like a lot of policy detail, here's the practical version you can actually carry around: would you be comfortable saying this out loud in a room that includes people from every desk? If the answer's no, it doesn't belong in a prompt, in context, or in a knowledge base either: same instinct you already have for email and chat, just extended to this new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Four-part habit, and this is genuinely the takeaway to keep: verify before you act, walk the checklist when something's wrong, ask about guardrails before trusting something sensitive, and run the desk-floor test before anything goes into a prompt. That's trust, operationalized, not just a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what guardrails are and how to ask for them, how to think about whether a system is safe to rely on, the verification habit, the troubleshooting checklist, and the compliance discipline specific to Global Markets. Next session brings all five sessions together in one real, end-to-end example, and it stands entirely on its own if this is the only session you've made it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only if time allows; script depends on final myth/reality pairs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same example as slide 8; do not introduce a new one here.
Step 2: know in advance exactly which layer is the 'real' cause in your prepared example, so the walkthrough lands cleanly rather than meandering.
Step 3: confirm the fix reliably produces a visibly better result when tested beforehand. 'Fix applied: here's the corrected output. That's the whole checklist, start to finish, on something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E2761"/>
          </a:solidFill>
          <a:ln/>
        </p:spPr>
      </p:sp>
      <p:sp>
        <p:nvSpPr>
          <p:cNvPr id="3" name="Shape 1"/>
          <p:cNvSpPr/>
          <p:nvPr/>
        </p:nvSpPr>
        <p:spPr>
          <a:xfrm>
            <a:off x="-1463040" y="4663440"/>
            <a:ext cx="3291840" cy="3291840"/>
          </a:xfrm>
          <a:prstGeom prst="ellipse">
            <a:avLst/>
          </a:prstGeom>
          <a:solidFill>
            <a:srgbClr val="1E2761"/>
          </a:solidFill>
          <a:ln/>
        </p:spPr>
      </p:sp>
      <p:sp>
        <p:nvSpPr>
          <p:cNvPr id="4" name="Text 2"/>
          <p:cNvSpPr/>
          <p:nvPr/>
        </p:nvSpPr>
        <p:spPr>
          <a:xfrm>
            <a:off x="502920" y="566928"/>
            <a:ext cx="73152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USE-CASE-DRIVEN SERIES</a:t>
            </a:r>
            <a:endParaRPr lang="en-US" sz="1300" dirty="0"/>
          </a:p>
        </p:txBody>
      </p:sp>
      <p:sp>
        <p:nvSpPr>
          <p:cNvPr id="5" name="Shape 3"/>
          <p:cNvSpPr/>
          <p:nvPr/>
        </p:nvSpPr>
        <p:spPr>
          <a:xfrm>
            <a:off x="822960" y="1965960"/>
            <a:ext cx="1051560" cy="1051560"/>
          </a:xfrm>
          <a:prstGeom prst="ellipse">
            <a:avLst/>
          </a:prstGeom>
          <a:solidFill>
            <a:srgbClr val="E8A33D"/>
          </a:solidFill>
          <a:ln/>
        </p:spPr>
      </p:sp>
      <p:sp>
        <p:nvSpPr>
          <p:cNvPr id="6" name="Text 4"/>
          <p:cNvSpPr/>
          <p:nvPr/>
        </p:nvSpPr>
        <p:spPr>
          <a:xfrm>
            <a:off x="822960" y="1965960"/>
            <a:ext cx="1051560" cy="1051560"/>
          </a:xfrm>
          <a:prstGeom prst="rect">
            <a:avLst/>
          </a:prstGeom>
          <a:noFill/>
          <a:ln/>
        </p:spPr>
        <p:txBody>
          <a:bodyPr wrap="square" lIns="0" tIns="0" rIns="0" bIns="0" rtlCol="0" anchor="ctr"/>
          <a:lstStyle/>
          <a:p>
            <a:pPr algn="ctr" indent="0" marL="0">
              <a:buNone/>
            </a:pPr>
            <a:r>
              <a:rPr lang="en-US" sz="3400" b="1" dirty="0">
                <a:solidFill>
                  <a:srgbClr val="141B45"/>
                </a:solidFill>
                <a:latin typeface="Cambria" pitchFamily="34" charset="0"/>
                <a:ea typeface="Cambria" pitchFamily="34" charset="-122"/>
                <a:cs typeface="Cambria" pitchFamily="34" charset="-120"/>
              </a:rPr>
              <a:t>4</a:t>
            </a:r>
            <a:endParaRPr lang="en-US" sz="3400" dirty="0"/>
          </a:p>
        </p:txBody>
      </p:sp>
      <p:sp>
        <p:nvSpPr>
          <p:cNvPr id="7" name="Text 5"/>
          <p:cNvSpPr/>
          <p:nvPr/>
        </p:nvSpPr>
        <p:spPr>
          <a:xfrm>
            <a:off x="2148840" y="1783080"/>
            <a:ext cx="9509760" cy="173736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Can I Trust This?</a:t>
            </a:r>
            <a:endParaRPr lang="en-US" sz="4000" dirty="0"/>
          </a:p>
        </p:txBody>
      </p:sp>
      <p:sp>
        <p:nvSpPr>
          <p:cNvPr id="8" name="Text 6"/>
          <p:cNvSpPr/>
          <p:nvPr/>
        </p:nvSpPr>
        <p:spPr>
          <a:xfrm>
            <a:off x="2148840" y="1371600"/>
            <a:ext cx="9509760" cy="36576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Safety &amp; Trust</a:t>
            </a:r>
            <a:endParaRPr lang="en-US" sz="1400" dirty="0"/>
          </a:p>
        </p:txBody>
      </p:sp>
      <p:sp>
        <p:nvSpPr>
          <p:cNvPr id="9" name="Text 7"/>
          <p:cNvSpPr/>
          <p:nvPr/>
        </p:nvSpPr>
        <p:spPr>
          <a:xfrm>
            <a:off x="2148840" y="3246120"/>
            <a:ext cx="8961120" cy="822960"/>
          </a:xfrm>
          <a:prstGeom prst="rect">
            <a:avLst/>
          </a:prstGeom>
          <a:noFill/>
          <a:ln/>
        </p:spPr>
        <p:txBody>
          <a:bodyPr wrap="square" lIns="0" tIns="0" rIns="0" bIns="0" rtlCol="0" anchor="ctr"/>
          <a:lstStyle/>
          <a:p>
            <a:pPr algn="l" indent="0" marL="0">
              <a:buNone/>
            </a:pPr>
            <a:r>
              <a:rPr lang="en-US" sz="1700" i="1" dirty="0">
                <a:solidFill>
                  <a:srgbClr val="CADCFC"/>
                </a:solidFill>
                <a:latin typeface="Calibri" pitchFamily="34" charset="0"/>
                <a:ea typeface="Calibri" pitchFamily="34" charset="-122"/>
                <a:cs typeface="Calibri" pitchFamily="34" charset="-120"/>
              </a:rPr>
              <a:t>Verifying and safeguarding output (S1–S5): guardrails, safety, verification, troubleshooting, MNPI/compliance-aware use.</a:t>
            </a:r>
            <a:endParaRPr lang="en-US" sz="1700" dirty="0"/>
          </a:p>
        </p:txBody>
      </p:sp>
      <p:sp>
        <p:nvSpPr>
          <p:cNvPr id="10" name="Text 8"/>
          <p:cNvSpPr/>
          <p:nvPr/>
        </p:nvSpPr>
        <p:spPr>
          <a:xfrm>
            <a:off x="502920" y="6355080"/>
            <a:ext cx="7315200" cy="274320"/>
          </a:xfrm>
          <a:prstGeom prst="rect">
            <a:avLst/>
          </a:prstGeom>
          <a:noFill/>
          <a:ln/>
        </p:spPr>
        <p:txBody>
          <a:bodyPr wrap="square" lIns="0" tIns="0" rIns="0" bIns="0" rtlCol="0" anchor="ctr"/>
          <a:lstStyle/>
          <a:p>
            <a:pPr indent="0" marL="0">
              <a:buNone/>
            </a:pPr>
            <a:r>
              <a:rPr lang="en-US" sz="1000" dirty="0">
                <a:solidFill>
                  <a:srgbClr val="8895BC"/>
                </a:solidFill>
                <a:latin typeface="Calibri" pitchFamily="34" charset="0"/>
                <a:ea typeface="Calibri" pitchFamily="34" charset="-122"/>
                <a:cs typeface="Calibri" pitchFamily="34" charset="-120"/>
              </a:rPr>
              <a:t>HSBC Global Markets · L&amp;D Series</a:t>
            </a:r>
            <a:endParaRPr lang="en-US" sz="10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 Wrong Number, and What It Could Cost</a:t>
            </a:r>
            <a:endParaRPr lang="en-US" sz="2900" dirty="0"/>
          </a:p>
        </p:txBody>
      </p:sp>
      <p:sp>
        <p:nvSpPr>
          <p:cNvPr id="3" name="Text 1"/>
          <p:cNvSpPr/>
          <p:nvPr/>
        </p:nvSpPr>
        <p:spPr>
          <a:xfrm>
            <a:off x="502920" y="1097280"/>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Hook</a:t>
            </a:r>
            <a:endParaRPr lang="en-US" sz="145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5" name="Text 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11400739" y="201168"/>
            <a:ext cx="192024" cy="192024"/>
          </a:xfrm>
          <a:prstGeom prst="rect">
            <a:avLst/>
          </a:prstGeom>
          <a:solidFill>
            <a:srgbClr val="FFFFFF"/>
          </a:solidFill>
          <a:ln/>
        </p:spPr>
      </p:sp>
      <p:sp>
        <p:nvSpPr>
          <p:cNvPr id="7" name="Shape 5"/>
          <p:cNvSpPr/>
          <p:nvPr/>
        </p:nvSpPr>
        <p:spPr>
          <a:xfrm rot="5400000">
            <a:off x="11544757" y="249174"/>
            <a:ext cx="192024" cy="96012"/>
          </a:xfrm>
          <a:prstGeom prst="triangle">
            <a:avLst/>
          </a:prstGeom>
          <a:solidFill>
            <a:srgbClr val="E52713"/>
          </a:solidFill>
          <a:ln/>
        </p:spPr>
      </p:sp>
      <p:sp>
        <p:nvSpPr>
          <p:cNvPr id="8" name="Shape 6"/>
          <p:cNvSpPr/>
          <p:nvPr/>
        </p:nvSpPr>
        <p:spPr>
          <a:xfrm rot="16200000">
            <a:off x="11256721" y="249174"/>
            <a:ext cx="192024" cy="96012"/>
          </a:xfrm>
          <a:prstGeom prst="triangle">
            <a:avLst/>
          </a:prstGeom>
          <a:solidFill>
            <a:srgbClr val="E52713"/>
          </a:solidFill>
          <a:ln/>
        </p:spPr>
      </p:sp>
      <p:sp>
        <p:nvSpPr>
          <p:cNvPr id="9" name="Shape 7"/>
          <p:cNvSpPr/>
          <p:nvPr/>
        </p:nvSpPr>
        <p:spPr>
          <a:xfrm rot="10800000">
            <a:off x="11400739" y="201168"/>
            <a:ext cx="192024" cy="96012"/>
          </a:xfrm>
          <a:prstGeom prst="triangle">
            <a:avLst/>
          </a:prstGeom>
          <a:solidFill>
            <a:srgbClr val="E52713"/>
          </a:solidFill>
          <a:ln/>
        </p:spPr>
      </p:sp>
      <p:sp>
        <p:nvSpPr>
          <p:cNvPr id="10" name="Shape 8"/>
          <p:cNvSpPr/>
          <p:nvPr/>
        </p:nvSpPr>
        <p:spPr>
          <a:xfrm>
            <a:off x="11400739" y="297180"/>
            <a:ext cx="192024" cy="96012"/>
          </a:xfrm>
          <a:prstGeom prst="triangle">
            <a:avLst/>
          </a:prstGeom>
          <a:solidFill>
            <a:srgbClr val="E52713"/>
          </a:solidFill>
          <a:ln/>
        </p:spPr>
      </p:sp>
      <p:sp>
        <p:nvSpPr>
          <p:cNvPr id="11" name="Shape 9"/>
          <p:cNvSpPr/>
          <p:nvPr/>
        </p:nvSpPr>
        <p:spPr>
          <a:xfrm>
            <a:off x="502920" y="1709928"/>
            <a:ext cx="7315200" cy="3794760"/>
          </a:xfrm>
          <a:prstGeom prst="roundRect">
            <a:avLst>
              <a:gd name="adj" fmla="val 2169"/>
            </a:avLst>
          </a:prstGeom>
          <a:solidFill>
            <a:srgbClr val="141B45"/>
          </a:solidFill>
          <a:ln/>
          <a:effectLst>
            <a:outerShdw sx="100000" sy="100000" kx="0" ky="0" algn="bl" rotWithShape="0" blurRad="76200" dist="25400" dir="5400000">
              <a:srgbClr val="1E2761">
                <a:alpha val="16000"/>
              </a:srgbClr>
            </a:outerShdw>
          </a:effectLst>
        </p:spPr>
      </p:sp>
      <p:sp>
        <p:nvSpPr>
          <p:cNvPr id="12" name="Text 10"/>
          <p:cNvSpPr/>
          <p:nvPr/>
        </p:nvSpPr>
        <p:spPr>
          <a:xfrm>
            <a:off x="777240" y="1874520"/>
            <a:ext cx="6766560" cy="274320"/>
          </a:xfrm>
          <a:prstGeom prst="rect">
            <a:avLst/>
          </a:prstGeom>
          <a:noFill/>
          <a:ln/>
        </p:spPr>
        <p:txBody>
          <a:bodyPr wrap="square" lIns="0" tIns="0" rIns="0" bIns="0" rtlCol="0" anchor="ctr"/>
          <a:lstStyle/>
          <a:p>
            <a:pPr indent="0" marL="0">
              <a:buNone/>
            </a:pPr>
            <a:r>
              <a:rPr lang="en-US" sz="1100" b="1" spc="100" kern="0" dirty="0">
                <a:solidFill>
                  <a:srgbClr val="CADCFC"/>
                </a:solidFill>
                <a:latin typeface="Calibri" pitchFamily="34" charset="0"/>
                <a:ea typeface="Calibri" pitchFamily="34" charset="-122"/>
                <a:cs typeface="Calibri" pitchFamily="34" charset="-120"/>
              </a:rPr>
              <a:t>FX DESK · LIVE DASHBOARD</a:t>
            </a:r>
            <a:endParaRPr lang="en-US" sz="1100" dirty="0"/>
          </a:p>
        </p:txBody>
      </p:sp>
      <p:sp>
        <p:nvSpPr>
          <p:cNvPr id="13" name="Shape 11"/>
          <p:cNvSpPr/>
          <p:nvPr/>
        </p:nvSpPr>
        <p:spPr>
          <a:xfrm>
            <a:off x="777240" y="4032504"/>
            <a:ext cx="524256" cy="1152144"/>
          </a:xfrm>
          <a:prstGeom prst="roundRect">
            <a:avLst>
              <a:gd name="adj" fmla="val 3488"/>
            </a:avLst>
          </a:prstGeom>
          <a:solidFill>
            <a:srgbClr val="CADCFC"/>
          </a:solidFill>
          <a:ln/>
        </p:spPr>
      </p:sp>
      <p:sp>
        <p:nvSpPr>
          <p:cNvPr id="14" name="Shape 12"/>
          <p:cNvSpPr/>
          <p:nvPr/>
        </p:nvSpPr>
        <p:spPr>
          <a:xfrm>
            <a:off x="1411224" y="3024378"/>
            <a:ext cx="524256" cy="2160270"/>
          </a:xfrm>
          <a:prstGeom prst="roundRect">
            <a:avLst>
              <a:gd name="adj" fmla="val 3488"/>
            </a:avLst>
          </a:prstGeom>
          <a:solidFill>
            <a:srgbClr val="CADCFC"/>
          </a:solidFill>
          <a:ln/>
        </p:spPr>
      </p:sp>
      <p:sp>
        <p:nvSpPr>
          <p:cNvPr id="15" name="Shape 13"/>
          <p:cNvSpPr/>
          <p:nvPr/>
        </p:nvSpPr>
        <p:spPr>
          <a:xfrm>
            <a:off x="2045208" y="3744468"/>
            <a:ext cx="524256" cy="1440180"/>
          </a:xfrm>
          <a:prstGeom prst="roundRect">
            <a:avLst>
              <a:gd name="adj" fmla="val 3488"/>
            </a:avLst>
          </a:prstGeom>
          <a:solidFill>
            <a:srgbClr val="CADCFC"/>
          </a:solidFill>
          <a:ln/>
        </p:spPr>
      </p:sp>
      <p:sp>
        <p:nvSpPr>
          <p:cNvPr id="16" name="Shape 14"/>
          <p:cNvSpPr/>
          <p:nvPr/>
        </p:nvSpPr>
        <p:spPr>
          <a:xfrm>
            <a:off x="2679192" y="2592324"/>
            <a:ext cx="524256" cy="2592324"/>
          </a:xfrm>
          <a:prstGeom prst="roundRect">
            <a:avLst>
              <a:gd name="adj" fmla="val 3488"/>
            </a:avLst>
          </a:prstGeom>
          <a:solidFill>
            <a:srgbClr val="CADCFC"/>
          </a:solidFill>
          <a:ln/>
        </p:spPr>
      </p:sp>
      <p:sp>
        <p:nvSpPr>
          <p:cNvPr id="17" name="Shape 15"/>
          <p:cNvSpPr/>
          <p:nvPr/>
        </p:nvSpPr>
        <p:spPr>
          <a:xfrm>
            <a:off x="3313176" y="3456432"/>
            <a:ext cx="524256" cy="1728216"/>
          </a:xfrm>
          <a:prstGeom prst="roundRect">
            <a:avLst>
              <a:gd name="adj" fmla="val 3488"/>
            </a:avLst>
          </a:prstGeom>
          <a:solidFill>
            <a:srgbClr val="CADCFC"/>
          </a:solidFill>
          <a:ln/>
        </p:spPr>
      </p:sp>
      <p:sp>
        <p:nvSpPr>
          <p:cNvPr id="18" name="Shape 16"/>
          <p:cNvSpPr/>
          <p:nvPr/>
        </p:nvSpPr>
        <p:spPr>
          <a:xfrm>
            <a:off x="3947160" y="3168396"/>
            <a:ext cx="524256" cy="2016252"/>
          </a:xfrm>
          <a:prstGeom prst="roundRect">
            <a:avLst>
              <a:gd name="adj" fmla="val 3488"/>
            </a:avLst>
          </a:prstGeom>
          <a:solidFill>
            <a:srgbClr val="CADCFC"/>
          </a:solidFill>
          <a:ln/>
        </p:spPr>
      </p:sp>
      <p:sp>
        <p:nvSpPr>
          <p:cNvPr id="19" name="Shape 17"/>
          <p:cNvSpPr/>
          <p:nvPr/>
        </p:nvSpPr>
        <p:spPr>
          <a:xfrm>
            <a:off x="4745736" y="2304288"/>
            <a:ext cx="2926080" cy="2880360"/>
          </a:xfrm>
          <a:prstGeom prst="roundRect">
            <a:avLst>
              <a:gd name="adj" fmla="val 2857"/>
            </a:avLst>
          </a:prstGeom>
          <a:solidFill>
            <a:srgbClr val="FBEAEE"/>
          </a:solidFill>
          <a:ln/>
        </p:spPr>
      </p:sp>
      <p:sp>
        <p:nvSpPr>
          <p:cNvPr id="20" name="Shape 18"/>
          <p:cNvSpPr/>
          <p:nvPr/>
        </p:nvSpPr>
        <p:spPr>
          <a:xfrm>
            <a:off x="7287768" y="2157984"/>
            <a:ext cx="292608" cy="292608"/>
          </a:xfrm>
          <a:prstGeom prst="ellipse">
            <a:avLst/>
          </a:prstGeom>
          <a:solidFill>
            <a:srgbClr val="A6303D"/>
          </a:solidFill>
          <a:ln/>
        </p:spPr>
      </p:sp>
      <p:sp>
        <p:nvSpPr>
          <p:cNvPr id="21" name="Text 19"/>
          <p:cNvSpPr/>
          <p:nvPr/>
        </p:nvSpPr>
        <p:spPr>
          <a:xfrm>
            <a:off x="7287768" y="2157984"/>
            <a:ext cx="292608"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p:nvPr/>
        </p:nvSpPr>
        <p:spPr>
          <a:xfrm>
            <a:off x="4882896" y="2487168"/>
            <a:ext cx="2651760" cy="320040"/>
          </a:xfrm>
          <a:prstGeom prst="rect">
            <a:avLst/>
          </a:prstGeom>
          <a:noFill/>
          <a:ln/>
        </p:spPr>
        <p:txBody>
          <a:bodyPr wrap="square" lIns="0" tIns="0" rIns="0" bIns="0" rtlCol="0" anchor="ctr"/>
          <a:lstStyle/>
          <a:p>
            <a:pPr indent="0" marL="0">
              <a:buNone/>
            </a:pPr>
            <a:r>
              <a:rPr lang="en-US" sz="1100" b="1" dirty="0">
                <a:solidFill>
                  <a:srgbClr val="A6303D"/>
                </a:solidFill>
                <a:latin typeface="Calibri" pitchFamily="34" charset="0"/>
                <a:ea typeface="Calibri" pitchFamily="34" charset="-122"/>
                <a:cs typeface="Calibri" pitchFamily="34" charset="-120"/>
              </a:rPr>
              <a:t>Notional Exposure</a:t>
            </a:r>
            <a:endParaRPr lang="en-US" sz="1100" dirty="0"/>
          </a:p>
        </p:txBody>
      </p:sp>
      <p:sp>
        <p:nvSpPr>
          <p:cNvPr id="23" name="Text 21"/>
          <p:cNvSpPr/>
          <p:nvPr/>
        </p:nvSpPr>
        <p:spPr>
          <a:xfrm>
            <a:off x="4882896" y="2807208"/>
            <a:ext cx="2651760" cy="594360"/>
          </a:xfrm>
          <a:prstGeom prst="rect">
            <a:avLst/>
          </a:prstGeom>
          <a:noFill/>
          <a:ln/>
        </p:spPr>
        <p:txBody>
          <a:bodyPr wrap="square" lIns="0" tIns="0" rIns="0" bIns="0" rtlCol="0" anchor="ctr"/>
          <a:lstStyle/>
          <a:p>
            <a:pPr indent="0" marL="0">
              <a:buNone/>
            </a:pPr>
            <a:r>
              <a:rPr lang="en-US" sz="2600" b="1" dirty="0">
                <a:solidFill>
                  <a:srgbClr val="A6303D"/>
                </a:solidFill>
                <a:latin typeface="Cambria" pitchFamily="34" charset="0"/>
                <a:ea typeface="Cambria" pitchFamily="34" charset="-122"/>
                <a:cs typeface="Cambria" pitchFamily="34" charset="-120"/>
              </a:rPr>
              <a:t>$482.6M</a:t>
            </a:r>
            <a:endParaRPr lang="en-US" sz="2600" dirty="0"/>
          </a:p>
        </p:txBody>
      </p:sp>
      <p:sp>
        <p:nvSpPr>
          <p:cNvPr id="24" name="Text 22"/>
          <p:cNvSpPr/>
          <p:nvPr/>
        </p:nvSpPr>
        <p:spPr>
          <a:xfrm>
            <a:off x="4882896" y="3447288"/>
            <a:ext cx="2651760" cy="457200"/>
          </a:xfrm>
          <a:prstGeom prst="rect">
            <a:avLst/>
          </a:prstGeom>
          <a:noFill/>
          <a:ln/>
        </p:spPr>
        <p:txBody>
          <a:bodyPr wrap="square" lIns="0" tIns="0" rIns="0" bIns="0" rtlCol="0" anchor="ctr">
            <a:normAutofit/>
          </a:bodyPr>
          <a:lstStyle/>
          <a:p>
            <a:pPr indent="0" marL="0">
              <a:buNone/>
            </a:pPr>
            <a:r>
              <a:rPr lang="en-US" sz="1150" i="1" dirty="0">
                <a:solidFill>
                  <a:srgbClr val="A6303D"/>
                </a:solidFill>
                <a:latin typeface="Calibri" pitchFamily="34" charset="0"/>
                <a:ea typeface="Calibri" pitchFamily="34" charset="-122"/>
                <a:cs typeface="Calibri" pitchFamily="34" charset="-120"/>
              </a:rPr>
              <a:t>looks right. isn’t.</a:t>
            </a:r>
            <a:endParaRPr lang="en-US" sz="1150" dirty="0"/>
          </a:p>
        </p:txBody>
      </p:sp>
      <p:sp>
        <p:nvSpPr>
          <p:cNvPr id="25" name="Shape 23"/>
          <p:cNvSpPr/>
          <p:nvPr/>
        </p:nvSpPr>
        <p:spPr>
          <a:xfrm>
            <a:off x="502920" y="5687568"/>
            <a:ext cx="7315200" cy="594360"/>
          </a:xfrm>
          <a:prstGeom prst="roundRect">
            <a:avLst>
              <a:gd name="adj" fmla="val 13846"/>
            </a:avLst>
          </a:prstGeom>
          <a:solidFill>
            <a:srgbClr val="FFF4E0"/>
          </a:solidFill>
          <a:ln/>
        </p:spPr>
      </p:sp>
      <p:sp>
        <p:nvSpPr>
          <p:cNvPr id="26" name="Shape 24"/>
          <p:cNvSpPr/>
          <p:nvPr/>
        </p:nvSpPr>
        <p:spPr>
          <a:xfrm>
            <a:off x="502920" y="5687568"/>
            <a:ext cx="82296" cy="594360"/>
          </a:xfrm>
          <a:prstGeom prst="roundRect">
            <a:avLst/>
          </a:prstGeom>
          <a:solidFill>
            <a:srgbClr val="E8A33D"/>
          </a:solidFill>
          <a:ln/>
        </p:spPr>
      </p:sp>
      <p:sp>
        <p:nvSpPr>
          <p:cNvPr id="27" name="Text 25"/>
          <p:cNvSpPr/>
          <p:nvPr/>
        </p:nvSpPr>
        <p:spPr>
          <a:xfrm>
            <a:off x="758952" y="5779008"/>
            <a:ext cx="6858000" cy="41148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keep this scenario clearly hypothetical, in both visual and verbal framing; do not let it read as referencing any real event.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S1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What Are Guardrails, Really</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Input/output filters · Permissions · Human-in-the-loop</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392517" y="2990088"/>
            <a:ext cx="777240" cy="777240"/>
          </a:xfrm>
          <a:prstGeom prst="ellipse">
            <a:avLst/>
          </a:prstGeom>
          <a:solidFill>
            <a:srgbClr val="1E2761"/>
          </a:solidFill>
          <a:ln/>
        </p:spPr>
      </p:sp>
      <p:pic>
        <p:nvPicPr>
          <p:cNvPr id="13" name="Image 0" descr="/private/tmp/claude-501/-Users-sai-Work-Office-Teaching/ee8695eb-a8ef-409d-a9ba-c09e44dd9ced/scratchpad/pptx-build/assets/icons/FaFilter.png">    </p:cNvPr>
          <p:cNvPicPr>
            <a:picLocks noChangeAspect="1"/>
          </p:cNvPicPr>
          <p:nvPr/>
        </p:nvPicPr>
        <p:blipFill>
          <a:blip r:embed="rId1"/>
          <a:stretch>
            <a:fillRect/>
          </a:stretch>
        </p:blipFill>
        <p:spPr>
          <a:xfrm>
            <a:off x="1579055" y="3176626"/>
            <a:ext cx="404165" cy="404165"/>
          </a:xfrm>
          <a:prstGeom prst="rect">
            <a:avLst/>
          </a:prstGeom>
        </p:spPr>
      </p:pic>
      <p:sp>
        <p:nvSpPr>
          <p:cNvPr id="14" name="Text 11"/>
          <p:cNvSpPr/>
          <p:nvPr/>
        </p:nvSpPr>
        <p:spPr>
          <a:xfrm>
            <a:off x="502920" y="389534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Input filters</a:t>
            </a:r>
            <a:endParaRPr lang="en-US" sz="1250" dirty="0"/>
          </a:p>
        </p:txBody>
      </p:sp>
      <p:sp>
        <p:nvSpPr>
          <p:cNvPr id="15" name="Text 12"/>
          <p:cNvSpPr/>
          <p:nvPr/>
        </p:nvSpPr>
        <p:spPr>
          <a:xfrm>
            <a:off x="502920" y="4279392"/>
            <a:ext cx="2556434"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Block certain requests before they reach the model</a:t>
            </a:r>
            <a:endParaRPr lang="en-US" sz="1050" dirty="0"/>
          </a:p>
        </p:txBody>
      </p:sp>
      <p:sp>
        <p:nvSpPr>
          <p:cNvPr id="16" name="Shape 13"/>
          <p:cNvSpPr/>
          <p:nvPr/>
        </p:nvSpPr>
        <p:spPr>
          <a:xfrm>
            <a:off x="4268991" y="2990088"/>
            <a:ext cx="777240" cy="777240"/>
          </a:xfrm>
          <a:prstGeom prst="ellipse">
            <a:avLst/>
          </a:prstGeom>
          <a:solidFill>
            <a:srgbClr val="1E2761"/>
          </a:solidFill>
          <a:ln/>
        </p:spPr>
      </p:sp>
      <p:pic>
        <p:nvPicPr>
          <p:cNvPr id="17" name="Image 1" descr="/private/tmp/claude-501/-Users-sai-Work-Office-Teaching/ee8695eb-a8ef-409d-a9ba-c09e44dd9ced/scratchpad/pptx-build/assets/icons/FaShieldAlt.png">    </p:cNvPr>
          <p:cNvPicPr>
            <a:picLocks noChangeAspect="1"/>
          </p:cNvPicPr>
          <p:nvPr/>
        </p:nvPicPr>
        <p:blipFill>
          <a:blip r:embed="rId2"/>
          <a:stretch>
            <a:fillRect/>
          </a:stretch>
        </p:blipFill>
        <p:spPr>
          <a:xfrm>
            <a:off x="4455528" y="3176626"/>
            <a:ext cx="404165" cy="404165"/>
          </a:xfrm>
          <a:prstGeom prst="rect">
            <a:avLst/>
          </a:prstGeom>
        </p:spPr>
      </p:pic>
      <p:sp>
        <p:nvSpPr>
          <p:cNvPr id="18" name="Text 14"/>
          <p:cNvSpPr/>
          <p:nvPr/>
        </p:nvSpPr>
        <p:spPr>
          <a:xfrm>
            <a:off x="3379394" y="389534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Output filters</a:t>
            </a:r>
            <a:endParaRPr lang="en-US" sz="1250" dirty="0"/>
          </a:p>
        </p:txBody>
      </p:sp>
      <p:sp>
        <p:nvSpPr>
          <p:cNvPr id="19" name="Text 15"/>
          <p:cNvSpPr/>
          <p:nvPr/>
        </p:nvSpPr>
        <p:spPr>
          <a:xfrm>
            <a:off x="3379394" y="4279392"/>
            <a:ext cx="2556434"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Check/block certain responses before you see them</a:t>
            </a:r>
            <a:endParaRPr lang="en-US" sz="1050" dirty="0"/>
          </a:p>
        </p:txBody>
      </p:sp>
      <p:sp>
        <p:nvSpPr>
          <p:cNvPr id="20" name="Shape 16"/>
          <p:cNvSpPr/>
          <p:nvPr/>
        </p:nvSpPr>
        <p:spPr>
          <a:xfrm>
            <a:off x="7145465" y="2990088"/>
            <a:ext cx="777240" cy="777240"/>
          </a:xfrm>
          <a:prstGeom prst="ellipse">
            <a:avLst/>
          </a:prstGeom>
          <a:solidFill>
            <a:srgbClr val="1E2761"/>
          </a:solidFill>
          <a:ln/>
        </p:spPr>
      </p:sp>
      <p:pic>
        <p:nvPicPr>
          <p:cNvPr id="21" name="Image 2" descr="/private/tmp/claude-501/-Users-sai-Work-Office-Teaching/ee8695eb-a8ef-409d-a9ba-c09e44dd9ced/scratchpad/pptx-build/assets/icons/FaKey.png">    </p:cNvPr>
          <p:cNvPicPr>
            <a:picLocks noChangeAspect="1"/>
          </p:cNvPicPr>
          <p:nvPr/>
        </p:nvPicPr>
        <p:blipFill>
          <a:blip r:embed="rId3"/>
          <a:stretch>
            <a:fillRect/>
          </a:stretch>
        </p:blipFill>
        <p:spPr>
          <a:xfrm>
            <a:off x="7332002" y="3176626"/>
            <a:ext cx="404165" cy="404165"/>
          </a:xfrm>
          <a:prstGeom prst="rect">
            <a:avLst/>
          </a:prstGeom>
        </p:spPr>
      </p:pic>
      <p:sp>
        <p:nvSpPr>
          <p:cNvPr id="22" name="Text 17"/>
          <p:cNvSpPr/>
          <p:nvPr/>
        </p:nvSpPr>
        <p:spPr>
          <a:xfrm>
            <a:off x="6255868" y="389534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Permissioning</a:t>
            </a:r>
            <a:endParaRPr lang="en-US" sz="1250" dirty="0"/>
          </a:p>
        </p:txBody>
      </p:sp>
      <p:sp>
        <p:nvSpPr>
          <p:cNvPr id="23" name="Text 18"/>
          <p:cNvSpPr/>
          <p:nvPr/>
        </p:nvSpPr>
        <p:spPr>
          <a:xfrm>
            <a:off x="6255868" y="4279392"/>
            <a:ext cx="2556434"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What data/tools an agent can even access</a:t>
            </a:r>
            <a:endParaRPr lang="en-US" sz="1050" dirty="0"/>
          </a:p>
        </p:txBody>
      </p:sp>
      <p:sp>
        <p:nvSpPr>
          <p:cNvPr id="24" name="Shape 19"/>
          <p:cNvSpPr/>
          <p:nvPr/>
        </p:nvSpPr>
        <p:spPr>
          <a:xfrm>
            <a:off x="10021938" y="2990088"/>
            <a:ext cx="777240" cy="777240"/>
          </a:xfrm>
          <a:prstGeom prst="ellipse">
            <a:avLst/>
          </a:prstGeom>
          <a:solidFill>
            <a:srgbClr val="1E2761"/>
          </a:solidFill>
          <a:ln/>
        </p:spPr>
      </p:sp>
      <p:pic>
        <p:nvPicPr>
          <p:cNvPr id="25" name="Image 3" descr="/private/tmp/claude-501/-Users-sai-Work-Office-Teaching/ee8695eb-a8ef-409d-a9ba-c09e44dd9ced/scratchpad/pptx-build/assets/icons/FaUserCheck.png">    </p:cNvPr>
          <p:cNvPicPr>
            <a:picLocks noChangeAspect="1"/>
          </p:cNvPicPr>
          <p:nvPr/>
        </p:nvPicPr>
        <p:blipFill>
          <a:blip r:embed="rId4"/>
          <a:stretch>
            <a:fillRect/>
          </a:stretch>
        </p:blipFill>
        <p:spPr>
          <a:xfrm>
            <a:off x="10208476" y="3176626"/>
            <a:ext cx="404165" cy="404165"/>
          </a:xfrm>
          <a:prstGeom prst="rect">
            <a:avLst/>
          </a:prstGeom>
        </p:spPr>
      </p:pic>
      <p:sp>
        <p:nvSpPr>
          <p:cNvPr id="26" name="Text 20"/>
          <p:cNvSpPr/>
          <p:nvPr/>
        </p:nvSpPr>
        <p:spPr>
          <a:xfrm>
            <a:off x="9132341" y="389534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Human-in-the-loop</a:t>
            </a:r>
            <a:endParaRPr lang="en-US" sz="1250" dirty="0"/>
          </a:p>
        </p:txBody>
      </p:sp>
      <p:sp>
        <p:nvSpPr>
          <p:cNvPr id="27" name="Text 21"/>
          <p:cNvSpPr/>
          <p:nvPr/>
        </p:nvSpPr>
        <p:spPr>
          <a:xfrm>
            <a:off x="9132341" y="4279392"/>
            <a:ext cx="2556434"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Approval required before an action executes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S2</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You Don't Have to Build Them, But You Should Ask for Them</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Recognizing/requesting safeguards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4023360"/>
          </a:xfrm>
          <a:prstGeom prst="roundRect">
            <a:avLst>
              <a:gd name="adj" fmla="val 2045"/>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822960" y="2205990"/>
            <a:ext cx="384048" cy="384048"/>
          </a:xfrm>
          <a:prstGeom prst="ellipse">
            <a:avLst/>
          </a:prstGeom>
          <a:solidFill>
            <a:srgbClr val="1E2761"/>
          </a:solidFill>
          <a:ln/>
        </p:spPr>
      </p:sp>
      <p:sp>
        <p:nvSpPr>
          <p:cNvPr id="14" name="Text 12"/>
          <p:cNvSpPr/>
          <p:nvPr/>
        </p:nvSpPr>
        <p:spPr>
          <a:xfrm>
            <a:off x="822960" y="220599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1</a:t>
            </a:r>
            <a:endParaRPr lang="en-US" sz="1300" dirty="0"/>
          </a:p>
        </p:txBody>
      </p:sp>
      <p:sp>
        <p:nvSpPr>
          <p:cNvPr id="15" name="Text 13"/>
          <p:cNvSpPr/>
          <p:nvPr/>
        </p:nvSpPr>
        <p:spPr>
          <a:xfrm>
            <a:off x="1353312" y="2002536"/>
            <a:ext cx="9869119" cy="845820"/>
          </a:xfrm>
          <a:prstGeom prst="rect">
            <a:avLst/>
          </a:prstGeom>
          <a:noFill/>
          <a:ln/>
        </p:spPr>
        <p:txBody>
          <a:bodyPr wrap="square" lIns="0" tIns="0" rIns="0" bIns="0" rtlCol="0" anchor="ctr">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Has this been tested on cases like mine?</a:t>
            </a:r>
            <a:endParaRPr lang="en-US" sz="1300" dirty="0"/>
          </a:p>
        </p:txBody>
      </p:sp>
      <p:sp>
        <p:nvSpPr>
          <p:cNvPr id="16" name="Shape 14"/>
          <p:cNvSpPr/>
          <p:nvPr/>
        </p:nvSpPr>
        <p:spPr>
          <a:xfrm>
            <a:off x="822960" y="3051810"/>
            <a:ext cx="384048" cy="384048"/>
          </a:xfrm>
          <a:prstGeom prst="ellipse">
            <a:avLst/>
          </a:prstGeom>
          <a:solidFill>
            <a:srgbClr val="1E2761"/>
          </a:solidFill>
          <a:ln/>
        </p:spPr>
      </p:sp>
      <p:sp>
        <p:nvSpPr>
          <p:cNvPr id="17" name="Text 15"/>
          <p:cNvSpPr/>
          <p:nvPr/>
        </p:nvSpPr>
        <p:spPr>
          <a:xfrm>
            <a:off x="822960" y="305181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2</a:t>
            </a:r>
            <a:endParaRPr lang="en-US" sz="1300" dirty="0"/>
          </a:p>
        </p:txBody>
      </p:sp>
      <p:sp>
        <p:nvSpPr>
          <p:cNvPr id="18" name="Text 16"/>
          <p:cNvSpPr/>
          <p:nvPr/>
        </p:nvSpPr>
        <p:spPr>
          <a:xfrm>
            <a:off x="1353312" y="2848356"/>
            <a:ext cx="9869119" cy="845820"/>
          </a:xfrm>
          <a:prstGeom prst="rect">
            <a:avLst/>
          </a:prstGeom>
          <a:noFill/>
          <a:ln/>
        </p:spPr>
        <p:txBody>
          <a:bodyPr wrap="square" lIns="0" tIns="0" rIns="0" bIns="0" rtlCol="0" anchor="ctr">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What happens if it's wrong?</a:t>
            </a:r>
            <a:endParaRPr lang="en-US" sz="1300" dirty="0"/>
          </a:p>
        </p:txBody>
      </p:sp>
      <p:sp>
        <p:nvSpPr>
          <p:cNvPr id="19" name="Shape 17"/>
          <p:cNvSpPr/>
          <p:nvPr/>
        </p:nvSpPr>
        <p:spPr>
          <a:xfrm>
            <a:off x="822960" y="3897630"/>
            <a:ext cx="384048" cy="384048"/>
          </a:xfrm>
          <a:prstGeom prst="ellipse">
            <a:avLst/>
          </a:prstGeom>
          <a:solidFill>
            <a:srgbClr val="1E2761"/>
          </a:solidFill>
          <a:ln/>
        </p:spPr>
      </p:sp>
      <p:sp>
        <p:nvSpPr>
          <p:cNvPr id="20" name="Text 18"/>
          <p:cNvSpPr/>
          <p:nvPr/>
        </p:nvSpPr>
        <p:spPr>
          <a:xfrm>
            <a:off x="822960" y="389763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3</a:t>
            </a:r>
            <a:endParaRPr lang="en-US" sz="1300" dirty="0"/>
          </a:p>
        </p:txBody>
      </p:sp>
      <p:sp>
        <p:nvSpPr>
          <p:cNvPr id="21" name="Text 19"/>
          <p:cNvSpPr/>
          <p:nvPr/>
        </p:nvSpPr>
        <p:spPr>
          <a:xfrm>
            <a:off x="1353312" y="3694176"/>
            <a:ext cx="9869119" cy="845820"/>
          </a:xfrm>
          <a:prstGeom prst="rect">
            <a:avLst/>
          </a:prstGeom>
          <a:noFill/>
          <a:ln/>
        </p:spPr>
        <p:txBody>
          <a:bodyPr wrap="square" lIns="0" tIns="0" rIns="0" bIns="0" rtlCol="0" anchor="ctr">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Is there a way to report a bad output?</a:t>
            </a:r>
            <a:endParaRPr lang="en-US" sz="1300" dirty="0"/>
          </a:p>
        </p:txBody>
      </p:sp>
      <p:sp>
        <p:nvSpPr>
          <p:cNvPr id="22" name="Shape 20"/>
          <p:cNvSpPr/>
          <p:nvPr/>
        </p:nvSpPr>
        <p:spPr>
          <a:xfrm>
            <a:off x="822960" y="4743450"/>
            <a:ext cx="384048" cy="384048"/>
          </a:xfrm>
          <a:prstGeom prst="ellipse">
            <a:avLst/>
          </a:prstGeom>
          <a:solidFill>
            <a:srgbClr val="1E2761"/>
          </a:solidFill>
          <a:ln/>
        </p:spPr>
      </p:sp>
      <p:sp>
        <p:nvSpPr>
          <p:cNvPr id="23" name="Text 21"/>
          <p:cNvSpPr/>
          <p:nvPr/>
        </p:nvSpPr>
        <p:spPr>
          <a:xfrm>
            <a:off x="822960" y="474345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4</a:t>
            </a:r>
            <a:endParaRPr lang="en-US" sz="1300" dirty="0"/>
          </a:p>
        </p:txBody>
      </p:sp>
      <p:sp>
        <p:nvSpPr>
          <p:cNvPr id="24" name="Text 22"/>
          <p:cNvSpPr/>
          <p:nvPr/>
        </p:nvSpPr>
        <p:spPr>
          <a:xfrm>
            <a:off x="1353312" y="4539996"/>
            <a:ext cx="9869119" cy="845820"/>
          </a:xfrm>
          <a:prstGeom prst="rect">
            <a:avLst/>
          </a:prstGeom>
          <a:noFill/>
          <a:ln/>
        </p:spPr>
        <p:txBody>
          <a:bodyPr wrap="square" lIns="0" tIns="0" rIns="0" bIns="0" rtlCol="0" anchor="ctr">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Who's accountable if this causes a problem?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S3</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Verify Before You Trust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Hallucination-awareness for financial numbers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5364328" cy="3017520"/>
          </a:xfrm>
          <a:prstGeom prst="roundRect">
            <a:avLst>
              <a:gd name="adj" fmla="val 2727"/>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502920" y="1709928"/>
            <a:ext cx="5364328" cy="457200"/>
          </a:xfrm>
          <a:prstGeom prst="roundRect">
            <a:avLst>
              <a:gd name="adj" fmla="val 18000"/>
            </a:avLst>
          </a:prstGeom>
          <a:solidFill>
            <a:srgbClr val="48587A"/>
          </a:solidFill>
          <a:ln/>
        </p:spPr>
      </p:sp>
      <p:sp>
        <p:nvSpPr>
          <p:cNvPr id="14" name="Shape 12"/>
          <p:cNvSpPr/>
          <p:nvPr/>
        </p:nvSpPr>
        <p:spPr>
          <a:xfrm>
            <a:off x="502920" y="1965960"/>
            <a:ext cx="5364328" cy="201168"/>
          </a:xfrm>
          <a:prstGeom prst="rect">
            <a:avLst/>
          </a:prstGeom>
          <a:solidFill>
            <a:srgbClr val="48587A"/>
          </a:solidFill>
          <a:ln/>
        </p:spPr>
      </p:sp>
      <p:sp>
        <p:nvSpPr>
          <p:cNvPr id="15" name="Text 13"/>
          <p:cNvSpPr/>
          <p:nvPr/>
        </p:nvSpPr>
        <p:spPr>
          <a:xfrm>
            <a:off x="640080"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Confident AND correct</a:t>
            </a:r>
            <a:endParaRPr lang="en-US" sz="1450" dirty="0"/>
          </a:p>
        </p:txBody>
      </p:sp>
      <p:sp>
        <p:nvSpPr>
          <p:cNvPr id="16" name="Text 14"/>
          <p:cNvSpPr/>
          <p:nvPr/>
        </p:nvSpPr>
        <p:spPr>
          <a:xfrm>
            <a:off x="704088" y="2313432"/>
            <a:ext cx="4961992" cy="228600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The ideal case, but tone gives you no signal either way</a:t>
            </a:r>
            <a:endParaRPr lang="en-US" sz="1450" dirty="0"/>
          </a:p>
        </p:txBody>
      </p:sp>
      <p:sp>
        <p:nvSpPr>
          <p:cNvPr id="17" name="Shape 15"/>
          <p:cNvSpPr/>
          <p:nvPr/>
        </p:nvSpPr>
        <p:spPr>
          <a:xfrm>
            <a:off x="6324448" y="1709928"/>
            <a:ext cx="5364328" cy="3017520"/>
          </a:xfrm>
          <a:prstGeom prst="roundRect">
            <a:avLst>
              <a:gd name="adj" fmla="val 2727"/>
            </a:avLst>
          </a:prstGeom>
          <a:solidFill>
            <a:srgbClr val="FBEAEE"/>
          </a:solidFill>
          <a:ln/>
          <a:effectLst>
            <a:outerShdw sx="100000" sy="100000" kx="0" ky="0" algn="bl" rotWithShape="0" blurRad="76200" dist="25400" dir="5400000">
              <a:srgbClr val="1E2761">
                <a:alpha val="16000"/>
              </a:srgbClr>
            </a:outerShdw>
          </a:effectLst>
        </p:spPr>
      </p:sp>
      <p:sp>
        <p:nvSpPr>
          <p:cNvPr id="18" name="Shape 16"/>
          <p:cNvSpPr/>
          <p:nvPr/>
        </p:nvSpPr>
        <p:spPr>
          <a:xfrm>
            <a:off x="6324448" y="1709928"/>
            <a:ext cx="5364328" cy="457200"/>
          </a:xfrm>
          <a:prstGeom prst="roundRect">
            <a:avLst>
              <a:gd name="adj" fmla="val 18000"/>
            </a:avLst>
          </a:prstGeom>
          <a:solidFill>
            <a:srgbClr val="A6303D"/>
          </a:solidFill>
          <a:ln/>
        </p:spPr>
      </p:sp>
      <p:sp>
        <p:nvSpPr>
          <p:cNvPr id="19" name="Shape 17"/>
          <p:cNvSpPr/>
          <p:nvPr/>
        </p:nvSpPr>
        <p:spPr>
          <a:xfrm>
            <a:off x="6324448" y="1965960"/>
            <a:ext cx="5364328" cy="201168"/>
          </a:xfrm>
          <a:prstGeom prst="rect">
            <a:avLst/>
          </a:prstGeom>
          <a:solidFill>
            <a:srgbClr val="A6303D"/>
          </a:solidFill>
          <a:ln/>
        </p:spPr>
      </p:sp>
      <p:sp>
        <p:nvSpPr>
          <p:cNvPr id="20" name="Text 18"/>
          <p:cNvSpPr/>
          <p:nvPr/>
        </p:nvSpPr>
        <p:spPr>
          <a:xfrm>
            <a:off x="6461608"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Confident but WRONG</a:t>
            </a:r>
            <a:endParaRPr lang="en-US" sz="1450" dirty="0"/>
          </a:p>
        </p:txBody>
      </p:sp>
      <p:sp>
        <p:nvSpPr>
          <p:cNvPr id="21" name="Text 19"/>
          <p:cNvSpPr/>
          <p:nvPr/>
        </p:nvSpPr>
        <p:spPr>
          <a:xfrm>
            <a:off x="6525616" y="2313432"/>
            <a:ext cx="4961992" cy="228600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No hedging, no tonal difference from being right</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Especially risky for precise numbers/dates/facts</a:t>
            </a:r>
            <a:endParaRPr lang="en-US" sz="1450" dirty="0"/>
          </a:p>
        </p:txBody>
      </p:sp>
      <p:sp>
        <p:nvSpPr>
          <p:cNvPr id="22" name="Text 20"/>
          <p:cNvSpPr/>
          <p:nvPr/>
        </p:nvSpPr>
        <p:spPr>
          <a:xfrm>
            <a:off x="502920" y="5440680"/>
            <a:ext cx="11185855"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Treat AI output like a junior analyst's first draft: probably right, worth a second look.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S3</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 Simple Verification Habit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Three checks, seconds each</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4023360"/>
          </a:xfrm>
          <a:prstGeom prst="roundRect">
            <a:avLst>
              <a:gd name="adj" fmla="val 2045"/>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822960" y="2346960"/>
            <a:ext cx="384048" cy="384048"/>
          </a:xfrm>
          <a:prstGeom prst="ellipse">
            <a:avLst/>
          </a:prstGeom>
          <a:solidFill>
            <a:srgbClr val="1E2761"/>
          </a:solidFill>
          <a:ln/>
        </p:spPr>
      </p:sp>
      <p:sp>
        <p:nvSpPr>
          <p:cNvPr id="14" name="Text 12"/>
          <p:cNvSpPr/>
          <p:nvPr/>
        </p:nvSpPr>
        <p:spPr>
          <a:xfrm>
            <a:off x="822960" y="234696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1</a:t>
            </a:r>
            <a:endParaRPr lang="en-US" sz="1300" dirty="0"/>
          </a:p>
        </p:txBody>
      </p:sp>
      <p:sp>
        <p:nvSpPr>
          <p:cNvPr id="15" name="Text 13"/>
          <p:cNvSpPr/>
          <p:nvPr/>
        </p:nvSpPr>
        <p:spPr>
          <a:xfrm>
            <a:off x="1353312" y="2002536"/>
            <a:ext cx="9869119" cy="620268"/>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Cross-check the source</a:t>
            </a:r>
            <a:endParaRPr lang="en-US" sz="1300" dirty="0"/>
          </a:p>
        </p:txBody>
      </p:sp>
      <p:sp>
        <p:nvSpPr>
          <p:cNvPr id="16" name="Text 14"/>
          <p:cNvSpPr/>
          <p:nvPr/>
        </p:nvSpPr>
        <p:spPr>
          <a:xfrm>
            <a:off x="1353312" y="2616403"/>
            <a:ext cx="9869119" cy="518770"/>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Does it trace to something verifiable?</a:t>
            </a:r>
            <a:endParaRPr lang="en-US" sz="1050" dirty="0"/>
          </a:p>
        </p:txBody>
      </p:sp>
      <p:sp>
        <p:nvSpPr>
          <p:cNvPr id="17" name="Shape 15"/>
          <p:cNvSpPr/>
          <p:nvPr/>
        </p:nvSpPr>
        <p:spPr>
          <a:xfrm>
            <a:off x="822960" y="3474720"/>
            <a:ext cx="384048" cy="384048"/>
          </a:xfrm>
          <a:prstGeom prst="ellipse">
            <a:avLst/>
          </a:prstGeom>
          <a:solidFill>
            <a:srgbClr val="1E2761"/>
          </a:solidFill>
          <a:ln/>
        </p:spPr>
      </p:sp>
      <p:sp>
        <p:nvSpPr>
          <p:cNvPr id="18" name="Text 16"/>
          <p:cNvSpPr/>
          <p:nvPr/>
        </p:nvSpPr>
        <p:spPr>
          <a:xfrm>
            <a:off x="822960" y="347472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2</a:t>
            </a:r>
            <a:endParaRPr lang="en-US" sz="1300" dirty="0"/>
          </a:p>
        </p:txBody>
      </p:sp>
      <p:sp>
        <p:nvSpPr>
          <p:cNvPr id="19" name="Text 17"/>
          <p:cNvSpPr/>
          <p:nvPr/>
        </p:nvSpPr>
        <p:spPr>
          <a:xfrm>
            <a:off x="1353312" y="3130296"/>
            <a:ext cx="9869119" cy="620268"/>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Sanity-check the magnitude</a:t>
            </a:r>
            <a:endParaRPr lang="en-US" sz="1300" dirty="0"/>
          </a:p>
        </p:txBody>
      </p:sp>
      <p:sp>
        <p:nvSpPr>
          <p:cNvPr id="20" name="Text 18"/>
          <p:cNvSpPr/>
          <p:nvPr/>
        </p:nvSpPr>
        <p:spPr>
          <a:xfrm>
            <a:off x="1353312" y="3744163"/>
            <a:ext cx="9869119" cy="518770"/>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Does it feel plausible given what you already know?</a:t>
            </a:r>
            <a:endParaRPr lang="en-US" sz="1050" dirty="0"/>
          </a:p>
        </p:txBody>
      </p:sp>
      <p:sp>
        <p:nvSpPr>
          <p:cNvPr id="21" name="Shape 19"/>
          <p:cNvSpPr/>
          <p:nvPr/>
        </p:nvSpPr>
        <p:spPr>
          <a:xfrm>
            <a:off x="822960" y="4602480"/>
            <a:ext cx="384048" cy="384048"/>
          </a:xfrm>
          <a:prstGeom prst="ellipse">
            <a:avLst/>
          </a:prstGeom>
          <a:solidFill>
            <a:srgbClr val="1E2761"/>
          </a:solidFill>
          <a:ln/>
        </p:spPr>
      </p:sp>
      <p:sp>
        <p:nvSpPr>
          <p:cNvPr id="22" name="Text 20"/>
          <p:cNvSpPr/>
          <p:nvPr/>
        </p:nvSpPr>
        <p:spPr>
          <a:xfrm>
            <a:off x="822960" y="460248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3</a:t>
            </a:r>
            <a:endParaRPr lang="en-US" sz="1300" dirty="0"/>
          </a:p>
        </p:txBody>
      </p:sp>
      <p:sp>
        <p:nvSpPr>
          <p:cNvPr id="23" name="Text 21"/>
          <p:cNvSpPr/>
          <p:nvPr/>
        </p:nvSpPr>
        <p:spPr>
          <a:xfrm>
            <a:off x="1353312" y="4258056"/>
            <a:ext cx="9869119" cy="620268"/>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Spot-check one data point manually</a:t>
            </a:r>
            <a:endParaRPr lang="en-US" sz="1300" dirty="0"/>
          </a:p>
        </p:txBody>
      </p:sp>
      <p:sp>
        <p:nvSpPr>
          <p:cNvPr id="24" name="Text 22"/>
          <p:cNvSpPr/>
          <p:nvPr/>
        </p:nvSpPr>
        <p:spPr>
          <a:xfrm>
            <a:off x="1353312" y="4871923"/>
            <a:ext cx="9869119" cy="518770"/>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For anything material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S4</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When It Goes Wrong: The Troubleshooting Checklist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Prompt? Context? Tool/agent choice? Data?</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2340151" y="1801368"/>
            <a:ext cx="3931920" cy="3931920"/>
          </a:xfrm>
          <a:prstGeom prst="ellipse">
            <a:avLst/>
          </a:prstGeom>
          <a:solidFill>
            <a:srgbClr val="E8A33D"/>
          </a:solidFill>
          <a:ln w="19050">
            <a:solidFill>
              <a:srgbClr val="FFFFFF"/>
            </a:solidFill>
            <a:prstDash val="solid"/>
          </a:ln>
        </p:spPr>
      </p:sp>
      <p:sp>
        <p:nvSpPr>
          <p:cNvPr id="13" name="Shape 11"/>
          <p:cNvSpPr/>
          <p:nvPr/>
        </p:nvSpPr>
        <p:spPr>
          <a:xfrm>
            <a:off x="2831641" y="2292858"/>
            <a:ext cx="2948940" cy="2948940"/>
          </a:xfrm>
          <a:prstGeom prst="ellipse">
            <a:avLst/>
          </a:prstGeom>
          <a:solidFill>
            <a:srgbClr val="48587A"/>
          </a:solidFill>
          <a:ln w="19050">
            <a:solidFill>
              <a:srgbClr val="FFFFFF"/>
            </a:solidFill>
            <a:prstDash val="solid"/>
          </a:ln>
        </p:spPr>
      </p:sp>
      <p:sp>
        <p:nvSpPr>
          <p:cNvPr id="14" name="Shape 12"/>
          <p:cNvSpPr/>
          <p:nvPr/>
        </p:nvSpPr>
        <p:spPr>
          <a:xfrm>
            <a:off x="3323131" y="2784348"/>
            <a:ext cx="1965960" cy="1965960"/>
          </a:xfrm>
          <a:prstGeom prst="ellipse">
            <a:avLst/>
          </a:prstGeom>
          <a:solidFill>
            <a:srgbClr val="7186B5"/>
          </a:solidFill>
          <a:ln w="19050">
            <a:solidFill>
              <a:srgbClr val="FFFFFF"/>
            </a:solidFill>
            <a:prstDash val="solid"/>
          </a:ln>
        </p:spPr>
      </p:sp>
      <p:sp>
        <p:nvSpPr>
          <p:cNvPr id="15" name="Shape 13"/>
          <p:cNvSpPr/>
          <p:nvPr/>
        </p:nvSpPr>
        <p:spPr>
          <a:xfrm>
            <a:off x="3814621" y="3275838"/>
            <a:ext cx="982980" cy="982980"/>
          </a:xfrm>
          <a:prstGeom prst="ellipse">
            <a:avLst/>
          </a:prstGeom>
          <a:solidFill>
            <a:srgbClr val="ACB9DC"/>
          </a:solidFill>
          <a:ln w="19050">
            <a:solidFill>
              <a:srgbClr val="FFFFFF"/>
            </a:solidFill>
            <a:prstDash val="solid"/>
          </a:ln>
        </p:spPr>
      </p:sp>
      <p:sp>
        <p:nvSpPr>
          <p:cNvPr id="16" name="Text 14"/>
          <p:cNvSpPr/>
          <p:nvPr/>
        </p:nvSpPr>
        <p:spPr>
          <a:xfrm>
            <a:off x="6774991" y="1709928"/>
            <a:ext cx="4913784" cy="565785"/>
          </a:xfrm>
          <a:prstGeom prst="rect">
            <a:avLst/>
          </a:prstGeom>
          <a:noFill/>
          <a:ln/>
        </p:spPr>
        <p:txBody>
          <a:bodyPr wrap="square" lIns="0" tIns="0" rIns="0" bIns="0" rtlCol="0" anchor="b"/>
          <a:lstStyle/>
          <a:p>
            <a:pPr indent="0" marL="0">
              <a:buNone/>
            </a:pPr>
            <a:r>
              <a:rPr lang="en-US" sz="1400" b="1" dirty="0">
                <a:solidFill>
                  <a:srgbClr val="A6660E"/>
                </a:solidFill>
                <a:latin typeface="Calibri" pitchFamily="34" charset="0"/>
                <a:ea typeface="Calibri" pitchFamily="34" charset="-122"/>
                <a:cs typeface="Calibri" pitchFamily="34" charset="-120"/>
              </a:rPr>
              <a:t>Data</a:t>
            </a:r>
            <a:endParaRPr lang="en-US" sz="1400" dirty="0"/>
          </a:p>
        </p:txBody>
      </p:sp>
      <p:sp>
        <p:nvSpPr>
          <p:cNvPr id="17" name="Text 15"/>
          <p:cNvSpPr/>
          <p:nvPr/>
        </p:nvSpPr>
        <p:spPr>
          <a:xfrm>
            <a:off x="6774991" y="2244852"/>
            <a:ext cx="4913784" cy="462915"/>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Is the underlying data itself wrong or stale?</a:t>
            </a:r>
            <a:endParaRPr lang="en-US" sz="1100" dirty="0"/>
          </a:p>
        </p:txBody>
      </p:sp>
      <p:sp>
        <p:nvSpPr>
          <p:cNvPr id="18" name="Text 16"/>
          <p:cNvSpPr/>
          <p:nvPr/>
        </p:nvSpPr>
        <p:spPr>
          <a:xfrm>
            <a:off x="6774991" y="2738628"/>
            <a:ext cx="4913784" cy="565785"/>
          </a:xfrm>
          <a:prstGeom prst="rect">
            <a:avLst/>
          </a:prstGeom>
          <a:noFill/>
          <a:ln/>
        </p:spPr>
        <p:txBody>
          <a:bodyPr wrap="square" lIns="0" tIns="0" rIns="0" bIns="0" rtlCol="0" anchor="b"/>
          <a:lstStyle/>
          <a:p>
            <a:pPr indent="0" marL="0">
              <a:buNone/>
            </a:pPr>
            <a:r>
              <a:rPr lang="en-US" sz="1400" b="1" dirty="0">
                <a:solidFill>
                  <a:srgbClr val="1E2761"/>
                </a:solidFill>
                <a:latin typeface="Calibri" pitchFamily="34" charset="0"/>
                <a:ea typeface="Calibri" pitchFamily="34" charset="-122"/>
                <a:cs typeface="Calibri" pitchFamily="34" charset="-120"/>
              </a:rPr>
              <a:t>Tool / agent choice</a:t>
            </a:r>
            <a:endParaRPr lang="en-US" sz="1400" dirty="0"/>
          </a:p>
        </p:txBody>
      </p:sp>
      <p:sp>
        <p:nvSpPr>
          <p:cNvPr id="19" name="Text 17"/>
          <p:cNvSpPr/>
          <p:nvPr/>
        </p:nvSpPr>
        <p:spPr>
          <a:xfrm>
            <a:off x="6774991" y="3273552"/>
            <a:ext cx="4913784" cy="462915"/>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Was the right one selected?</a:t>
            </a:r>
            <a:endParaRPr lang="en-US" sz="1100" dirty="0"/>
          </a:p>
        </p:txBody>
      </p:sp>
      <p:sp>
        <p:nvSpPr>
          <p:cNvPr id="20" name="Text 18"/>
          <p:cNvSpPr/>
          <p:nvPr/>
        </p:nvSpPr>
        <p:spPr>
          <a:xfrm>
            <a:off x="6774991" y="3767328"/>
            <a:ext cx="4913784" cy="565785"/>
          </a:xfrm>
          <a:prstGeom prst="rect">
            <a:avLst/>
          </a:prstGeom>
          <a:noFill/>
          <a:ln/>
        </p:spPr>
        <p:txBody>
          <a:bodyPr wrap="square" lIns="0" tIns="0" rIns="0" bIns="0" rtlCol="0" anchor="b"/>
          <a:lstStyle/>
          <a:p>
            <a:pPr indent="0" marL="0">
              <a:buNone/>
            </a:pPr>
            <a:r>
              <a:rPr lang="en-US" sz="1400" b="1" dirty="0">
                <a:solidFill>
                  <a:srgbClr val="1E2761"/>
                </a:solidFill>
                <a:latin typeface="Calibri" pitchFamily="34" charset="0"/>
                <a:ea typeface="Calibri" pitchFamily="34" charset="-122"/>
                <a:cs typeface="Calibri" pitchFamily="34" charset="-120"/>
              </a:rPr>
              <a:t>Context</a:t>
            </a:r>
            <a:endParaRPr lang="en-US" sz="1400" dirty="0"/>
          </a:p>
        </p:txBody>
      </p:sp>
      <p:sp>
        <p:nvSpPr>
          <p:cNvPr id="21" name="Text 19"/>
          <p:cNvSpPr/>
          <p:nvPr/>
        </p:nvSpPr>
        <p:spPr>
          <a:xfrm>
            <a:off x="6774991" y="4302252"/>
            <a:ext cx="4913784" cy="462915"/>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Did it have what it needed?</a:t>
            </a:r>
            <a:endParaRPr lang="en-US" sz="1100" dirty="0"/>
          </a:p>
        </p:txBody>
      </p:sp>
      <p:sp>
        <p:nvSpPr>
          <p:cNvPr id="22" name="Text 20"/>
          <p:cNvSpPr/>
          <p:nvPr/>
        </p:nvSpPr>
        <p:spPr>
          <a:xfrm>
            <a:off x="6774991" y="4796028"/>
            <a:ext cx="4913784" cy="565785"/>
          </a:xfrm>
          <a:prstGeom prst="rect">
            <a:avLst/>
          </a:prstGeom>
          <a:noFill/>
          <a:ln/>
        </p:spPr>
        <p:txBody>
          <a:bodyPr wrap="square" lIns="0" tIns="0" rIns="0" bIns="0" rtlCol="0" anchor="b"/>
          <a:lstStyle/>
          <a:p>
            <a:pPr indent="0" marL="0">
              <a:buNone/>
            </a:pPr>
            <a:r>
              <a:rPr lang="en-US" sz="1400" b="1" dirty="0">
                <a:solidFill>
                  <a:srgbClr val="1E2761"/>
                </a:solidFill>
                <a:latin typeface="Calibri" pitchFamily="34" charset="0"/>
                <a:ea typeface="Calibri" pitchFamily="34" charset="-122"/>
                <a:cs typeface="Calibri" pitchFamily="34" charset="-120"/>
              </a:rPr>
              <a:t>Prompt</a:t>
            </a:r>
            <a:endParaRPr lang="en-US" sz="1400" dirty="0"/>
          </a:p>
        </p:txBody>
      </p:sp>
      <p:sp>
        <p:nvSpPr>
          <p:cNvPr id="23" name="Text 21"/>
          <p:cNvSpPr/>
          <p:nvPr/>
        </p:nvSpPr>
        <p:spPr>
          <a:xfrm>
            <a:off x="6774991" y="5330952"/>
            <a:ext cx="4913784" cy="462915"/>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Was the ask clear?</a:t>
            </a:r>
            <a:endParaRPr lang="en-US" sz="1100" dirty="0"/>
          </a:p>
        </p:txBody>
      </p:sp>
      <p:sp>
        <p:nvSpPr>
          <p:cNvPr id="24" name="Text 22"/>
          <p:cNvSpPr/>
          <p:nvPr/>
        </p:nvSpPr>
        <p:spPr>
          <a:xfrm>
            <a:off x="4104943" y="35661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S4</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Walking the Checklist, Live</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A worked example</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3108960"/>
          </a:xfrm>
          <a:prstGeom prst="roundRect">
            <a:avLst>
              <a:gd name="adj" fmla="val 2647"/>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822960" y="2091690"/>
            <a:ext cx="384048" cy="384048"/>
          </a:xfrm>
          <a:prstGeom prst="ellipse">
            <a:avLst/>
          </a:prstGeom>
          <a:solidFill>
            <a:srgbClr val="1E2761"/>
          </a:solidFill>
          <a:ln/>
        </p:spPr>
      </p:sp>
      <p:sp>
        <p:nvSpPr>
          <p:cNvPr id="14" name="Text 12"/>
          <p:cNvSpPr/>
          <p:nvPr/>
        </p:nvSpPr>
        <p:spPr>
          <a:xfrm>
            <a:off x="822960" y="209169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1</a:t>
            </a:r>
            <a:endParaRPr lang="en-US" sz="1300" dirty="0"/>
          </a:p>
        </p:txBody>
      </p:sp>
      <p:sp>
        <p:nvSpPr>
          <p:cNvPr id="15" name="Text 13"/>
          <p:cNvSpPr/>
          <p:nvPr/>
        </p:nvSpPr>
        <p:spPr>
          <a:xfrm>
            <a:off x="1353312" y="2002536"/>
            <a:ext cx="9869119" cy="339471"/>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1. Prompt: clear?</a:t>
            </a:r>
            <a:endParaRPr lang="en-US" sz="1300" dirty="0"/>
          </a:p>
        </p:txBody>
      </p:sp>
      <p:sp>
        <p:nvSpPr>
          <p:cNvPr id="16" name="Text 14"/>
          <p:cNvSpPr/>
          <p:nvPr/>
        </p:nvSpPr>
        <p:spPr>
          <a:xfrm>
            <a:off x="1353312" y="2350922"/>
            <a:ext cx="9869119" cy="283921"/>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[DRAFT: pair with the demo example] ruled out</a:t>
            </a:r>
            <a:endParaRPr lang="en-US" sz="1050" dirty="0"/>
          </a:p>
        </p:txBody>
      </p:sp>
      <p:sp>
        <p:nvSpPr>
          <p:cNvPr id="17" name="Shape 15"/>
          <p:cNvSpPr/>
          <p:nvPr/>
        </p:nvSpPr>
        <p:spPr>
          <a:xfrm>
            <a:off x="822960" y="2708910"/>
            <a:ext cx="384048" cy="384048"/>
          </a:xfrm>
          <a:prstGeom prst="ellipse">
            <a:avLst/>
          </a:prstGeom>
          <a:solidFill>
            <a:srgbClr val="1E2761"/>
          </a:solidFill>
          <a:ln/>
        </p:spPr>
      </p:sp>
      <p:sp>
        <p:nvSpPr>
          <p:cNvPr id="18" name="Text 16"/>
          <p:cNvSpPr/>
          <p:nvPr/>
        </p:nvSpPr>
        <p:spPr>
          <a:xfrm>
            <a:off x="822960" y="270891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2</a:t>
            </a:r>
            <a:endParaRPr lang="en-US" sz="1300" dirty="0"/>
          </a:p>
        </p:txBody>
      </p:sp>
      <p:sp>
        <p:nvSpPr>
          <p:cNvPr id="19" name="Text 17"/>
          <p:cNvSpPr/>
          <p:nvPr/>
        </p:nvSpPr>
        <p:spPr>
          <a:xfrm>
            <a:off x="1353312" y="2619756"/>
            <a:ext cx="9869119" cy="339471"/>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2. Context: sufficient?</a:t>
            </a:r>
            <a:endParaRPr lang="en-US" sz="1300" dirty="0"/>
          </a:p>
        </p:txBody>
      </p:sp>
      <p:sp>
        <p:nvSpPr>
          <p:cNvPr id="20" name="Text 18"/>
          <p:cNvSpPr/>
          <p:nvPr/>
        </p:nvSpPr>
        <p:spPr>
          <a:xfrm>
            <a:off x="1353312" y="2968142"/>
            <a:ext cx="9869119" cy="283921"/>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[DRAFT: pair with the demo example] ruled out</a:t>
            </a:r>
            <a:endParaRPr lang="en-US" sz="1050" dirty="0"/>
          </a:p>
        </p:txBody>
      </p:sp>
      <p:sp>
        <p:nvSpPr>
          <p:cNvPr id="21" name="Shape 19"/>
          <p:cNvSpPr/>
          <p:nvPr/>
        </p:nvSpPr>
        <p:spPr>
          <a:xfrm>
            <a:off x="822960" y="3326130"/>
            <a:ext cx="384048" cy="384048"/>
          </a:xfrm>
          <a:prstGeom prst="ellipse">
            <a:avLst/>
          </a:prstGeom>
          <a:solidFill>
            <a:srgbClr val="1E2761"/>
          </a:solidFill>
          <a:ln/>
        </p:spPr>
      </p:sp>
      <p:sp>
        <p:nvSpPr>
          <p:cNvPr id="22" name="Text 20"/>
          <p:cNvSpPr/>
          <p:nvPr/>
        </p:nvSpPr>
        <p:spPr>
          <a:xfrm>
            <a:off x="822960" y="332613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3</a:t>
            </a:r>
            <a:endParaRPr lang="en-US" sz="1300" dirty="0"/>
          </a:p>
        </p:txBody>
      </p:sp>
      <p:sp>
        <p:nvSpPr>
          <p:cNvPr id="23" name="Text 21"/>
          <p:cNvSpPr/>
          <p:nvPr/>
        </p:nvSpPr>
        <p:spPr>
          <a:xfrm>
            <a:off x="1353312" y="3236976"/>
            <a:ext cx="9869119" cy="339471"/>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3. Tool/agent choice: right one?</a:t>
            </a:r>
            <a:endParaRPr lang="en-US" sz="1300" dirty="0"/>
          </a:p>
        </p:txBody>
      </p:sp>
      <p:sp>
        <p:nvSpPr>
          <p:cNvPr id="24" name="Text 22"/>
          <p:cNvSpPr/>
          <p:nvPr/>
        </p:nvSpPr>
        <p:spPr>
          <a:xfrm>
            <a:off x="1353312" y="3585362"/>
            <a:ext cx="9869119" cy="283921"/>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[DRAFT: mark the actual root cause once the example is finalized]</a:t>
            </a:r>
            <a:endParaRPr lang="en-US" sz="1050" dirty="0"/>
          </a:p>
        </p:txBody>
      </p:sp>
      <p:sp>
        <p:nvSpPr>
          <p:cNvPr id="25" name="Shape 23"/>
          <p:cNvSpPr/>
          <p:nvPr/>
        </p:nvSpPr>
        <p:spPr>
          <a:xfrm>
            <a:off x="822960" y="3943350"/>
            <a:ext cx="384048" cy="384048"/>
          </a:xfrm>
          <a:prstGeom prst="ellipse">
            <a:avLst/>
          </a:prstGeom>
          <a:solidFill>
            <a:srgbClr val="1E2761"/>
          </a:solidFill>
          <a:ln/>
        </p:spPr>
      </p:sp>
      <p:sp>
        <p:nvSpPr>
          <p:cNvPr id="26" name="Text 24"/>
          <p:cNvSpPr/>
          <p:nvPr/>
        </p:nvSpPr>
        <p:spPr>
          <a:xfrm>
            <a:off x="822960" y="3943350"/>
            <a:ext cx="384048" cy="384048"/>
          </a:xfrm>
          <a:prstGeom prst="rect">
            <a:avLst/>
          </a:prstGeom>
          <a:noFill/>
          <a:ln/>
        </p:spPr>
        <p:txBody>
          <a:bodyPr wrap="square" lIns="0" tIns="0" rIns="0" bIns="0" rtlCol="0" anchor="ctr"/>
          <a:lstStyle/>
          <a:p>
            <a:pPr algn="ctr" indent="0" marL="0">
              <a:buNone/>
            </a:pPr>
            <a:r>
              <a:rPr lang="en-US" sz="1300" b="1" dirty="0">
                <a:solidFill>
                  <a:srgbClr val="E8A33D"/>
                </a:solidFill>
                <a:latin typeface="Cambria" pitchFamily="34" charset="0"/>
                <a:ea typeface="Cambria" pitchFamily="34" charset="-122"/>
                <a:cs typeface="Cambria" pitchFamily="34" charset="-120"/>
              </a:rPr>
              <a:t>4</a:t>
            </a:r>
            <a:endParaRPr lang="en-US" sz="1300" dirty="0"/>
          </a:p>
        </p:txBody>
      </p:sp>
      <p:sp>
        <p:nvSpPr>
          <p:cNvPr id="27" name="Text 25"/>
          <p:cNvSpPr/>
          <p:nvPr/>
        </p:nvSpPr>
        <p:spPr>
          <a:xfrm>
            <a:off x="1353312" y="3854196"/>
            <a:ext cx="9869119" cy="339471"/>
          </a:xfrm>
          <a:prstGeom prst="rect">
            <a:avLst/>
          </a:prstGeom>
          <a:noFill/>
          <a:ln/>
        </p:spPr>
        <p:txBody>
          <a:bodyPr wrap="square" lIns="0" tIns="0" rIns="0" bIns="0" rtlCol="0" anchor="b">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4. Data: stale or wrong?</a:t>
            </a:r>
            <a:endParaRPr lang="en-US" sz="1300" dirty="0"/>
          </a:p>
        </p:txBody>
      </p:sp>
      <p:sp>
        <p:nvSpPr>
          <p:cNvPr id="28" name="Text 26"/>
          <p:cNvSpPr/>
          <p:nvPr/>
        </p:nvSpPr>
        <p:spPr>
          <a:xfrm>
            <a:off x="1353312" y="4202582"/>
            <a:ext cx="9869119" cy="283921"/>
          </a:xfrm>
          <a:prstGeom prst="rect">
            <a:avLst/>
          </a:prstGeom>
          <a:noFill/>
          <a:ln/>
        </p:spPr>
        <p:txBody>
          <a:bodyPr wrap="square" lIns="0" tIns="0" rIns="0" bIns="0" rtlCol="0" anchor="t">
            <a:normAutofit/>
          </a:bodyPr>
          <a:lstStyle/>
          <a:p>
            <a:pPr indent="0" marL="0">
              <a:buNone/>
            </a:pPr>
            <a:r>
              <a:rPr lang="en-US" sz="1050" dirty="0">
                <a:solidFill>
                  <a:srgbClr val="6B7280"/>
                </a:solidFill>
                <a:latin typeface="Calibri" pitchFamily="34" charset="0"/>
                <a:ea typeface="Calibri" pitchFamily="34" charset="-122"/>
                <a:cs typeface="Calibri" pitchFamily="34" charset="-120"/>
              </a:rPr>
              <a:t>[DRAFT: mark the actual root cause once the example is finalized]</a:t>
            </a:r>
            <a:endParaRPr lang="en-US" sz="1050" dirty="0"/>
          </a:p>
        </p:txBody>
      </p:sp>
      <p:sp>
        <p:nvSpPr>
          <p:cNvPr id="29" name="Shape 27"/>
          <p:cNvSpPr/>
          <p:nvPr/>
        </p:nvSpPr>
        <p:spPr>
          <a:xfrm>
            <a:off x="502920" y="5001768"/>
            <a:ext cx="11185855" cy="594360"/>
          </a:xfrm>
          <a:prstGeom prst="roundRect">
            <a:avLst>
              <a:gd name="adj" fmla="val 13846"/>
            </a:avLst>
          </a:prstGeom>
          <a:solidFill>
            <a:srgbClr val="FFF4E0"/>
          </a:solidFill>
          <a:ln/>
        </p:spPr>
      </p:sp>
      <p:sp>
        <p:nvSpPr>
          <p:cNvPr id="30" name="Shape 28"/>
          <p:cNvSpPr/>
          <p:nvPr/>
        </p:nvSpPr>
        <p:spPr>
          <a:xfrm>
            <a:off x="502920" y="5001768"/>
            <a:ext cx="82296" cy="594360"/>
          </a:xfrm>
          <a:prstGeom prst="roundRect">
            <a:avLst/>
          </a:prstGeom>
          <a:solidFill>
            <a:srgbClr val="E8A33D"/>
          </a:solidFill>
          <a:ln/>
        </p:spPr>
      </p:sp>
      <p:sp>
        <p:nvSpPr>
          <p:cNvPr id="31" name="Text 29"/>
          <p:cNvSpPr/>
          <p:nvPr/>
        </p:nvSpPr>
        <p:spPr>
          <a:xfrm>
            <a:off x="758952" y="5093208"/>
            <a:ext cx="10728655" cy="41148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build this example to directly match the live demo (Part C) so slide and demo reinforce each other.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S5</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Global Markets Has Its Own Rule Book</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MNPI · Client data · Information barriers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871929" y="1984248"/>
            <a:ext cx="777240" cy="777240"/>
          </a:xfrm>
          <a:prstGeom prst="ellipse">
            <a:avLst/>
          </a:prstGeom>
          <a:solidFill>
            <a:srgbClr val="A6303D"/>
          </a:solidFill>
          <a:ln/>
        </p:spPr>
      </p:sp>
      <p:pic>
        <p:nvPicPr>
          <p:cNvPr id="13" name="Image 0" descr="/private/tmp/claude-501/-Users-sai-Work-Office-Teaching/ee8695eb-a8ef-409d-a9ba-c09e44dd9ced/scratchpad/pptx-build/assets/icons/FaExclamationTriangle.png">    </p:cNvPr>
          <p:cNvPicPr>
            <a:picLocks noChangeAspect="1"/>
          </p:cNvPicPr>
          <p:nvPr/>
        </p:nvPicPr>
        <p:blipFill>
          <a:blip r:embed="rId1"/>
          <a:stretch>
            <a:fillRect/>
          </a:stretch>
        </p:blipFill>
        <p:spPr>
          <a:xfrm>
            <a:off x="2058467" y="2170786"/>
            <a:ext cx="404165" cy="404165"/>
          </a:xfrm>
          <a:prstGeom prst="rect">
            <a:avLst/>
          </a:prstGeom>
        </p:spPr>
      </p:pic>
      <p:sp>
        <p:nvSpPr>
          <p:cNvPr id="14" name="Text 11"/>
          <p:cNvSpPr/>
          <p:nvPr/>
        </p:nvSpPr>
        <p:spPr>
          <a:xfrm>
            <a:off x="502920" y="288950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MNPI</a:t>
            </a:r>
            <a:endParaRPr lang="en-US" sz="1250" dirty="0"/>
          </a:p>
        </p:txBody>
      </p:sp>
      <p:sp>
        <p:nvSpPr>
          <p:cNvPr id="15" name="Text 12"/>
          <p:cNvSpPr/>
          <p:nvPr/>
        </p:nvSpPr>
        <p:spPr>
          <a:xfrm>
            <a:off x="502920" y="3273552"/>
            <a:ext cx="351525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Material Non-Public Information</a:t>
            </a:r>
            <a:endParaRPr lang="en-US" sz="1050" dirty="0"/>
          </a:p>
        </p:txBody>
      </p:sp>
      <p:sp>
        <p:nvSpPr>
          <p:cNvPr id="16" name="Shape 13"/>
          <p:cNvSpPr/>
          <p:nvPr/>
        </p:nvSpPr>
        <p:spPr>
          <a:xfrm>
            <a:off x="5707228" y="1984248"/>
            <a:ext cx="777240" cy="777240"/>
          </a:xfrm>
          <a:prstGeom prst="ellipse">
            <a:avLst/>
          </a:prstGeom>
          <a:solidFill>
            <a:srgbClr val="48587A"/>
          </a:solidFill>
          <a:ln/>
        </p:spPr>
      </p:sp>
      <p:pic>
        <p:nvPicPr>
          <p:cNvPr id="17" name="Image 1" descr="/private/tmp/claude-501/-Users-sai-Work-Office-Teaching/ee8695eb-a8ef-409d-a9ba-c09e44dd9ced/scratchpad/pptx-build/assets/icons/FaGripLinesVertical.png">    </p:cNvPr>
          <p:cNvPicPr>
            <a:picLocks noChangeAspect="1"/>
          </p:cNvPicPr>
          <p:nvPr/>
        </p:nvPicPr>
        <p:blipFill>
          <a:blip r:embed="rId2"/>
          <a:stretch>
            <a:fillRect/>
          </a:stretch>
        </p:blipFill>
        <p:spPr>
          <a:xfrm>
            <a:off x="5893765" y="2170786"/>
            <a:ext cx="404165" cy="404165"/>
          </a:xfrm>
          <a:prstGeom prst="rect">
            <a:avLst/>
          </a:prstGeom>
        </p:spPr>
      </p:pic>
      <p:sp>
        <p:nvSpPr>
          <p:cNvPr id="18" name="Text 14"/>
          <p:cNvSpPr/>
          <p:nvPr/>
        </p:nvSpPr>
        <p:spPr>
          <a:xfrm>
            <a:off x="4338218" y="288950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Information barriers</a:t>
            </a:r>
            <a:endParaRPr lang="en-US" sz="1250" dirty="0"/>
          </a:p>
        </p:txBody>
      </p:sp>
      <p:sp>
        <p:nvSpPr>
          <p:cNvPr id="19" name="Text 15"/>
          <p:cNvSpPr/>
          <p:nvPr/>
        </p:nvSpPr>
        <p:spPr>
          <a:xfrm>
            <a:off x="4338218" y="3273552"/>
            <a:ext cx="351525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Walls between desks that must stay up</a:t>
            </a:r>
            <a:endParaRPr lang="en-US" sz="1050" dirty="0"/>
          </a:p>
        </p:txBody>
      </p:sp>
      <p:sp>
        <p:nvSpPr>
          <p:cNvPr id="20" name="Shape 16"/>
          <p:cNvSpPr/>
          <p:nvPr/>
        </p:nvSpPr>
        <p:spPr>
          <a:xfrm>
            <a:off x="9542526" y="1984248"/>
            <a:ext cx="777240" cy="777240"/>
          </a:xfrm>
          <a:prstGeom prst="ellipse">
            <a:avLst/>
          </a:prstGeom>
          <a:solidFill>
            <a:srgbClr val="1E2761"/>
          </a:solidFill>
          <a:ln/>
        </p:spPr>
      </p:sp>
      <p:pic>
        <p:nvPicPr>
          <p:cNvPr id="21" name="Image 2" descr="/private/tmp/claude-501/-Users-sai-Work-Office-Teaching/ee8695eb-a8ef-409d-a9ba-c09e44dd9ced/scratchpad/pptx-build/assets/icons/FaUserTie.png">    </p:cNvPr>
          <p:cNvPicPr>
            <a:picLocks noChangeAspect="1"/>
          </p:cNvPicPr>
          <p:nvPr/>
        </p:nvPicPr>
        <p:blipFill>
          <a:blip r:embed="rId3"/>
          <a:stretch>
            <a:fillRect/>
          </a:stretch>
        </p:blipFill>
        <p:spPr>
          <a:xfrm>
            <a:off x="9729064" y="2170786"/>
            <a:ext cx="404165" cy="404165"/>
          </a:xfrm>
          <a:prstGeom prst="rect">
            <a:avLst/>
          </a:prstGeom>
        </p:spPr>
      </p:pic>
      <p:sp>
        <p:nvSpPr>
          <p:cNvPr id="22" name="Text 17"/>
          <p:cNvSpPr/>
          <p:nvPr/>
        </p:nvSpPr>
        <p:spPr>
          <a:xfrm>
            <a:off x="8173517" y="288950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Client confidentiality</a:t>
            </a:r>
            <a:endParaRPr lang="en-US" sz="1250" dirty="0"/>
          </a:p>
        </p:txBody>
      </p:sp>
      <p:sp>
        <p:nvSpPr>
          <p:cNvPr id="23" name="Text 18"/>
          <p:cNvSpPr/>
          <p:nvPr/>
        </p:nvSpPr>
        <p:spPr>
          <a:xfrm>
            <a:off x="8173517" y="3273552"/>
            <a:ext cx="351525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Obligations that don't pause for a new tool</a:t>
            </a:r>
            <a:endParaRPr lang="en-US" sz="1050" dirty="0"/>
          </a:p>
        </p:txBody>
      </p:sp>
      <p:sp>
        <p:nvSpPr>
          <p:cNvPr id="24" name="Text 19"/>
          <p:cNvSpPr/>
          <p:nvPr/>
        </p:nvSpPr>
        <p:spPr>
          <a:xfrm>
            <a:off x="502920" y="5349240"/>
            <a:ext cx="11185855" cy="54864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Beyond generic AI safety, this domain has its own rules. None of this is new; it just needs to extend to AI, deliberately.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S5</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What Never Goes In, Regardless of What the Platform Allows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[NEEDS COMPLIANCE SIGN-OFF BEFORE USE]</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892808"/>
            <a:ext cx="11185855" cy="3291840"/>
          </a:xfrm>
          <a:prstGeom prst="roundRect">
            <a:avLst>
              <a:gd name="adj" fmla="val 2500"/>
            </a:avLst>
          </a:prstGeom>
          <a:solidFill>
            <a:srgbClr val="FFF4E0"/>
          </a:solidFill>
          <a:ln/>
        </p:spPr>
      </p:sp>
      <p:sp>
        <p:nvSpPr>
          <p:cNvPr id="13" name="Shape 11"/>
          <p:cNvSpPr/>
          <p:nvPr/>
        </p:nvSpPr>
        <p:spPr>
          <a:xfrm>
            <a:off x="502920" y="1892808"/>
            <a:ext cx="82296" cy="3291840"/>
          </a:xfrm>
          <a:prstGeom prst="roundRect">
            <a:avLst/>
          </a:prstGeom>
          <a:solidFill>
            <a:srgbClr val="E8A33D"/>
          </a:solidFill>
          <a:ln/>
        </p:spPr>
      </p:sp>
      <p:sp>
        <p:nvSpPr>
          <p:cNvPr id="14" name="Text 12"/>
          <p:cNvSpPr/>
          <p:nvPr/>
        </p:nvSpPr>
        <p:spPr>
          <a:xfrm>
            <a:off x="758952" y="1984248"/>
            <a:ext cx="10728655" cy="310896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content pending compliance/policy review; do not present without sign-off. Placeholder categories only (client-identifying information beyond what's needed; MNPI relevant to a pending deal/transaction; anything crossing a defined information barrier; anything that would violate a client confidentiality agreement) must be checked against actual HSBC compliance policy before this slide is finalized. Obtain the current authoritative document from your compliance contact; do not rely on general knowledge here.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10241280" y="5120640"/>
            <a:ext cx="3291840" cy="3291840"/>
          </a:xfrm>
          <a:prstGeom prst="ellipse">
            <a:avLst/>
          </a:prstGeom>
          <a:solidFill>
            <a:srgbClr val="1E2761"/>
          </a:solidFill>
          <a:ln/>
        </p:spPr>
      </p:sp>
      <p:sp>
        <p:nvSpPr>
          <p:cNvPr id="3" name="Text 1"/>
          <p:cNvSpPr/>
          <p:nvPr/>
        </p:nvSpPr>
        <p:spPr>
          <a:xfrm>
            <a:off x="1097280" y="2331720"/>
            <a:ext cx="9997135" cy="15544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Would I say this out loud in a room with people from every desk?</a:t>
            </a:r>
            <a:endParaRPr lang="en-US" sz="3400" dirty="0"/>
          </a:p>
        </p:txBody>
      </p:sp>
      <p:sp>
        <p:nvSpPr>
          <p:cNvPr id="4" name="Text 2"/>
          <p:cNvSpPr/>
          <p:nvPr/>
        </p:nvSpPr>
        <p:spPr>
          <a:xfrm>
            <a:off x="1463040" y="3794760"/>
            <a:ext cx="9265615" cy="731520"/>
          </a:xfrm>
          <a:prstGeom prst="rect">
            <a:avLst/>
          </a:prstGeom>
          <a:noFill/>
          <a:ln/>
        </p:spPr>
        <p:txBody>
          <a:bodyPr wrap="square" lIns="0" tIns="0" rIns="0" bIns="0" rtlCol="0" anchor="t"/>
          <a:lstStyle/>
          <a:p>
            <a:pPr algn="ctr" indent="0" marL="0">
              <a:buNone/>
            </a:pPr>
            <a:r>
              <a:rPr lang="en-US" sz="1500" i="1" dirty="0">
                <a:solidFill>
                  <a:srgbClr val="CADCFC"/>
                </a:solidFill>
                <a:latin typeface="Calibri" pitchFamily="34" charset="0"/>
                <a:ea typeface="Calibri" pitchFamily="34" charset="-122"/>
                <a:cs typeface="Calibri" pitchFamily="34" charset="-120"/>
              </a:rPr>
              <a:t>If not, it doesn't go in a prompt, context, or knowledge base either.</a:t>
            </a:r>
            <a:endParaRPr lang="en-US" sz="150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The Four-Part Trust Habit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Verify · Checklist · Guardrails · Compliance</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392517" y="1709928"/>
            <a:ext cx="777240" cy="777240"/>
          </a:xfrm>
          <a:prstGeom prst="ellipse">
            <a:avLst/>
          </a:prstGeom>
          <a:solidFill>
            <a:srgbClr val="1E2761"/>
          </a:solidFill>
          <a:ln/>
        </p:spPr>
      </p:sp>
      <p:pic>
        <p:nvPicPr>
          <p:cNvPr id="13" name="Image 0" descr="/private/tmp/claude-501/-Users-sai-Work-Office-Teaching/ee8695eb-a8ef-409d-a9ba-c09e44dd9ced/scratchpad/pptx-build/assets/icons/FaSearch.png">    </p:cNvPr>
          <p:cNvPicPr>
            <a:picLocks noChangeAspect="1"/>
          </p:cNvPicPr>
          <p:nvPr/>
        </p:nvPicPr>
        <p:blipFill>
          <a:blip r:embed="rId1"/>
          <a:stretch>
            <a:fillRect/>
          </a:stretch>
        </p:blipFill>
        <p:spPr>
          <a:xfrm>
            <a:off x="1579055" y="1896466"/>
            <a:ext cx="404165" cy="404165"/>
          </a:xfrm>
          <a:prstGeom prst="rect">
            <a:avLst/>
          </a:prstGeom>
        </p:spPr>
      </p:pic>
      <p:sp>
        <p:nvSpPr>
          <p:cNvPr id="14" name="Text 11"/>
          <p:cNvSpPr/>
          <p:nvPr/>
        </p:nvSpPr>
        <p:spPr>
          <a:xfrm>
            <a:off x="502920"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Verify</a:t>
            </a:r>
            <a:endParaRPr lang="en-US" sz="1250" dirty="0"/>
          </a:p>
        </p:txBody>
      </p:sp>
      <p:sp>
        <p:nvSpPr>
          <p:cNvPr id="15" name="Shape 12"/>
          <p:cNvSpPr/>
          <p:nvPr/>
        </p:nvSpPr>
        <p:spPr>
          <a:xfrm>
            <a:off x="4268991" y="1709928"/>
            <a:ext cx="777240" cy="777240"/>
          </a:xfrm>
          <a:prstGeom prst="ellipse">
            <a:avLst/>
          </a:prstGeom>
          <a:solidFill>
            <a:srgbClr val="1E2761"/>
          </a:solidFill>
          <a:ln/>
        </p:spPr>
      </p:sp>
      <p:pic>
        <p:nvPicPr>
          <p:cNvPr id="16" name="Image 1" descr="/private/tmp/claude-501/-Users-sai-Work-Office-Teaching/ee8695eb-a8ef-409d-a9ba-c09e44dd9ced/scratchpad/pptx-build/assets/icons/FaClipboardList.png">    </p:cNvPr>
          <p:cNvPicPr>
            <a:picLocks noChangeAspect="1"/>
          </p:cNvPicPr>
          <p:nvPr/>
        </p:nvPicPr>
        <p:blipFill>
          <a:blip r:embed="rId2"/>
          <a:stretch>
            <a:fillRect/>
          </a:stretch>
        </p:blipFill>
        <p:spPr>
          <a:xfrm>
            <a:off x="4455528" y="1896466"/>
            <a:ext cx="404165" cy="404165"/>
          </a:xfrm>
          <a:prstGeom prst="rect">
            <a:avLst/>
          </a:prstGeom>
        </p:spPr>
      </p:pic>
      <p:sp>
        <p:nvSpPr>
          <p:cNvPr id="17" name="Text 13"/>
          <p:cNvSpPr/>
          <p:nvPr/>
        </p:nvSpPr>
        <p:spPr>
          <a:xfrm>
            <a:off x="3379394"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Checklist</a:t>
            </a:r>
            <a:endParaRPr lang="en-US" sz="1250" dirty="0"/>
          </a:p>
        </p:txBody>
      </p:sp>
      <p:sp>
        <p:nvSpPr>
          <p:cNvPr id="18" name="Shape 14"/>
          <p:cNvSpPr/>
          <p:nvPr/>
        </p:nvSpPr>
        <p:spPr>
          <a:xfrm>
            <a:off x="7145465" y="1709928"/>
            <a:ext cx="777240" cy="777240"/>
          </a:xfrm>
          <a:prstGeom prst="ellipse">
            <a:avLst/>
          </a:prstGeom>
          <a:solidFill>
            <a:srgbClr val="1E2761"/>
          </a:solidFill>
          <a:ln/>
        </p:spPr>
      </p:sp>
      <p:pic>
        <p:nvPicPr>
          <p:cNvPr id="19" name="Image 2" descr="/private/tmp/claude-501/-Users-sai-Work-Office-Teaching/ee8695eb-a8ef-409d-a9ba-c09e44dd9ced/scratchpad/pptx-build/assets/icons/FaShieldAlt.png">    </p:cNvPr>
          <p:cNvPicPr>
            <a:picLocks noChangeAspect="1"/>
          </p:cNvPicPr>
          <p:nvPr/>
        </p:nvPicPr>
        <p:blipFill>
          <a:blip r:embed="rId3"/>
          <a:stretch>
            <a:fillRect/>
          </a:stretch>
        </p:blipFill>
        <p:spPr>
          <a:xfrm>
            <a:off x="7332002" y="1896466"/>
            <a:ext cx="404165" cy="404165"/>
          </a:xfrm>
          <a:prstGeom prst="rect">
            <a:avLst/>
          </a:prstGeom>
        </p:spPr>
      </p:pic>
      <p:sp>
        <p:nvSpPr>
          <p:cNvPr id="20" name="Text 15"/>
          <p:cNvSpPr/>
          <p:nvPr/>
        </p:nvSpPr>
        <p:spPr>
          <a:xfrm>
            <a:off x="6255868"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Guardrails</a:t>
            </a:r>
            <a:endParaRPr lang="en-US" sz="1250" dirty="0"/>
          </a:p>
        </p:txBody>
      </p:sp>
      <p:sp>
        <p:nvSpPr>
          <p:cNvPr id="21" name="Shape 16"/>
          <p:cNvSpPr/>
          <p:nvPr/>
        </p:nvSpPr>
        <p:spPr>
          <a:xfrm>
            <a:off x="10021938" y="1709928"/>
            <a:ext cx="777240" cy="777240"/>
          </a:xfrm>
          <a:prstGeom prst="ellipse">
            <a:avLst/>
          </a:prstGeom>
          <a:solidFill>
            <a:srgbClr val="1E2761"/>
          </a:solidFill>
          <a:ln/>
        </p:spPr>
      </p:sp>
      <p:pic>
        <p:nvPicPr>
          <p:cNvPr id="22" name="Image 3" descr="/private/tmp/claude-501/-Users-sai-Work-Office-Teaching/ee8695eb-a8ef-409d-a9ba-c09e44dd9ced/scratchpad/pptx-build/assets/icons/FaGripLinesVertical.png">    </p:cNvPr>
          <p:cNvPicPr>
            <a:picLocks noChangeAspect="1"/>
          </p:cNvPicPr>
          <p:nvPr/>
        </p:nvPicPr>
        <p:blipFill>
          <a:blip r:embed="rId4"/>
          <a:stretch>
            <a:fillRect/>
          </a:stretch>
        </p:blipFill>
        <p:spPr>
          <a:xfrm>
            <a:off x="10208476" y="1896466"/>
            <a:ext cx="404165" cy="404165"/>
          </a:xfrm>
          <a:prstGeom prst="rect">
            <a:avLst/>
          </a:prstGeom>
        </p:spPr>
      </p:pic>
      <p:sp>
        <p:nvSpPr>
          <p:cNvPr id="23" name="Text 17"/>
          <p:cNvSpPr/>
          <p:nvPr/>
        </p:nvSpPr>
        <p:spPr>
          <a:xfrm>
            <a:off x="9132341"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Compliance</a:t>
            </a:r>
            <a:endParaRPr lang="en-US" sz="1250" dirty="0"/>
          </a:p>
        </p:txBody>
      </p:sp>
      <p:sp>
        <p:nvSpPr>
          <p:cNvPr id="24" name="Shape 18"/>
          <p:cNvSpPr/>
          <p:nvPr/>
        </p:nvSpPr>
        <p:spPr>
          <a:xfrm>
            <a:off x="502920" y="3310128"/>
            <a:ext cx="11185855" cy="2514600"/>
          </a:xfrm>
          <a:prstGeom prst="roundRect">
            <a:avLst>
              <a:gd name="adj" fmla="val 3273"/>
            </a:avLst>
          </a:prstGeom>
          <a:solidFill>
            <a:srgbClr val="F4F6FB"/>
          </a:solidFill>
          <a:ln/>
          <a:effectLst>
            <a:outerShdw sx="100000" sy="100000" kx="0" ky="0" algn="bl" rotWithShape="0" blurRad="76200" dist="25400" dir="5400000">
              <a:srgbClr val="1E2761">
                <a:alpha val="16000"/>
              </a:srgbClr>
            </a:outerShdw>
          </a:effectLst>
        </p:spPr>
      </p:sp>
      <p:sp>
        <p:nvSpPr>
          <p:cNvPr id="25" name="Text 19"/>
          <p:cNvSpPr/>
          <p:nvPr/>
        </p:nvSpPr>
        <p:spPr>
          <a:xfrm>
            <a:off x="914400" y="3310128"/>
            <a:ext cx="10362895" cy="2514600"/>
          </a:xfrm>
          <a:prstGeom prst="rect">
            <a:avLst/>
          </a:prstGeom>
          <a:noFill/>
          <a:ln/>
        </p:spPr>
        <p:txBody>
          <a:bodyPr wrap="square" lIns="0" tIns="0" rIns="0" bIns="0" rtlCol="0" anchor="ctr"/>
          <a:lstStyle/>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Verify before you act: cross-check, sanity-check, spot-check.</a:t>
            </a:r>
            <a:endParaRPr lang="en-US" sz="1600" dirty="0"/>
          </a:p>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Walk the checklist when something's wrong: prompt, context, tool, data.</a:t>
            </a:r>
            <a:endParaRPr lang="en-US" sz="1600" dirty="0"/>
          </a:p>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Ask about guardrails before trusting something sensitive.</a:t>
            </a:r>
            <a:endParaRPr lang="en-US" sz="1600" dirty="0"/>
          </a:p>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Run the desk-floor test before anything goes into a prompt.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Recap + What's Next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One line on today, one line ahead</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392517" y="1709928"/>
            <a:ext cx="777240" cy="777240"/>
          </a:xfrm>
          <a:prstGeom prst="ellipse">
            <a:avLst/>
          </a:prstGeom>
          <a:solidFill>
            <a:srgbClr val="1E2761"/>
          </a:solidFill>
          <a:ln/>
        </p:spPr>
      </p:sp>
      <p:pic>
        <p:nvPicPr>
          <p:cNvPr id="13" name="Image 0" descr="/private/tmp/claude-501/-Users-sai-Work-Office-Teaching/ee8695eb-a8ef-409d-a9ba-c09e44dd9ced/scratchpad/pptx-build/assets/icons/FaShieldAlt.png">    </p:cNvPr>
          <p:cNvPicPr>
            <a:picLocks noChangeAspect="1"/>
          </p:cNvPicPr>
          <p:nvPr/>
        </p:nvPicPr>
        <p:blipFill>
          <a:blip r:embed="rId1"/>
          <a:stretch>
            <a:fillRect/>
          </a:stretch>
        </p:blipFill>
        <p:spPr>
          <a:xfrm>
            <a:off x="1579055" y="1896466"/>
            <a:ext cx="404165" cy="404165"/>
          </a:xfrm>
          <a:prstGeom prst="rect">
            <a:avLst/>
          </a:prstGeom>
        </p:spPr>
      </p:pic>
      <p:sp>
        <p:nvSpPr>
          <p:cNvPr id="14" name="Text 11"/>
          <p:cNvSpPr/>
          <p:nvPr/>
        </p:nvSpPr>
        <p:spPr>
          <a:xfrm>
            <a:off x="502920"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Guardrails</a:t>
            </a:r>
            <a:endParaRPr lang="en-US" sz="1250" dirty="0"/>
          </a:p>
        </p:txBody>
      </p:sp>
      <p:sp>
        <p:nvSpPr>
          <p:cNvPr id="15" name="Shape 12"/>
          <p:cNvSpPr/>
          <p:nvPr/>
        </p:nvSpPr>
        <p:spPr>
          <a:xfrm>
            <a:off x="4268991" y="1709928"/>
            <a:ext cx="777240" cy="777240"/>
          </a:xfrm>
          <a:prstGeom prst="ellipse">
            <a:avLst/>
          </a:prstGeom>
          <a:solidFill>
            <a:srgbClr val="1E2761"/>
          </a:solidFill>
          <a:ln/>
        </p:spPr>
      </p:sp>
      <p:pic>
        <p:nvPicPr>
          <p:cNvPr id="16" name="Image 1" descr="/private/tmp/claude-501/-Users-sai-Work-Office-Teaching/ee8695eb-a8ef-409d-a9ba-c09e44dd9ced/scratchpad/pptx-build/assets/icons/FaCheckCircle.png">    </p:cNvPr>
          <p:cNvPicPr>
            <a:picLocks noChangeAspect="1"/>
          </p:cNvPicPr>
          <p:nvPr/>
        </p:nvPicPr>
        <p:blipFill>
          <a:blip r:embed="rId2"/>
          <a:stretch>
            <a:fillRect/>
          </a:stretch>
        </p:blipFill>
        <p:spPr>
          <a:xfrm>
            <a:off x="4455528" y="1896466"/>
            <a:ext cx="404165" cy="404165"/>
          </a:xfrm>
          <a:prstGeom prst="rect">
            <a:avLst/>
          </a:prstGeom>
        </p:spPr>
      </p:pic>
      <p:sp>
        <p:nvSpPr>
          <p:cNvPr id="17" name="Text 13"/>
          <p:cNvSpPr/>
          <p:nvPr/>
        </p:nvSpPr>
        <p:spPr>
          <a:xfrm>
            <a:off x="3379394"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Safety</a:t>
            </a:r>
            <a:endParaRPr lang="en-US" sz="1250" dirty="0"/>
          </a:p>
        </p:txBody>
      </p:sp>
      <p:sp>
        <p:nvSpPr>
          <p:cNvPr id="18" name="Shape 14"/>
          <p:cNvSpPr/>
          <p:nvPr/>
        </p:nvSpPr>
        <p:spPr>
          <a:xfrm>
            <a:off x="7145465" y="1709928"/>
            <a:ext cx="777240" cy="777240"/>
          </a:xfrm>
          <a:prstGeom prst="ellipse">
            <a:avLst/>
          </a:prstGeom>
          <a:solidFill>
            <a:srgbClr val="1E2761"/>
          </a:solidFill>
          <a:ln/>
        </p:spPr>
      </p:sp>
      <p:pic>
        <p:nvPicPr>
          <p:cNvPr id="19" name="Image 2" descr="/private/tmp/claude-501/-Users-sai-Work-Office-Teaching/ee8695eb-a8ef-409d-a9ba-c09e44dd9ced/scratchpad/pptx-build/assets/icons/FaSearch.png">    </p:cNvPr>
          <p:cNvPicPr>
            <a:picLocks noChangeAspect="1"/>
          </p:cNvPicPr>
          <p:nvPr/>
        </p:nvPicPr>
        <p:blipFill>
          <a:blip r:embed="rId3"/>
          <a:stretch>
            <a:fillRect/>
          </a:stretch>
        </p:blipFill>
        <p:spPr>
          <a:xfrm>
            <a:off x="7332002" y="1896466"/>
            <a:ext cx="404165" cy="404165"/>
          </a:xfrm>
          <a:prstGeom prst="rect">
            <a:avLst/>
          </a:prstGeom>
        </p:spPr>
      </p:pic>
      <p:sp>
        <p:nvSpPr>
          <p:cNvPr id="20" name="Text 15"/>
          <p:cNvSpPr/>
          <p:nvPr/>
        </p:nvSpPr>
        <p:spPr>
          <a:xfrm>
            <a:off x="6255868"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Verification</a:t>
            </a:r>
            <a:endParaRPr lang="en-US" sz="1250" dirty="0"/>
          </a:p>
        </p:txBody>
      </p:sp>
      <p:sp>
        <p:nvSpPr>
          <p:cNvPr id="21" name="Shape 16"/>
          <p:cNvSpPr/>
          <p:nvPr/>
        </p:nvSpPr>
        <p:spPr>
          <a:xfrm>
            <a:off x="10021938" y="1709928"/>
            <a:ext cx="777240" cy="777240"/>
          </a:xfrm>
          <a:prstGeom prst="ellipse">
            <a:avLst/>
          </a:prstGeom>
          <a:solidFill>
            <a:srgbClr val="1E2761"/>
          </a:solidFill>
          <a:ln/>
        </p:spPr>
      </p:sp>
      <p:pic>
        <p:nvPicPr>
          <p:cNvPr id="22" name="Image 3" descr="/private/tmp/claude-501/-Users-sai-Work-Office-Teaching/ee8695eb-a8ef-409d-a9ba-c09e44dd9ced/scratchpad/pptx-build/assets/icons/FaExclamationTriangle.png">    </p:cNvPr>
          <p:cNvPicPr>
            <a:picLocks noChangeAspect="1"/>
          </p:cNvPicPr>
          <p:nvPr/>
        </p:nvPicPr>
        <p:blipFill>
          <a:blip r:embed="rId4"/>
          <a:stretch>
            <a:fillRect/>
          </a:stretch>
        </p:blipFill>
        <p:spPr>
          <a:xfrm>
            <a:off x="10208476" y="1896466"/>
            <a:ext cx="404165" cy="404165"/>
          </a:xfrm>
          <a:prstGeom prst="rect">
            <a:avLst/>
          </a:prstGeom>
        </p:spPr>
      </p:pic>
      <p:sp>
        <p:nvSpPr>
          <p:cNvPr id="23" name="Text 17"/>
          <p:cNvSpPr/>
          <p:nvPr/>
        </p:nvSpPr>
        <p:spPr>
          <a:xfrm>
            <a:off x="9132341"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Compliance</a:t>
            </a:r>
            <a:endParaRPr lang="en-US" sz="1250" dirty="0"/>
          </a:p>
        </p:txBody>
      </p:sp>
      <p:sp>
        <p:nvSpPr>
          <p:cNvPr id="24" name="Shape 18"/>
          <p:cNvSpPr/>
          <p:nvPr/>
        </p:nvSpPr>
        <p:spPr>
          <a:xfrm>
            <a:off x="502920" y="3310128"/>
            <a:ext cx="11185855" cy="2514600"/>
          </a:xfrm>
          <a:prstGeom prst="roundRect">
            <a:avLst>
              <a:gd name="adj" fmla="val 3273"/>
            </a:avLst>
          </a:prstGeom>
          <a:solidFill>
            <a:srgbClr val="F4F6FB"/>
          </a:solidFill>
          <a:ln/>
          <a:effectLst>
            <a:outerShdw sx="100000" sy="100000" kx="0" ky="0" algn="bl" rotWithShape="0" blurRad="76200" dist="25400" dir="5400000">
              <a:srgbClr val="1E2761">
                <a:alpha val="16000"/>
              </a:srgbClr>
            </a:outerShdw>
          </a:effectLst>
        </p:spPr>
      </p:sp>
      <p:sp>
        <p:nvSpPr>
          <p:cNvPr id="25" name="Text 19"/>
          <p:cNvSpPr/>
          <p:nvPr/>
        </p:nvSpPr>
        <p:spPr>
          <a:xfrm>
            <a:off x="914400" y="3310128"/>
            <a:ext cx="10362895" cy="2514600"/>
          </a:xfrm>
          <a:prstGeom prst="rect">
            <a:avLst/>
          </a:prstGeom>
          <a:noFill/>
          <a:ln/>
        </p:spPr>
        <p:txBody>
          <a:bodyPr wrap="square" lIns="0" tIns="0" rIns="0" bIns="0" rtlCol="0" anchor="ctr"/>
          <a:lstStyle/>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Today: guardrails → recognizing safety → verification → troubleshooting → compliance.</a:t>
            </a:r>
            <a:endParaRPr lang="en-US" sz="1600" dirty="0"/>
          </a:p>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Next time: putting it all together; session 5 is fully self-contained.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BUFFER (CUT FIRST IF RUNNING LONG)</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Myths vs. Reality</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A few quick corrections (optional)</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1463040"/>
          </a:xfrm>
          <a:prstGeom prst="roundRect">
            <a:avLst>
              <a:gd name="adj" fmla="val 5625"/>
            </a:avLst>
          </a:prstGeom>
          <a:solidFill>
            <a:srgbClr val="FFF4E0"/>
          </a:solidFill>
          <a:ln/>
        </p:spPr>
      </p:sp>
      <p:sp>
        <p:nvSpPr>
          <p:cNvPr id="13" name="Shape 11"/>
          <p:cNvSpPr/>
          <p:nvPr/>
        </p:nvSpPr>
        <p:spPr>
          <a:xfrm>
            <a:off x="502920" y="1709928"/>
            <a:ext cx="82296" cy="1463040"/>
          </a:xfrm>
          <a:prstGeom prst="roundRect">
            <a:avLst/>
          </a:prstGeom>
          <a:solidFill>
            <a:srgbClr val="E8A33D"/>
          </a:solidFill>
          <a:ln/>
        </p:spPr>
      </p:sp>
      <p:sp>
        <p:nvSpPr>
          <p:cNvPr id="14" name="Text 12"/>
          <p:cNvSpPr/>
          <p:nvPr/>
        </p:nvSpPr>
        <p:spPr>
          <a:xfrm>
            <a:off x="758952" y="1801368"/>
            <a:ext cx="10728655" cy="128016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2-3 myth/reality pairs, e.g. "Myth: AI safety means the AI refuses to help. Reality: it means knowing when and how to trust what it gives you." Only build this out if earlier rehearsals show the session consistently finishing early.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966960" y="-1371600"/>
            <a:ext cx="3840480" cy="3840480"/>
          </a:xfrm>
          <a:prstGeom prst="ellipse">
            <a:avLst/>
          </a:prstGeom>
          <a:solidFill>
            <a:srgbClr val="1E2761"/>
          </a:solidFill>
          <a:ln/>
        </p:spPr>
      </p:sp>
      <p:sp>
        <p:nvSpPr>
          <p:cNvPr id="3" name="Text 1"/>
          <p:cNvSpPr/>
          <p:nvPr/>
        </p:nvSpPr>
        <p:spPr>
          <a:xfrm>
            <a:off x="502920" y="502920"/>
            <a:ext cx="91440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502920" y="841248"/>
            <a:ext cx="11185855" cy="65836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Fix a Bad Output, Live, Using the Checklist</a:t>
            </a:r>
            <a:endParaRPr lang="en-US" sz="2700" dirty="0"/>
          </a:p>
        </p:txBody>
      </p:sp>
      <p:sp>
        <p:nvSpPr>
          <p:cNvPr id="5" name="Text 3"/>
          <p:cNvSpPr/>
          <p:nvPr/>
        </p:nvSpPr>
        <p:spPr>
          <a:xfrm>
            <a:off x="502920" y="1444752"/>
            <a:ext cx="11185855" cy="365760"/>
          </a:xfrm>
          <a:prstGeom prst="rect">
            <a:avLst/>
          </a:prstGeom>
          <a:noFill/>
          <a:ln/>
        </p:spPr>
        <p:txBody>
          <a:bodyPr wrap="square" lIns="0" tIns="0" rIns="0" bIns="0"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~10–15 min · same example as slide 8; do not introduce a new one here</a:t>
            </a:r>
            <a:endParaRPr lang="en-US" sz="1350" dirty="0"/>
          </a:p>
        </p:txBody>
      </p:sp>
      <p:sp>
        <p:nvSpPr>
          <p:cNvPr id="6" name="Shape 4"/>
          <p:cNvSpPr/>
          <p:nvPr/>
        </p:nvSpPr>
        <p:spPr>
          <a:xfrm>
            <a:off x="502920" y="2020824"/>
            <a:ext cx="457200" cy="457200"/>
          </a:xfrm>
          <a:prstGeom prst="ellipse">
            <a:avLst/>
          </a:prstGeom>
          <a:solidFill>
            <a:srgbClr val="E8A33D"/>
          </a:solidFill>
          <a:ln/>
        </p:spPr>
      </p:sp>
      <p:sp>
        <p:nvSpPr>
          <p:cNvPr id="7" name="Text 5"/>
          <p:cNvSpPr/>
          <p:nvPr/>
        </p:nvSpPr>
        <p:spPr>
          <a:xfrm>
            <a:off x="502920" y="202082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161288" y="1965960"/>
            <a:ext cx="10527487" cy="771144"/>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Show the bad output</a:t>
            </a:r>
            <a:endParaRPr lang="en-US" sz="1500" dirty="0"/>
          </a:p>
        </p:txBody>
      </p:sp>
      <p:sp>
        <p:nvSpPr>
          <p:cNvPr id="9" name="Text 7"/>
          <p:cNvSpPr/>
          <p:nvPr/>
        </p:nvSpPr>
        <p:spPr>
          <a:xfrm>
            <a:off x="1161288" y="2667000"/>
            <a:ext cx="10527487" cy="672998"/>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Presented as if freshly received: "here's an output from a minute ago on slide eight."</a:t>
            </a:r>
            <a:endParaRPr lang="en-US" sz="1150" dirty="0"/>
          </a:p>
        </p:txBody>
      </p:sp>
      <p:sp>
        <p:nvSpPr>
          <p:cNvPr id="10" name="Shape 8"/>
          <p:cNvSpPr/>
          <p:nvPr/>
        </p:nvSpPr>
        <p:spPr>
          <a:xfrm>
            <a:off x="502920" y="3422904"/>
            <a:ext cx="457200" cy="457200"/>
          </a:xfrm>
          <a:prstGeom prst="ellipse">
            <a:avLst/>
          </a:prstGeom>
          <a:solidFill>
            <a:srgbClr val="E8A33D"/>
          </a:solidFill>
          <a:ln/>
        </p:spPr>
      </p:sp>
      <p:sp>
        <p:nvSpPr>
          <p:cNvPr id="11" name="Text 9"/>
          <p:cNvSpPr/>
          <p:nvPr/>
        </p:nvSpPr>
        <p:spPr>
          <a:xfrm>
            <a:off x="502920" y="342290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161288" y="3368040"/>
            <a:ext cx="10527487" cy="771144"/>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Walk the checklist live</a:t>
            </a:r>
            <a:endParaRPr lang="en-US" sz="1500" dirty="0"/>
          </a:p>
        </p:txBody>
      </p:sp>
      <p:sp>
        <p:nvSpPr>
          <p:cNvPr id="13" name="Text 11"/>
          <p:cNvSpPr/>
          <p:nvPr/>
        </p:nvSpPr>
        <p:spPr>
          <a:xfrm>
            <a:off x="1161288" y="4069080"/>
            <a:ext cx="10527487" cy="672998"/>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Prompt → context → tool/agent choice → data, checked against the actual AI Studio conversation/setup.</a:t>
            </a:r>
            <a:endParaRPr lang="en-US" sz="1150" dirty="0"/>
          </a:p>
        </p:txBody>
      </p:sp>
      <p:sp>
        <p:nvSpPr>
          <p:cNvPr id="14" name="Shape 12"/>
          <p:cNvSpPr/>
          <p:nvPr/>
        </p:nvSpPr>
        <p:spPr>
          <a:xfrm>
            <a:off x="502920" y="4824984"/>
            <a:ext cx="457200" cy="457200"/>
          </a:xfrm>
          <a:prstGeom prst="ellipse">
            <a:avLst/>
          </a:prstGeom>
          <a:solidFill>
            <a:srgbClr val="E8A33D"/>
          </a:solidFill>
          <a:ln/>
        </p:spPr>
      </p:sp>
      <p:sp>
        <p:nvSpPr>
          <p:cNvPr id="15" name="Text 13"/>
          <p:cNvSpPr/>
          <p:nvPr/>
        </p:nvSpPr>
        <p:spPr>
          <a:xfrm>
            <a:off x="502920" y="482498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161288" y="4770120"/>
            <a:ext cx="10527487" cy="771144"/>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Fix it live and show the corrected output</a:t>
            </a:r>
            <a:endParaRPr lang="en-US" sz="1500" dirty="0"/>
          </a:p>
        </p:txBody>
      </p:sp>
      <p:sp>
        <p:nvSpPr>
          <p:cNvPr id="17" name="Text 15"/>
          <p:cNvSpPr/>
          <p:nvPr/>
        </p:nvSpPr>
        <p:spPr>
          <a:xfrm>
            <a:off x="1161288" y="5471160"/>
            <a:ext cx="10527487" cy="672998"/>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The actual fix applied, matching whichever layer was the cause.</a:t>
            </a:r>
            <a:endParaRPr lang="en-US" sz="1150" dirty="0"/>
          </a:p>
        </p:txBody>
      </p:sp>
      <p:sp>
        <p:nvSpPr>
          <p:cNvPr id="18" name="Text 16"/>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Can I Trust This?</a:t>
            </a:r>
            <a:endParaRPr lang="en-US" sz="900" dirty="0"/>
          </a:p>
        </p:txBody>
      </p:sp>
      <p:sp>
        <p:nvSpPr>
          <p:cNvPr id="19"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15</a:t>
            </a:r>
            <a:endParaRPr lang="en-US" sz="900" dirty="0"/>
          </a:p>
        </p:txBody>
      </p:sp>
      <p:sp>
        <p:nvSpPr>
          <p:cNvPr id="20" name="Shape 18"/>
          <p:cNvSpPr/>
          <p:nvPr/>
        </p:nvSpPr>
        <p:spPr>
          <a:xfrm>
            <a:off x="11400739" y="201168"/>
            <a:ext cx="192024" cy="192024"/>
          </a:xfrm>
          <a:prstGeom prst="rect">
            <a:avLst/>
          </a:prstGeom>
          <a:solidFill>
            <a:srgbClr val="FFFFFF"/>
          </a:solidFill>
          <a:ln/>
        </p:spPr>
      </p:sp>
      <p:sp>
        <p:nvSpPr>
          <p:cNvPr id="21" name="Shape 19"/>
          <p:cNvSpPr/>
          <p:nvPr/>
        </p:nvSpPr>
        <p:spPr>
          <a:xfrm rot="5400000">
            <a:off x="11544757" y="249174"/>
            <a:ext cx="192024" cy="96012"/>
          </a:xfrm>
          <a:prstGeom prst="triangle">
            <a:avLst/>
          </a:prstGeom>
          <a:solidFill>
            <a:srgbClr val="E52713"/>
          </a:solidFill>
          <a:ln/>
        </p:spPr>
      </p:sp>
      <p:sp>
        <p:nvSpPr>
          <p:cNvPr id="22" name="Shape 20"/>
          <p:cNvSpPr/>
          <p:nvPr/>
        </p:nvSpPr>
        <p:spPr>
          <a:xfrm rot="16200000">
            <a:off x="11256721" y="249174"/>
            <a:ext cx="192024" cy="96012"/>
          </a:xfrm>
          <a:prstGeom prst="triangle">
            <a:avLst/>
          </a:prstGeom>
          <a:solidFill>
            <a:srgbClr val="E52713"/>
          </a:solidFill>
          <a:ln/>
        </p:spPr>
      </p:sp>
      <p:sp>
        <p:nvSpPr>
          <p:cNvPr id="23" name="Shape 21"/>
          <p:cNvSpPr/>
          <p:nvPr/>
        </p:nvSpPr>
        <p:spPr>
          <a:xfrm rot="10800000">
            <a:off x="11400739" y="201168"/>
            <a:ext cx="192024" cy="96012"/>
          </a:xfrm>
          <a:prstGeom prst="triangle">
            <a:avLst/>
          </a:prstGeom>
          <a:solidFill>
            <a:srgbClr val="E52713"/>
          </a:solidFill>
          <a:ln/>
        </p:spPr>
      </p:sp>
      <p:sp>
        <p:nvSpPr>
          <p:cNvPr id="24" name="Shape 22"/>
          <p:cNvSpPr/>
          <p:nvPr/>
        </p:nvSpPr>
        <p:spPr>
          <a:xfrm>
            <a:off x="11400739" y="297180"/>
            <a:ext cx="192024" cy="96012"/>
          </a:xfrm>
          <a:prstGeom prst="triangle">
            <a:avLst/>
          </a:prstGeom>
          <a:solidFill>
            <a:srgbClr val="E52713"/>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1645920" y="-1645920"/>
            <a:ext cx="3840480" cy="3840480"/>
          </a:xfrm>
          <a:prstGeom prst="ellipse">
            <a:avLst/>
          </a:prstGeom>
          <a:solidFill>
            <a:srgbClr val="1E2761"/>
          </a:solidFill>
          <a:ln/>
        </p:spPr>
      </p:sp>
      <p:sp>
        <p:nvSpPr>
          <p:cNvPr id="3" name="Text 1"/>
          <p:cNvSpPr/>
          <p:nvPr/>
        </p:nvSpPr>
        <p:spPr>
          <a:xfrm>
            <a:off x="914400" y="2514600"/>
            <a:ext cx="1033272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APPENDIX</a:t>
            </a:r>
            <a:endParaRPr lang="en-US" sz="1300" dirty="0"/>
          </a:p>
        </p:txBody>
      </p:sp>
      <p:sp>
        <p:nvSpPr>
          <p:cNvPr id="4" name="Text 2"/>
          <p:cNvSpPr/>
          <p:nvPr/>
        </p:nvSpPr>
        <p:spPr>
          <a:xfrm>
            <a:off x="914400" y="2880360"/>
            <a:ext cx="1033272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Anticipated Q&amp;A</a:t>
            </a:r>
            <a:endParaRPr lang="en-US" sz="3400" dirty="0"/>
          </a:p>
        </p:txBody>
      </p:sp>
      <p:sp>
        <p:nvSpPr>
          <p:cNvPr id="5" name="Text 3"/>
          <p:cNvSpPr/>
          <p:nvPr/>
        </p:nvSpPr>
        <p:spPr>
          <a:xfrm>
            <a:off x="914400" y="3794760"/>
            <a:ext cx="1033272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Likely questions with model answers, for reference during live Q&amp;A</a:t>
            </a:r>
            <a:endParaRPr lang="en-US" sz="1500" dirty="0"/>
          </a:p>
        </p:txBody>
      </p:sp>
      <p:sp>
        <p:nvSpPr>
          <p:cNvPr id="6" name="Text 4"/>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Can I Trust This?</a:t>
            </a:r>
            <a:endParaRPr lang="en-US" sz="900" dirty="0"/>
          </a:p>
        </p:txBody>
      </p:sp>
      <p:sp>
        <p:nvSpPr>
          <p:cNvPr id="7" name="Text 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16</a:t>
            </a:r>
            <a:endParaRPr lang="en-US" sz="900" dirty="0"/>
          </a:p>
        </p:txBody>
      </p:sp>
      <p:sp>
        <p:nvSpPr>
          <p:cNvPr id="8" name="Shape 6"/>
          <p:cNvSpPr/>
          <p:nvPr/>
        </p:nvSpPr>
        <p:spPr>
          <a:xfrm>
            <a:off x="11400739" y="201168"/>
            <a:ext cx="192024" cy="192024"/>
          </a:xfrm>
          <a:prstGeom prst="rect">
            <a:avLst/>
          </a:prstGeom>
          <a:solidFill>
            <a:srgbClr val="FFFFFF"/>
          </a:solidFill>
          <a:ln/>
        </p:spPr>
      </p:sp>
      <p:sp>
        <p:nvSpPr>
          <p:cNvPr id="9" name="Shape 7"/>
          <p:cNvSpPr/>
          <p:nvPr/>
        </p:nvSpPr>
        <p:spPr>
          <a:xfrm rot="5400000">
            <a:off x="11544757" y="249174"/>
            <a:ext cx="192024" cy="96012"/>
          </a:xfrm>
          <a:prstGeom prst="triangle">
            <a:avLst/>
          </a:prstGeom>
          <a:solidFill>
            <a:srgbClr val="E52713"/>
          </a:solidFill>
          <a:ln/>
        </p:spPr>
      </p:sp>
      <p:sp>
        <p:nvSpPr>
          <p:cNvPr id="10" name="Shape 8"/>
          <p:cNvSpPr/>
          <p:nvPr/>
        </p:nvSpPr>
        <p:spPr>
          <a:xfrm rot="16200000">
            <a:off x="11256721" y="249174"/>
            <a:ext cx="192024" cy="96012"/>
          </a:xfrm>
          <a:prstGeom prst="triangle">
            <a:avLst/>
          </a:prstGeom>
          <a:solidFill>
            <a:srgbClr val="E52713"/>
          </a:solidFill>
          <a:ln/>
        </p:spPr>
      </p:sp>
      <p:sp>
        <p:nvSpPr>
          <p:cNvPr id="11" name="Shape 9"/>
          <p:cNvSpPr/>
          <p:nvPr/>
        </p:nvSpPr>
        <p:spPr>
          <a:xfrm rot="10800000">
            <a:off x="11400739" y="201168"/>
            <a:ext cx="192024" cy="96012"/>
          </a:xfrm>
          <a:prstGeom prst="triangle">
            <a:avLst/>
          </a:prstGeom>
          <a:solidFill>
            <a:srgbClr val="E52713"/>
          </a:solidFill>
          <a:ln/>
        </p:spPr>
      </p:sp>
      <p:sp>
        <p:nvSpPr>
          <p:cNvPr id="12" name="Shape 10"/>
          <p:cNvSpPr/>
          <p:nvPr/>
        </p:nvSpPr>
        <p:spPr>
          <a:xfrm>
            <a:off x="11400739" y="297180"/>
            <a:ext cx="192024" cy="96012"/>
          </a:xfrm>
          <a:prstGeom prst="triangle">
            <a:avLst/>
          </a:prstGeom>
          <a:solidFill>
            <a:srgbClr val="E52713"/>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Q1</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If I can't build guardrails myself, what can I actually do?</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Ask the questions in S1/S2 before relying on an agent for anything sensitive; escalate to whoever owns/built the agent if the answers aren't satisfying.</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People want a concrete action, not just awareness.</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Offer to be (or name) a point of contact for 'who do I ask' if the room doesn't already have one clearly identified.</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Q2</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How do I know if a number is a hallucination or just correct-but-surprising?</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Often you can't tell from the number alone; that's exactly why the verification habit (S3) exists: cross-check the source, sanity-check magnitude, spot-check when material.</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This is the genuinely hard part of the whole session, and people know it.</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If you can't verify it and it's material, that's itself useful information; treat it as unconfirmed rather than acting on it either way.</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Q3</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Where's the line between 'context I should provide' and 'context I shouldn't'?</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The S5 gut-check: would you say it out loud to a mixed-desk audience? If context crosses an information barrier or touches MNPI, it doesn't go in, regardless of what the platform would technically allow.</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Genuinely ambiguous in practice, and people want a fast heuristic, not a policy document, in the moment.</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Point to slide 10's compliance-approved specifics for the authoritative version; the gut-check is a fast first pass, not a replacement for the real policy.</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Q4</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Whose job is it to catch this stuff: mine, or the platform's?</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Both, but they cover different things: platform guardrails (S1) catch what the system is built to prevent; individual judgment (S5) covers everything a control can't anticipate.</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A natural 'shouldn't the tool just handle this' instinct.</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Draw the parallel to email/chat again: nobody expects the email client to catch every confidentiality mistake either; the tool and the person share responsibility.</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Can I Trust This?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2026-08-10T02:57:53Z</dcterms:created>
  <dcterms:modified xsi:type="dcterms:W3CDTF">2026-08-10T02:57:53Z</dcterms:modified>
</cp:coreProperties>
</file>