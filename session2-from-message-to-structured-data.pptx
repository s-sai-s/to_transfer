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underlying question, asked two different ways, into the same tool. On the left, a vague ask, and what came back: technically an answer, but not very useful. On the right, a more deliberate version of the exact same question, and a genuinely usable result. Nothing about the underlying AI changed between these two. What changed is entirely in how it was asked. That's what this whole session is about: the difference between using AI Studio and using it well.
PREP (HIGHEST PRIORITY IN THIS SESSION): the whole session's opening credibility rests on this pair being real and convincing. Test both prompts yourself and capture actual outputs, don't paraphrase from memory. This pair is reused on slide 7 and in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people think 'prompting' is the whole game. It's actually three separate levers, and knowing they're separate is the single most useful idea in this session. Innermost: the prompt, literally the words of your ask. Around that: the context, everything else the model can see, documents, conversation history, background facts. And outermost: the harness, which tools and agents are even available to be used for this query at all. A bad answer can come from any one of these three failing, not just bad wording. Keep this diagram in your head; we'll come back to it explicitly in session four when we talk about fixing bad outputs.
Prep: rehearse this slide specifically; it's the conceptual spine of the entire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Zooming into just the prompt layer for a moment. Three basics. Be explicit about instructions: don't make the model guess what you want. Give examples if the pattern you want isn't obvious from words alone. And specify format up front, rather than asking for something and then asking again for it 'as a table'; you can just ask for the table the first time.
Resource: Anthropic's public prompt-engineering guide is a strong, citable reference for further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is everything surrounding your prompt that the model can actually see: attached documents, the conversation so far, facts you've stated earlier. The instinct is often 'just give it everything, more information can't hurt,' but that's not quite right. Too much irrelevant material in the context dilutes what the model pays attention to, the same way handing someone a hundred-page binder when they needed one paragraph slows them down rather than helping. We'll go deeper on structured knowledge retrieval (RAG) in session three; for now, the habit to build is: include what's relevant, leave out what isn't.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Outermost layer: harness. In AI Studio terms, this is simply which agent or agents, which tools, you selected before you even typed your question. If you picked a tool that can't access market data, no amount of clever prompting will get you market data back: that's a harness problem, not a prompt problem. For anyone who wasn't in session one: an agent is just a model that can reason about what it needs and go get it; you don't need more than that to follow today.
Prep: have a concrete, real example ready of a harness mismatch (wrong tool selected → task literally can't complete); this layer is intuited least, so a real example lands better than the abstract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go back to the good prompt from the start of this session and actually take it apart. [walk each highlighted phrase] Here: that's specifying a role. Here: that's the concrete task, not a vague verb. Here: that's the format request. And here: that's a constraint, telling it what to exclude. None of this is magic. It's just deliberately hitting four specific things every time, which is exactly what the next slide turns into a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reusable version of what we just walked through: a four-item checklist. Role, Task, Format, Constraints. You won't need all four every time, but running through them mentally before you hit enter on anything non-trivial will noticeably improve your results. I'd genuinely suggest screenshotting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mechanism behind something you've probably already noticed: ask AI Studio for something, then ask a follow-up, and it doesn't forget what you first asked. Each turn adds to what the model can see; it's not starting fresh each time. That's genuinely useful: it means you can treat your first prompt as a rough draft and refine over a few turns, rather than trying to write the perfect prompt on the first 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that looks like in practice. First ask, a broad dashboard. Follow-up one: 'break this down by trader,' same conversation, no restart, and it updates rather than starting over. Follow-up two: 'now just show me last week,' again, building on what's already there. Three turns, and I've gone from a broad first answer to something genuinely precise, without ever having to write one giant, perfect prompt up front.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Sometimes you don't want prose: you want something you, or a downstream system, can actually use directly. That doesn't happen by accident; you have to ask for it explicitly. Tell it the exact fields you want, and if the shape is at all non-obvious, show it one example of what 'done'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pattern behind turning something like a trader's message into usable, structured data. On the left, something informal and human-written. On the right, the same information, extracted into exactly the fields we asked for. The prompt in between is doing the real work; being explicit about the schema is what makes this reliable rather than a lucky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use of AI worth naming explicitly for a room like this one, where business and quant sit together: it's a genuinely good translator between how a business ask gets phrased and how a quant dev would formalize the same idea, and it works in both directions. Scoping a new request, or explaining a technical result up the chain, both get faster when you use it this way.
Prep: needs a real, checked paired example, ideally sourced from an actual recurring translation gap on your own desk, since that will land as more credible than a generic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confirm the vague prompt reliably produces a genuinely weak result; test more than once given model variability.
Step 2: same prompt as slides 2/7; this demo step should literally be that example, live, not a new one.
Step 3: test this specific follow-up phrasing beforehand.
Step 4: confirm this produces a genuinely clean structured result; have a backup phrasing ready if the model's output is messy.
Rehearse the full demo end to end at least once, including the structured-output step, before delivering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three levers you control, a checklist for the prompt layer specifically, how follow-ups let you refine instead of restart, how to get structured rather than prose output, and how to use AI as a translator between business and quant framing. Next session picks up exactly where the 'sometimes prompting alone isn't enough' feeling leaves off, and again, it stands completely on its own if you weren't here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5"/>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1E2761"/>
          </a:solidFill>
          <a:ln/>
        </p:spPr>
      </p:sp>
      <p:sp>
        <p:nvSpPr>
          <p:cNvPr id="3" name="Shape 1"/>
          <p:cNvSpPr/>
          <p:nvPr/>
        </p:nvSpPr>
        <p:spPr>
          <a:xfrm>
            <a:off x="-1463040" y="4663440"/>
            <a:ext cx="3291840" cy="3291840"/>
          </a:xfrm>
          <a:prstGeom prst="ellipse">
            <a:avLst/>
          </a:prstGeom>
          <a:solidFill>
            <a:srgbClr val="1E2761"/>
          </a:solidFill>
          <a:ln/>
        </p:spPr>
      </p:sp>
      <p:sp>
        <p:nvSpPr>
          <p:cNvPr id="4" name="Text 2"/>
          <p:cNvSpPr/>
          <p:nvPr/>
        </p:nvSpPr>
        <p:spPr>
          <a:xfrm>
            <a:off x="502920" y="566928"/>
            <a:ext cx="7315200" cy="365760"/>
          </a:xfrm>
          <a:prstGeom prst="rect">
            <a:avLst/>
          </a:prstGeom>
          <a:noFill/>
          <a:ln/>
        </p:spPr>
        <p:txBody>
          <a:bodyPr wrap="square" lIns="0" tIns="0" rIns="0" bIns="0" rtlCol="0" anchor="ctr"/>
          <a:lstStyle/>
          <a:p>
            <a:pPr indent="0" marL="0">
              <a:buNone/>
            </a:pPr>
            <a:r>
              <a:rPr lang="en-US" sz="1300" b="1" spc="200" kern="0" dirty="0">
                <a:solidFill>
                  <a:srgbClr val="E8A33D"/>
                </a:solidFill>
                <a:latin typeface="Calibri" pitchFamily="34" charset="0"/>
                <a:ea typeface="Calibri" pitchFamily="34" charset="-122"/>
                <a:cs typeface="Calibri" pitchFamily="34" charset="-120"/>
              </a:rPr>
              <a:t>USE-CASE-DRIVEN SERIES</a:t>
            </a:r>
            <a:endParaRPr lang="en-US" sz="1300" dirty="0"/>
          </a:p>
        </p:txBody>
      </p:sp>
      <p:sp>
        <p:nvSpPr>
          <p:cNvPr id="5" name="Shape 3"/>
          <p:cNvSpPr/>
          <p:nvPr/>
        </p:nvSpPr>
        <p:spPr>
          <a:xfrm>
            <a:off x="822960" y="1965960"/>
            <a:ext cx="1051560" cy="1051560"/>
          </a:xfrm>
          <a:prstGeom prst="ellipse">
            <a:avLst/>
          </a:prstGeom>
          <a:solidFill>
            <a:srgbClr val="E8A33D"/>
          </a:solidFill>
          <a:ln/>
        </p:spPr>
      </p:sp>
      <p:sp>
        <p:nvSpPr>
          <p:cNvPr id="6" name="Text 4"/>
          <p:cNvSpPr/>
          <p:nvPr/>
        </p:nvSpPr>
        <p:spPr>
          <a:xfrm>
            <a:off x="822960" y="1965960"/>
            <a:ext cx="1051560" cy="1051560"/>
          </a:xfrm>
          <a:prstGeom prst="rect">
            <a:avLst/>
          </a:prstGeom>
          <a:noFill/>
          <a:ln/>
        </p:spPr>
        <p:txBody>
          <a:bodyPr wrap="square" lIns="0" tIns="0" rIns="0" bIns="0" rtlCol="0" anchor="ctr"/>
          <a:lstStyle/>
          <a:p>
            <a:pPr algn="ctr" indent="0" marL="0">
              <a:buNone/>
            </a:pPr>
            <a:r>
              <a:rPr lang="en-US" sz="3400" b="1" dirty="0">
                <a:solidFill>
                  <a:srgbClr val="141B45"/>
                </a:solidFill>
                <a:latin typeface="Cambria" pitchFamily="34" charset="0"/>
                <a:ea typeface="Cambria" pitchFamily="34" charset="-122"/>
                <a:cs typeface="Cambria" pitchFamily="34" charset="-120"/>
              </a:rPr>
              <a:t>2</a:t>
            </a:r>
            <a:endParaRPr lang="en-US" sz="3400" dirty="0"/>
          </a:p>
        </p:txBody>
      </p:sp>
      <p:sp>
        <p:nvSpPr>
          <p:cNvPr id="7" name="Text 5"/>
          <p:cNvSpPr/>
          <p:nvPr/>
        </p:nvSpPr>
        <p:spPr>
          <a:xfrm>
            <a:off x="2148840" y="1783080"/>
            <a:ext cx="9509760" cy="1737360"/>
          </a:xfrm>
          <a:prstGeom prst="rect">
            <a:avLst/>
          </a:prstGeom>
          <a:noFill/>
          <a:ln/>
        </p:spPr>
        <p:txBody>
          <a:bodyPr wrap="square" lIns="0" tIns="0" rIns="0" bIns="0" rtlCol="0" anchor="t"/>
          <a:lstStyle/>
          <a:p>
            <a:pPr algn="l" indent="0" marL="0">
              <a:lnSpc>
                <a:spcPct val="102000"/>
              </a:lnSpc>
              <a:buNone/>
            </a:pPr>
            <a:r>
              <a:rPr lang="en-US" sz="4000" b="1" dirty="0">
                <a:solidFill>
                  <a:srgbClr val="FFFFFF"/>
                </a:solidFill>
                <a:latin typeface="Cambria" pitchFamily="34" charset="0"/>
                <a:ea typeface="Cambria" pitchFamily="34" charset="-122"/>
                <a:cs typeface="Cambria" pitchFamily="34" charset="-120"/>
              </a:rPr>
              <a:t>From Message to Structured Data</a:t>
            </a:r>
            <a:endParaRPr lang="en-US" sz="4000" dirty="0"/>
          </a:p>
        </p:txBody>
      </p:sp>
      <p:sp>
        <p:nvSpPr>
          <p:cNvPr id="8" name="Text 6"/>
          <p:cNvSpPr/>
          <p:nvPr/>
        </p:nvSpPr>
        <p:spPr>
          <a:xfrm>
            <a:off x="2148840" y="1371600"/>
            <a:ext cx="9509760" cy="365760"/>
          </a:xfrm>
          <a:prstGeom prst="rect">
            <a:avLst/>
          </a:prstGeom>
          <a:noFill/>
          <a:ln/>
        </p:spPr>
        <p:txBody>
          <a:bodyPr wrap="square" lIns="0" tIns="0" rIns="0" bIns="0" rtlCol="0" anchor="ctr"/>
          <a:lstStyle/>
          <a:p>
            <a:pPr indent="0" marL="0">
              <a:buNone/>
            </a:pPr>
            <a:r>
              <a:rPr lang="en-US" sz="1400" b="1" dirty="0">
                <a:solidFill>
                  <a:srgbClr val="E8A33D"/>
                </a:solidFill>
                <a:latin typeface="Calibri" pitchFamily="34" charset="0"/>
                <a:ea typeface="Calibri" pitchFamily="34" charset="-122"/>
                <a:cs typeface="Calibri" pitchFamily="34" charset="-120"/>
              </a:rPr>
              <a:t>Interaction &amp; Control (part 1)</a:t>
            </a:r>
            <a:endParaRPr lang="en-US" sz="1400" dirty="0"/>
          </a:p>
        </p:txBody>
      </p:sp>
      <p:sp>
        <p:nvSpPr>
          <p:cNvPr id="9" name="Text 7"/>
          <p:cNvSpPr/>
          <p:nvPr/>
        </p:nvSpPr>
        <p:spPr>
          <a:xfrm>
            <a:off x="2148840" y="3246120"/>
            <a:ext cx="8961120" cy="822960"/>
          </a:xfrm>
          <a:prstGeom prst="rect">
            <a:avLst/>
          </a:prstGeom>
          <a:noFill/>
          <a:ln/>
        </p:spPr>
        <p:txBody>
          <a:bodyPr wrap="square" lIns="0" tIns="0" rIns="0" bIns="0" rtlCol="0" anchor="ctr"/>
          <a:lstStyle/>
          <a:p>
            <a:pPr algn="l" indent="0" marL="0">
              <a:buNone/>
            </a:pPr>
            <a:r>
              <a:rPr lang="en-US" sz="1700" i="1" dirty="0">
                <a:solidFill>
                  <a:srgbClr val="CADCFC"/>
                </a:solidFill>
                <a:latin typeface="Calibri" pitchFamily="34" charset="0"/>
                <a:ea typeface="Calibri" pitchFamily="34" charset="-122"/>
                <a:cs typeface="Calibri" pitchFamily="34" charset="-120"/>
              </a:rPr>
              <a:t>Getting AI Studio to do something specific and reliable (I1–I5): prompt/context/harness, effective prompting, multi-turn, structured output, bridging business &amp; quant.</a:t>
            </a:r>
            <a:endParaRPr lang="en-US" sz="1700" dirty="0"/>
          </a:p>
        </p:txBody>
      </p:sp>
      <p:sp>
        <p:nvSpPr>
          <p:cNvPr id="10" name="Text 8"/>
          <p:cNvSpPr/>
          <p:nvPr/>
        </p:nvSpPr>
        <p:spPr>
          <a:xfrm>
            <a:off x="502920" y="6355080"/>
            <a:ext cx="7315200" cy="274320"/>
          </a:xfrm>
          <a:prstGeom prst="rect">
            <a:avLst/>
          </a:prstGeom>
          <a:noFill/>
          <a:ln/>
        </p:spPr>
        <p:txBody>
          <a:bodyPr wrap="square" lIns="0" tIns="0" rIns="0" bIns="0" rtlCol="0" anchor="ctr"/>
          <a:lstStyle/>
          <a:p>
            <a:pPr indent="0" marL="0">
              <a:buNone/>
            </a:pPr>
            <a:r>
              <a:rPr lang="en-US" sz="1000" dirty="0">
                <a:solidFill>
                  <a:srgbClr val="8895BC"/>
                </a:solidFill>
                <a:latin typeface="Calibri" pitchFamily="34" charset="0"/>
                <a:ea typeface="Calibri" pitchFamily="34" charset="-122"/>
                <a:cs typeface="Calibri" pitchFamily="34" charset="-120"/>
              </a:rPr>
              <a:t>HSBC Global Markets · L&amp;D Series</a:t>
            </a:r>
            <a:endParaRPr lang="en-US" sz="1000" dirty="0"/>
          </a:p>
        </p:txBody>
      </p:sp>
      <p:sp>
        <p:nvSpPr>
          <p:cNvPr id="11" name="Shape 9"/>
          <p:cNvSpPr/>
          <p:nvPr/>
        </p:nvSpPr>
        <p:spPr>
          <a:xfrm>
            <a:off x="11400739" y="201168"/>
            <a:ext cx="192024" cy="192024"/>
          </a:xfrm>
          <a:prstGeom prst="rect">
            <a:avLst/>
          </a:prstGeom>
          <a:solidFill>
            <a:srgbClr val="FFFFFF"/>
          </a:solidFill>
          <a:ln/>
        </p:spPr>
      </p:sp>
      <p:sp>
        <p:nvSpPr>
          <p:cNvPr id="12" name="Shape 10"/>
          <p:cNvSpPr/>
          <p:nvPr/>
        </p:nvSpPr>
        <p:spPr>
          <a:xfrm rot="5400000">
            <a:off x="11544757" y="249174"/>
            <a:ext cx="192024" cy="96012"/>
          </a:xfrm>
          <a:prstGeom prst="triangle">
            <a:avLst/>
          </a:prstGeom>
          <a:solidFill>
            <a:srgbClr val="E52713"/>
          </a:solidFill>
          <a:ln/>
        </p:spPr>
      </p:sp>
      <p:sp>
        <p:nvSpPr>
          <p:cNvPr id="13" name="Shape 11"/>
          <p:cNvSpPr/>
          <p:nvPr/>
        </p:nvSpPr>
        <p:spPr>
          <a:xfrm rot="16200000">
            <a:off x="11256721" y="249174"/>
            <a:ext cx="192024" cy="96012"/>
          </a:xfrm>
          <a:prstGeom prst="triangle">
            <a:avLst/>
          </a:prstGeom>
          <a:solidFill>
            <a:srgbClr val="E52713"/>
          </a:solidFill>
          <a:ln/>
        </p:spPr>
      </p:sp>
      <p:sp>
        <p:nvSpPr>
          <p:cNvPr id="14" name="Shape 12"/>
          <p:cNvSpPr/>
          <p:nvPr/>
        </p:nvSpPr>
        <p:spPr>
          <a:xfrm rot="10800000">
            <a:off x="11400739" y="201168"/>
            <a:ext cx="192024" cy="96012"/>
          </a:xfrm>
          <a:prstGeom prst="triangle">
            <a:avLst/>
          </a:prstGeom>
          <a:solidFill>
            <a:srgbClr val="E52713"/>
          </a:solidFill>
          <a:ln/>
        </p:spPr>
      </p:sp>
      <p:sp>
        <p:nvSpPr>
          <p:cNvPr id="15" name="Shape 13"/>
          <p:cNvSpPr/>
          <p:nvPr/>
        </p:nvSpPr>
        <p:spPr>
          <a:xfrm>
            <a:off x="11400739" y="297180"/>
            <a:ext cx="192024" cy="96012"/>
          </a:xfrm>
          <a:prstGeom prst="triangle">
            <a:avLst/>
          </a:prstGeom>
          <a:solidFill>
            <a:srgbClr val="E52713"/>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Same Question, Two Very Different Answers</a:t>
            </a:r>
            <a:endParaRPr lang="en-US" sz="2900" dirty="0"/>
          </a:p>
        </p:txBody>
      </p:sp>
      <p:sp>
        <p:nvSpPr>
          <p:cNvPr id="3" name="Text 1"/>
          <p:cNvSpPr/>
          <p:nvPr/>
        </p:nvSpPr>
        <p:spPr>
          <a:xfrm>
            <a:off x="502920" y="1097280"/>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A bad prompt vs. a good prompt, side by side</a:t>
            </a:r>
            <a:endParaRPr lang="en-US" sz="1450" dirty="0"/>
          </a:p>
        </p:txBody>
      </p:sp>
      <p:sp>
        <p:nvSpPr>
          <p:cNvPr id="4" name="Text 2"/>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From Message to Structured Data</a:t>
            </a:r>
            <a:endParaRPr lang="en-US" sz="900" dirty="0"/>
          </a:p>
        </p:txBody>
      </p:sp>
      <p:sp>
        <p:nvSpPr>
          <p:cNvPr id="5" name="Text 3"/>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11400739" y="201168"/>
            <a:ext cx="192024" cy="192024"/>
          </a:xfrm>
          <a:prstGeom prst="rect">
            <a:avLst/>
          </a:prstGeom>
          <a:solidFill>
            <a:srgbClr val="FFFFFF"/>
          </a:solidFill>
          <a:ln/>
        </p:spPr>
      </p:sp>
      <p:sp>
        <p:nvSpPr>
          <p:cNvPr id="7" name="Shape 5"/>
          <p:cNvSpPr/>
          <p:nvPr/>
        </p:nvSpPr>
        <p:spPr>
          <a:xfrm rot="5400000">
            <a:off x="11544757" y="249174"/>
            <a:ext cx="192024" cy="96012"/>
          </a:xfrm>
          <a:prstGeom prst="triangle">
            <a:avLst/>
          </a:prstGeom>
          <a:solidFill>
            <a:srgbClr val="E52713"/>
          </a:solidFill>
          <a:ln/>
        </p:spPr>
      </p:sp>
      <p:sp>
        <p:nvSpPr>
          <p:cNvPr id="8" name="Shape 6"/>
          <p:cNvSpPr/>
          <p:nvPr/>
        </p:nvSpPr>
        <p:spPr>
          <a:xfrm rot="16200000">
            <a:off x="11256721" y="249174"/>
            <a:ext cx="192024" cy="96012"/>
          </a:xfrm>
          <a:prstGeom prst="triangle">
            <a:avLst/>
          </a:prstGeom>
          <a:solidFill>
            <a:srgbClr val="E52713"/>
          </a:solidFill>
          <a:ln/>
        </p:spPr>
      </p:sp>
      <p:sp>
        <p:nvSpPr>
          <p:cNvPr id="9" name="Shape 7"/>
          <p:cNvSpPr/>
          <p:nvPr/>
        </p:nvSpPr>
        <p:spPr>
          <a:xfrm rot="10800000">
            <a:off x="11400739" y="201168"/>
            <a:ext cx="192024" cy="96012"/>
          </a:xfrm>
          <a:prstGeom prst="triangle">
            <a:avLst/>
          </a:prstGeom>
          <a:solidFill>
            <a:srgbClr val="E52713"/>
          </a:solidFill>
          <a:ln/>
        </p:spPr>
      </p:sp>
      <p:sp>
        <p:nvSpPr>
          <p:cNvPr id="10" name="Shape 8"/>
          <p:cNvSpPr/>
          <p:nvPr/>
        </p:nvSpPr>
        <p:spPr>
          <a:xfrm>
            <a:off x="11400739" y="297180"/>
            <a:ext cx="192024" cy="96012"/>
          </a:xfrm>
          <a:prstGeom prst="triangle">
            <a:avLst/>
          </a:prstGeom>
          <a:solidFill>
            <a:srgbClr val="E52713"/>
          </a:solidFill>
          <a:ln/>
        </p:spPr>
      </p:sp>
      <p:sp>
        <p:nvSpPr>
          <p:cNvPr id="11" name="Shape 9"/>
          <p:cNvSpPr/>
          <p:nvPr/>
        </p:nvSpPr>
        <p:spPr>
          <a:xfrm>
            <a:off x="502920" y="1709928"/>
            <a:ext cx="5364328" cy="4114800"/>
          </a:xfrm>
          <a:prstGeom prst="roundRect">
            <a:avLst>
              <a:gd name="adj" fmla="val 2000"/>
            </a:avLst>
          </a:prstGeom>
          <a:solidFill>
            <a:srgbClr val="F4F6FB"/>
          </a:solidFill>
          <a:ln/>
          <a:effectLst>
            <a:outerShdw sx="100000" sy="100000" kx="0" ky="0" algn="bl" rotWithShape="0" blurRad="76200" dist="25400" dir="5400000">
              <a:srgbClr val="1E2761">
                <a:alpha val="16000"/>
              </a:srgbClr>
            </a:outerShdw>
          </a:effectLst>
        </p:spPr>
      </p:sp>
      <p:sp>
        <p:nvSpPr>
          <p:cNvPr id="12" name="Shape 10"/>
          <p:cNvSpPr/>
          <p:nvPr/>
        </p:nvSpPr>
        <p:spPr>
          <a:xfrm>
            <a:off x="502920" y="1709928"/>
            <a:ext cx="5364328" cy="457200"/>
          </a:xfrm>
          <a:prstGeom prst="roundRect">
            <a:avLst>
              <a:gd name="adj" fmla="val 18000"/>
            </a:avLst>
          </a:prstGeom>
          <a:solidFill>
            <a:srgbClr val="48587A"/>
          </a:solidFill>
          <a:ln/>
        </p:spPr>
      </p:sp>
      <p:sp>
        <p:nvSpPr>
          <p:cNvPr id="13" name="Shape 11"/>
          <p:cNvSpPr/>
          <p:nvPr/>
        </p:nvSpPr>
        <p:spPr>
          <a:xfrm>
            <a:off x="502920" y="1965960"/>
            <a:ext cx="5364328" cy="201168"/>
          </a:xfrm>
          <a:prstGeom prst="rect">
            <a:avLst/>
          </a:prstGeom>
          <a:solidFill>
            <a:srgbClr val="48587A"/>
          </a:solidFill>
          <a:ln/>
        </p:spPr>
      </p:sp>
      <p:sp>
        <p:nvSpPr>
          <p:cNvPr id="14" name="Text 12"/>
          <p:cNvSpPr/>
          <p:nvPr/>
        </p:nvSpPr>
        <p:spPr>
          <a:xfrm>
            <a:off x="640080" y="1709928"/>
            <a:ext cx="5090008" cy="45720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Vague prompt</a:t>
            </a:r>
            <a:endParaRPr lang="en-US" sz="1450" dirty="0"/>
          </a:p>
        </p:txBody>
      </p:sp>
      <p:sp>
        <p:nvSpPr>
          <p:cNvPr id="15" name="Text 13"/>
          <p:cNvSpPr/>
          <p:nvPr/>
        </p:nvSpPr>
        <p:spPr>
          <a:xfrm>
            <a:off x="704088" y="2313432"/>
            <a:ext cx="4961992" cy="3383280"/>
          </a:xfrm>
          <a:prstGeom prst="rect">
            <a:avLst/>
          </a:prstGeom>
          <a:noFill/>
          <a:ln/>
        </p:spPr>
        <p:txBody>
          <a:bodyPr wrap="square" lIns="0" tIns="0" rIns="0" bIns="0" rtlCol="0" anchor="ctr">
            <a:normAutofit/>
          </a:bodyPr>
          <a:lstStyle/>
          <a:p>
            <a:pPr marL="177800" indent="-177800">
              <a:spcAft>
                <a:spcPts val="1400"/>
              </a:spcAft>
              <a:buSzPct val="100000"/>
              <a:buChar char="•"/>
            </a:pPr>
            <a:r>
              <a:rPr lang="en-US" sz="1450" dirty="0">
                <a:solidFill>
                  <a:srgbClr val="1A1F36"/>
                </a:solidFill>
                <a:latin typeface="Calibri" pitchFamily="34" charset="0"/>
                <a:ea typeface="Calibri" pitchFamily="34" charset="-122"/>
                <a:cs typeface="Calibri" pitchFamily="34" charset="-120"/>
              </a:rPr>
              <a:t>[DRAFT: real, tested vague prompt]</a:t>
            </a:r>
            <a:endParaRPr lang="en-US" sz="1450" dirty="0"/>
          </a:p>
          <a:p>
            <a:pPr marL="177800" indent="-177800">
              <a:spcAft>
                <a:spcPts val="1400"/>
              </a:spcAft>
              <a:buSzPct val="100000"/>
              <a:buChar char="•"/>
            </a:pPr>
            <a:r>
              <a:rPr lang="en-US" sz="1450" dirty="0">
                <a:solidFill>
                  <a:srgbClr val="1A1F36"/>
                </a:solidFill>
                <a:latin typeface="Calibri" pitchFamily="34" charset="0"/>
                <a:ea typeface="Calibri" pitchFamily="34" charset="-122"/>
                <a:cs typeface="Calibri" pitchFamily="34" charset="-120"/>
              </a:rPr>
              <a:t>[DRAFT: the weak output it produced]</a:t>
            </a:r>
            <a:endParaRPr lang="en-US" sz="1450" dirty="0"/>
          </a:p>
        </p:txBody>
      </p:sp>
      <p:sp>
        <p:nvSpPr>
          <p:cNvPr id="16" name="Shape 14"/>
          <p:cNvSpPr/>
          <p:nvPr/>
        </p:nvSpPr>
        <p:spPr>
          <a:xfrm>
            <a:off x="6324448" y="1709928"/>
            <a:ext cx="5364328" cy="4114800"/>
          </a:xfrm>
          <a:prstGeom prst="roundRect">
            <a:avLst>
              <a:gd name="adj" fmla="val 2000"/>
            </a:avLst>
          </a:prstGeom>
          <a:solidFill>
            <a:srgbClr val="FBF1DC"/>
          </a:solidFill>
          <a:ln/>
          <a:effectLst>
            <a:outerShdw sx="100000" sy="100000" kx="0" ky="0" algn="bl" rotWithShape="0" blurRad="76200" dist="25400" dir="5400000">
              <a:srgbClr val="1E2761">
                <a:alpha val="16000"/>
              </a:srgbClr>
            </a:outerShdw>
          </a:effectLst>
        </p:spPr>
      </p:sp>
      <p:sp>
        <p:nvSpPr>
          <p:cNvPr id="17" name="Shape 15"/>
          <p:cNvSpPr/>
          <p:nvPr/>
        </p:nvSpPr>
        <p:spPr>
          <a:xfrm>
            <a:off x="6324448" y="1709928"/>
            <a:ext cx="5364328" cy="457200"/>
          </a:xfrm>
          <a:prstGeom prst="roundRect">
            <a:avLst>
              <a:gd name="adj" fmla="val 18000"/>
            </a:avLst>
          </a:prstGeom>
          <a:solidFill>
            <a:srgbClr val="E8A33D"/>
          </a:solidFill>
          <a:ln/>
        </p:spPr>
      </p:sp>
      <p:sp>
        <p:nvSpPr>
          <p:cNvPr id="18" name="Shape 16"/>
          <p:cNvSpPr/>
          <p:nvPr/>
        </p:nvSpPr>
        <p:spPr>
          <a:xfrm>
            <a:off x="6324448" y="1965960"/>
            <a:ext cx="5364328" cy="201168"/>
          </a:xfrm>
          <a:prstGeom prst="rect">
            <a:avLst/>
          </a:prstGeom>
          <a:solidFill>
            <a:srgbClr val="E8A33D"/>
          </a:solidFill>
          <a:ln/>
        </p:spPr>
      </p:sp>
      <p:sp>
        <p:nvSpPr>
          <p:cNvPr id="19" name="Text 17"/>
          <p:cNvSpPr/>
          <p:nvPr/>
        </p:nvSpPr>
        <p:spPr>
          <a:xfrm>
            <a:off x="6461608" y="1709928"/>
            <a:ext cx="5090008" cy="457200"/>
          </a:xfrm>
          <a:prstGeom prst="rect">
            <a:avLst/>
          </a:prstGeom>
          <a:noFill/>
          <a:ln/>
        </p:spPr>
        <p:txBody>
          <a:bodyPr wrap="square" lIns="0" tIns="0" rIns="0" bIns="0" rtlCol="0" anchor="ctr"/>
          <a:lstStyle/>
          <a:p>
            <a:pPr indent="0" marL="0">
              <a:buNone/>
            </a:pPr>
            <a:r>
              <a:rPr lang="en-US" sz="1450" b="1" dirty="0">
                <a:solidFill>
                  <a:srgbClr val="141B45"/>
                </a:solidFill>
                <a:latin typeface="Calibri" pitchFamily="34" charset="0"/>
                <a:ea typeface="Calibri" pitchFamily="34" charset="-122"/>
                <a:cs typeface="Calibri" pitchFamily="34" charset="-120"/>
              </a:rPr>
              <a:t>Effective prompt</a:t>
            </a:r>
            <a:endParaRPr lang="en-US" sz="1450" dirty="0"/>
          </a:p>
        </p:txBody>
      </p:sp>
      <p:sp>
        <p:nvSpPr>
          <p:cNvPr id="20" name="Text 18"/>
          <p:cNvSpPr/>
          <p:nvPr/>
        </p:nvSpPr>
        <p:spPr>
          <a:xfrm>
            <a:off x="6525616" y="2313432"/>
            <a:ext cx="4961992" cy="3383280"/>
          </a:xfrm>
          <a:prstGeom prst="rect">
            <a:avLst/>
          </a:prstGeom>
          <a:noFill/>
          <a:ln/>
        </p:spPr>
        <p:txBody>
          <a:bodyPr wrap="square" lIns="0" tIns="0" rIns="0" bIns="0" rtlCol="0" anchor="ctr">
            <a:normAutofit/>
          </a:bodyPr>
          <a:lstStyle/>
          <a:p>
            <a:pPr marL="177800" indent="-177800">
              <a:spcAft>
                <a:spcPts val="1400"/>
              </a:spcAft>
              <a:buSzPct val="100000"/>
              <a:buChar char="•"/>
            </a:pPr>
            <a:r>
              <a:rPr lang="en-US" sz="1450" dirty="0">
                <a:solidFill>
                  <a:srgbClr val="1A1F36"/>
                </a:solidFill>
                <a:latin typeface="Calibri" pitchFamily="34" charset="0"/>
                <a:ea typeface="Calibri" pitchFamily="34" charset="-122"/>
                <a:cs typeface="Calibri" pitchFamily="34" charset="-120"/>
              </a:rPr>
              <a:t>[DRAFT: real, tested effective prompt]</a:t>
            </a:r>
            <a:endParaRPr lang="en-US" sz="1450" dirty="0"/>
          </a:p>
          <a:p>
            <a:pPr marL="177800" indent="-177800">
              <a:spcAft>
                <a:spcPts val="1400"/>
              </a:spcAft>
              <a:buSzPct val="100000"/>
              <a:buChar char="•"/>
            </a:pPr>
            <a:r>
              <a:rPr lang="en-US" sz="1450" dirty="0">
                <a:solidFill>
                  <a:srgbClr val="1A1F36"/>
                </a:solidFill>
                <a:latin typeface="Calibri" pitchFamily="34" charset="0"/>
                <a:ea typeface="Calibri" pitchFamily="34" charset="-122"/>
                <a:cs typeface="Calibri" pitchFamily="34" charset="-120"/>
              </a:rPr>
              <a:t>[DRAFT: the genuinely useful output it produced]</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I1</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Three Levers You Actually Control</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Prompt vs. Context vs. Harness</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From Message to Structured Data</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2340151" y="1801368"/>
            <a:ext cx="3931920" cy="3931920"/>
          </a:xfrm>
          <a:prstGeom prst="ellipse">
            <a:avLst/>
          </a:prstGeom>
          <a:solidFill>
            <a:srgbClr val="1E2761"/>
          </a:solidFill>
          <a:ln w="19050">
            <a:solidFill>
              <a:srgbClr val="FFFFFF"/>
            </a:solidFill>
            <a:prstDash val="solid"/>
          </a:ln>
        </p:spPr>
      </p:sp>
      <p:sp>
        <p:nvSpPr>
          <p:cNvPr id="13" name="Shape 11"/>
          <p:cNvSpPr/>
          <p:nvPr/>
        </p:nvSpPr>
        <p:spPr>
          <a:xfrm>
            <a:off x="2995471" y="2456688"/>
            <a:ext cx="2621280" cy="2621280"/>
          </a:xfrm>
          <a:prstGeom prst="ellipse">
            <a:avLst/>
          </a:prstGeom>
          <a:solidFill>
            <a:srgbClr val="48587A"/>
          </a:solidFill>
          <a:ln w="19050">
            <a:solidFill>
              <a:srgbClr val="FFFFFF"/>
            </a:solidFill>
            <a:prstDash val="solid"/>
          </a:ln>
        </p:spPr>
      </p:sp>
      <p:sp>
        <p:nvSpPr>
          <p:cNvPr id="14" name="Shape 12"/>
          <p:cNvSpPr/>
          <p:nvPr/>
        </p:nvSpPr>
        <p:spPr>
          <a:xfrm>
            <a:off x="3650791" y="3112008"/>
            <a:ext cx="1310640" cy="1310640"/>
          </a:xfrm>
          <a:prstGeom prst="ellipse">
            <a:avLst/>
          </a:prstGeom>
          <a:solidFill>
            <a:srgbClr val="7186B5"/>
          </a:solidFill>
          <a:ln w="19050">
            <a:solidFill>
              <a:srgbClr val="FFFFFF"/>
            </a:solidFill>
            <a:prstDash val="solid"/>
          </a:ln>
        </p:spPr>
      </p:sp>
      <p:sp>
        <p:nvSpPr>
          <p:cNvPr id="15" name="Text 13"/>
          <p:cNvSpPr/>
          <p:nvPr/>
        </p:nvSpPr>
        <p:spPr>
          <a:xfrm>
            <a:off x="6774991" y="1709928"/>
            <a:ext cx="4913784" cy="754380"/>
          </a:xfrm>
          <a:prstGeom prst="rect">
            <a:avLst/>
          </a:prstGeom>
          <a:noFill/>
          <a:ln/>
        </p:spPr>
        <p:txBody>
          <a:bodyPr wrap="square" lIns="0" tIns="0" rIns="0" bIns="0" rtlCol="0" anchor="b"/>
          <a:lstStyle/>
          <a:p>
            <a:pPr indent="0" marL="0">
              <a:buNone/>
            </a:pPr>
            <a:r>
              <a:rPr lang="en-US" sz="1400" b="1" dirty="0">
                <a:solidFill>
                  <a:srgbClr val="1E2761"/>
                </a:solidFill>
                <a:latin typeface="Calibri" pitchFamily="34" charset="0"/>
                <a:ea typeface="Calibri" pitchFamily="34" charset="-122"/>
                <a:cs typeface="Calibri" pitchFamily="34" charset="-120"/>
              </a:rPr>
              <a:t>Harness</a:t>
            </a:r>
            <a:endParaRPr lang="en-US" sz="1400" dirty="0"/>
          </a:p>
        </p:txBody>
      </p:sp>
      <p:sp>
        <p:nvSpPr>
          <p:cNvPr id="16" name="Text 14"/>
          <p:cNvSpPr/>
          <p:nvPr/>
        </p:nvSpPr>
        <p:spPr>
          <a:xfrm>
            <a:off x="6774991" y="2423160"/>
            <a:ext cx="4913784" cy="617220"/>
          </a:xfrm>
          <a:prstGeom prst="rect">
            <a:avLst/>
          </a:prstGeom>
          <a:noFill/>
          <a:ln/>
        </p:spPr>
        <p:txBody>
          <a:bodyPr wrap="square" lIns="0" tIns="0" rIns="0" bIns="0" rtlCol="0" anchor="t">
            <a:normAutofit/>
          </a:bodyPr>
          <a:lstStyle/>
          <a:p>
            <a:pPr indent="0" marL="0">
              <a:buNone/>
            </a:pPr>
            <a:r>
              <a:rPr lang="en-US" sz="1100" dirty="0">
                <a:solidFill>
                  <a:srgbClr val="6B7280"/>
                </a:solidFill>
                <a:latin typeface="Calibri" pitchFamily="34" charset="0"/>
                <a:ea typeface="Calibri" pitchFamily="34" charset="-122"/>
                <a:cs typeface="Calibri" pitchFamily="34" charset="-120"/>
              </a:rPr>
              <a:t>What tools/agents are even available</a:t>
            </a:r>
            <a:endParaRPr lang="en-US" sz="1100" dirty="0"/>
          </a:p>
        </p:txBody>
      </p:sp>
      <p:sp>
        <p:nvSpPr>
          <p:cNvPr id="17" name="Text 15"/>
          <p:cNvSpPr/>
          <p:nvPr/>
        </p:nvSpPr>
        <p:spPr>
          <a:xfrm>
            <a:off x="6774991" y="3081528"/>
            <a:ext cx="4913784" cy="754380"/>
          </a:xfrm>
          <a:prstGeom prst="rect">
            <a:avLst/>
          </a:prstGeom>
          <a:noFill/>
          <a:ln/>
        </p:spPr>
        <p:txBody>
          <a:bodyPr wrap="square" lIns="0" tIns="0" rIns="0" bIns="0" rtlCol="0" anchor="b"/>
          <a:lstStyle/>
          <a:p>
            <a:pPr indent="0" marL="0">
              <a:buNone/>
            </a:pPr>
            <a:r>
              <a:rPr lang="en-US" sz="1400" b="1" dirty="0">
                <a:solidFill>
                  <a:srgbClr val="1E2761"/>
                </a:solidFill>
                <a:latin typeface="Calibri" pitchFamily="34" charset="0"/>
                <a:ea typeface="Calibri" pitchFamily="34" charset="-122"/>
                <a:cs typeface="Calibri" pitchFamily="34" charset="-120"/>
              </a:rPr>
              <a:t>Context</a:t>
            </a:r>
            <a:endParaRPr lang="en-US" sz="1400" dirty="0"/>
          </a:p>
        </p:txBody>
      </p:sp>
      <p:sp>
        <p:nvSpPr>
          <p:cNvPr id="18" name="Text 16"/>
          <p:cNvSpPr/>
          <p:nvPr/>
        </p:nvSpPr>
        <p:spPr>
          <a:xfrm>
            <a:off x="6774991" y="3794760"/>
            <a:ext cx="4913784" cy="617220"/>
          </a:xfrm>
          <a:prstGeom prst="rect">
            <a:avLst/>
          </a:prstGeom>
          <a:noFill/>
          <a:ln/>
        </p:spPr>
        <p:txBody>
          <a:bodyPr wrap="square" lIns="0" tIns="0" rIns="0" bIns="0" rtlCol="0" anchor="t">
            <a:normAutofit/>
          </a:bodyPr>
          <a:lstStyle/>
          <a:p>
            <a:pPr indent="0" marL="0">
              <a:buNone/>
            </a:pPr>
            <a:r>
              <a:rPr lang="en-US" sz="1100" dirty="0">
                <a:solidFill>
                  <a:srgbClr val="6B7280"/>
                </a:solidFill>
                <a:latin typeface="Calibri" pitchFamily="34" charset="0"/>
                <a:ea typeface="Calibri" pitchFamily="34" charset="-122"/>
                <a:cs typeface="Calibri" pitchFamily="34" charset="-120"/>
              </a:rPr>
              <a:t>What surrounds it: documents, history, facts</a:t>
            </a:r>
            <a:endParaRPr lang="en-US" sz="1100" dirty="0"/>
          </a:p>
        </p:txBody>
      </p:sp>
      <p:sp>
        <p:nvSpPr>
          <p:cNvPr id="19" name="Text 17"/>
          <p:cNvSpPr/>
          <p:nvPr/>
        </p:nvSpPr>
        <p:spPr>
          <a:xfrm>
            <a:off x="6774991" y="4453128"/>
            <a:ext cx="4913784" cy="754380"/>
          </a:xfrm>
          <a:prstGeom prst="rect">
            <a:avLst/>
          </a:prstGeom>
          <a:noFill/>
          <a:ln/>
        </p:spPr>
        <p:txBody>
          <a:bodyPr wrap="square" lIns="0" tIns="0" rIns="0" bIns="0" rtlCol="0" anchor="b"/>
          <a:lstStyle/>
          <a:p>
            <a:pPr indent="0" marL="0">
              <a:buNone/>
            </a:pPr>
            <a:r>
              <a:rPr lang="en-US" sz="1400" b="1" dirty="0">
                <a:solidFill>
                  <a:srgbClr val="1E2761"/>
                </a:solidFill>
                <a:latin typeface="Calibri" pitchFamily="34" charset="0"/>
                <a:ea typeface="Calibri" pitchFamily="34" charset="-122"/>
                <a:cs typeface="Calibri" pitchFamily="34" charset="-120"/>
              </a:rPr>
              <a:t>Prompt</a:t>
            </a:r>
            <a:endParaRPr lang="en-US" sz="1400" dirty="0"/>
          </a:p>
        </p:txBody>
      </p:sp>
      <p:sp>
        <p:nvSpPr>
          <p:cNvPr id="20" name="Text 18"/>
          <p:cNvSpPr/>
          <p:nvPr/>
        </p:nvSpPr>
        <p:spPr>
          <a:xfrm>
            <a:off x="6774991" y="5166360"/>
            <a:ext cx="4913784" cy="617220"/>
          </a:xfrm>
          <a:prstGeom prst="rect">
            <a:avLst/>
          </a:prstGeom>
          <a:noFill/>
          <a:ln/>
        </p:spPr>
        <p:txBody>
          <a:bodyPr wrap="square" lIns="0" tIns="0" rIns="0" bIns="0" rtlCol="0" anchor="t">
            <a:normAutofit/>
          </a:bodyPr>
          <a:lstStyle/>
          <a:p>
            <a:pPr indent="0" marL="0">
              <a:buNone/>
            </a:pPr>
            <a:r>
              <a:rPr lang="en-US" sz="1100" dirty="0">
                <a:solidFill>
                  <a:srgbClr val="6B7280"/>
                </a:solidFill>
                <a:latin typeface="Calibri" pitchFamily="34" charset="0"/>
                <a:ea typeface="Calibri" pitchFamily="34" charset="-122"/>
                <a:cs typeface="Calibri" pitchFamily="34" charset="-120"/>
              </a:rPr>
              <a:t>The words in your ask</a:t>
            </a:r>
            <a:endParaRPr lang="en-US" sz="1100" dirty="0"/>
          </a:p>
        </p:txBody>
      </p:sp>
      <p:sp>
        <p:nvSpPr>
          <p:cNvPr id="21" name="Text 19"/>
          <p:cNvSpPr/>
          <p:nvPr/>
        </p:nvSpPr>
        <p:spPr>
          <a:xfrm>
            <a:off x="4104943" y="356616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I1</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Prompt Engineering, the Basics</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Instructions, examples, format</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From Message to Structured Data</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1871929" y="2990088"/>
            <a:ext cx="777240" cy="777240"/>
          </a:xfrm>
          <a:prstGeom prst="ellipse">
            <a:avLst/>
          </a:prstGeom>
          <a:solidFill>
            <a:srgbClr val="1E2761"/>
          </a:solidFill>
          <a:ln/>
        </p:spPr>
      </p:sp>
      <p:pic>
        <p:nvPicPr>
          <p:cNvPr id="13" name="Image 0" descr="/private/tmp/claude-501/-Users-sai-Work-Office-Teaching/ee8695eb-a8ef-409d-a9ba-c09e44dd9ced/scratchpad/pptx-build/assets/icons/FaPen.png">    </p:cNvPr>
          <p:cNvPicPr>
            <a:picLocks noChangeAspect="1"/>
          </p:cNvPicPr>
          <p:nvPr/>
        </p:nvPicPr>
        <p:blipFill>
          <a:blip r:embed="rId1"/>
          <a:stretch>
            <a:fillRect/>
          </a:stretch>
        </p:blipFill>
        <p:spPr>
          <a:xfrm>
            <a:off x="2058467" y="3176626"/>
            <a:ext cx="404165" cy="404165"/>
          </a:xfrm>
          <a:prstGeom prst="rect">
            <a:avLst/>
          </a:prstGeom>
        </p:spPr>
      </p:pic>
      <p:sp>
        <p:nvSpPr>
          <p:cNvPr id="14" name="Text 11"/>
          <p:cNvSpPr/>
          <p:nvPr/>
        </p:nvSpPr>
        <p:spPr>
          <a:xfrm>
            <a:off x="502920" y="3895344"/>
            <a:ext cx="3515258"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Instructions</a:t>
            </a:r>
            <a:endParaRPr lang="en-US" sz="1250" dirty="0"/>
          </a:p>
        </p:txBody>
      </p:sp>
      <p:sp>
        <p:nvSpPr>
          <p:cNvPr id="15" name="Text 12"/>
          <p:cNvSpPr/>
          <p:nvPr/>
        </p:nvSpPr>
        <p:spPr>
          <a:xfrm>
            <a:off x="502920" y="4279392"/>
            <a:ext cx="3515258" cy="539496"/>
          </a:xfrm>
          <a:prstGeom prst="rect">
            <a:avLst/>
          </a:prstGeom>
          <a:noFill/>
          <a:ln/>
        </p:spPr>
        <p:txBody>
          <a:bodyPr wrap="square" lIns="0" tIns="0" rIns="0" bIns="0" rtlCol="0" anchor="t">
            <a:normAutofit/>
          </a:bodyPr>
          <a:lstStyle/>
          <a:p>
            <a:pPr algn="ctr" indent="0" marL="0">
              <a:buNone/>
            </a:pPr>
            <a:r>
              <a:rPr lang="en-US" sz="1050" dirty="0">
                <a:solidFill>
                  <a:srgbClr val="6B7280"/>
                </a:solidFill>
                <a:latin typeface="Calibri" pitchFamily="34" charset="0"/>
                <a:ea typeface="Calibri" pitchFamily="34" charset="-122"/>
                <a:cs typeface="Calibri" pitchFamily="34" charset="-120"/>
              </a:rPr>
              <a:t>Say exactly what you want</a:t>
            </a:r>
            <a:endParaRPr lang="en-US" sz="1050" dirty="0"/>
          </a:p>
        </p:txBody>
      </p:sp>
      <p:sp>
        <p:nvSpPr>
          <p:cNvPr id="16" name="Shape 13"/>
          <p:cNvSpPr/>
          <p:nvPr/>
        </p:nvSpPr>
        <p:spPr>
          <a:xfrm>
            <a:off x="5707228" y="2990088"/>
            <a:ext cx="777240" cy="777240"/>
          </a:xfrm>
          <a:prstGeom prst="ellipse">
            <a:avLst/>
          </a:prstGeom>
          <a:solidFill>
            <a:srgbClr val="1E2761"/>
          </a:solidFill>
          <a:ln/>
        </p:spPr>
      </p:sp>
      <p:pic>
        <p:nvPicPr>
          <p:cNvPr id="17" name="Image 1" descr="/private/tmp/claude-501/-Users-sai-Work-Office-Teaching/ee8695eb-a8ef-409d-a9ba-c09e44dd9ced/scratchpad/pptx-build/assets/icons/FaClone.png">    </p:cNvPr>
          <p:cNvPicPr>
            <a:picLocks noChangeAspect="1"/>
          </p:cNvPicPr>
          <p:nvPr/>
        </p:nvPicPr>
        <p:blipFill>
          <a:blip r:embed="rId2"/>
          <a:stretch>
            <a:fillRect/>
          </a:stretch>
        </p:blipFill>
        <p:spPr>
          <a:xfrm>
            <a:off x="5893765" y="3176626"/>
            <a:ext cx="404165" cy="404165"/>
          </a:xfrm>
          <a:prstGeom prst="rect">
            <a:avLst/>
          </a:prstGeom>
        </p:spPr>
      </p:pic>
      <p:sp>
        <p:nvSpPr>
          <p:cNvPr id="18" name="Text 14"/>
          <p:cNvSpPr/>
          <p:nvPr/>
        </p:nvSpPr>
        <p:spPr>
          <a:xfrm>
            <a:off x="4338218" y="3895344"/>
            <a:ext cx="3515258"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Examples</a:t>
            </a:r>
            <a:endParaRPr lang="en-US" sz="1250" dirty="0"/>
          </a:p>
        </p:txBody>
      </p:sp>
      <p:sp>
        <p:nvSpPr>
          <p:cNvPr id="19" name="Text 15"/>
          <p:cNvSpPr/>
          <p:nvPr/>
        </p:nvSpPr>
        <p:spPr>
          <a:xfrm>
            <a:off x="4338218" y="4279392"/>
            <a:ext cx="3515258" cy="539496"/>
          </a:xfrm>
          <a:prstGeom prst="rect">
            <a:avLst/>
          </a:prstGeom>
          <a:noFill/>
          <a:ln/>
        </p:spPr>
        <p:txBody>
          <a:bodyPr wrap="square" lIns="0" tIns="0" rIns="0" bIns="0" rtlCol="0" anchor="t">
            <a:normAutofit/>
          </a:bodyPr>
          <a:lstStyle/>
          <a:p>
            <a:pPr algn="ctr" indent="0" marL="0">
              <a:buNone/>
            </a:pPr>
            <a:r>
              <a:rPr lang="en-US" sz="1050" dirty="0">
                <a:solidFill>
                  <a:srgbClr val="6B7280"/>
                </a:solidFill>
                <a:latin typeface="Calibri" pitchFamily="34" charset="0"/>
                <a:ea typeface="Calibri" pitchFamily="34" charset="-122"/>
                <a:cs typeface="Calibri" pitchFamily="34" charset="-120"/>
              </a:rPr>
              <a:t>Show the pattern if it's non-obvious</a:t>
            </a:r>
            <a:endParaRPr lang="en-US" sz="1050" dirty="0"/>
          </a:p>
        </p:txBody>
      </p:sp>
      <p:sp>
        <p:nvSpPr>
          <p:cNvPr id="20" name="Shape 16"/>
          <p:cNvSpPr/>
          <p:nvPr/>
        </p:nvSpPr>
        <p:spPr>
          <a:xfrm>
            <a:off x="9542526" y="2990088"/>
            <a:ext cx="777240" cy="777240"/>
          </a:xfrm>
          <a:prstGeom prst="ellipse">
            <a:avLst/>
          </a:prstGeom>
          <a:solidFill>
            <a:srgbClr val="1E2761"/>
          </a:solidFill>
          <a:ln/>
        </p:spPr>
      </p:sp>
      <p:pic>
        <p:nvPicPr>
          <p:cNvPr id="21" name="Image 2" descr="/private/tmp/claude-501/-Users-sai-Work-Office-Teaching/ee8695eb-a8ef-409d-a9ba-c09e44dd9ced/scratchpad/pptx-build/assets/icons/FaTable.png">    </p:cNvPr>
          <p:cNvPicPr>
            <a:picLocks noChangeAspect="1"/>
          </p:cNvPicPr>
          <p:nvPr/>
        </p:nvPicPr>
        <p:blipFill>
          <a:blip r:embed="rId3"/>
          <a:stretch>
            <a:fillRect/>
          </a:stretch>
        </p:blipFill>
        <p:spPr>
          <a:xfrm>
            <a:off x="9729064" y="3176626"/>
            <a:ext cx="404165" cy="404165"/>
          </a:xfrm>
          <a:prstGeom prst="rect">
            <a:avLst/>
          </a:prstGeom>
        </p:spPr>
      </p:pic>
      <p:sp>
        <p:nvSpPr>
          <p:cNvPr id="22" name="Text 17"/>
          <p:cNvSpPr/>
          <p:nvPr/>
        </p:nvSpPr>
        <p:spPr>
          <a:xfrm>
            <a:off x="8173517" y="3895344"/>
            <a:ext cx="3515258"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Format</a:t>
            </a:r>
            <a:endParaRPr lang="en-US" sz="1250" dirty="0"/>
          </a:p>
        </p:txBody>
      </p:sp>
      <p:sp>
        <p:nvSpPr>
          <p:cNvPr id="23" name="Text 18"/>
          <p:cNvSpPr/>
          <p:nvPr/>
        </p:nvSpPr>
        <p:spPr>
          <a:xfrm>
            <a:off x="8173517" y="4279392"/>
            <a:ext cx="3515258" cy="539496"/>
          </a:xfrm>
          <a:prstGeom prst="rect">
            <a:avLst/>
          </a:prstGeom>
          <a:noFill/>
          <a:ln/>
        </p:spPr>
        <p:txBody>
          <a:bodyPr wrap="square" lIns="0" tIns="0" rIns="0" bIns="0" rtlCol="0" anchor="t">
            <a:normAutofit/>
          </a:bodyPr>
          <a:lstStyle/>
          <a:p>
            <a:pPr algn="ctr" indent="0" marL="0">
              <a:buNone/>
            </a:pPr>
            <a:r>
              <a:rPr lang="en-US" sz="1050" dirty="0">
                <a:solidFill>
                  <a:srgbClr val="6B7280"/>
                </a:solidFill>
                <a:latin typeface="Calibri" pitchFamily="34" charset="0"/>
                <a:ea typeface="Calibri" pitchFamily="34" charset="-122"/>
                <a:cs typeface="Calibri" pitchFamily="34" charset="-120"/>
              </a:rPr>
              <a:t>Specify how you want it back</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I1</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Context Engineering</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What you feed it, and why order/relevance matters</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From Message to Structured Data</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Text 10"/>
          <p:cNvSpPr/>
          <p:nvPr/>
        </p:nvSpPr>
        <p:spPr>
          <a:xfrm>
            <a:off x="502920" y="1801368"/>
            <a:ext cx="6264079" cy="2103120"/>
          </a:xfrm>
          <a:prstGeom prst="rect">
            <a:avLst/>
          </a:prstGeom>
          <a:noFill/>
          <a:ln/>
        </p:spPr>
        <p:txBody>
          <a:bodyPr wrap="square" lIns="0" tIns="0" rIns="0" bIns="0" rtlCol="0" anchor="t"/>
          <a:lstStyle/>
          <a:p>
            <a:pPr marL="228600" indent="-228600">
              <a:spcAft>
                <a:spcPts val="1000"/>
              </a:spcAft>
              <a:buSzPct val="100000"/>
              <a:buChar char="•"/>
            </a:pPr>
            <a:r>
              <a:rPr lang="en-US" sz="1450" b="1" dirty="0">
                <a:solidFill>
                  <a:srgbClr val="1A1F36"/>
                </a:solidFill>
                <a:latin typeface="Calibri" pitchFamily="34" charset="0"/>
                <a:ea typeface="Calibri" pitchFamily="34" charset="-122"/>
                <a:cs typeface="Calibri" pitchFamily="34" charset="-120"/>
              </a:rPr>
              <a:t>What's in the model's view right now?</a:t>
            </a:r>
            <a:endParaRPr lang="en-US" sz="1450" dirty="0"/>
          </a:p>
          <a:p>
            <a:pPr marL="228600" indent="-228600">
              <a:spcAft>
                <a:spcPts val="1000"/>
              </a:spcAft>
              <a:buSzPct val="100000"/>
              <a:buChar char="•"/>
            </a:pPr>
            <a:r>
              <a:rPr lang="en-US" sz="1450" dirty="0">
                <a:solidFill>
                  <a:srgbClr val="1A1F36"/>
                </a:solidFill>
                <a:latin typeface="Calibri" pitchFamily="34" charset="0"/>
                <a:ea typeface="Calibri" pitchFamily="34" charset="-122"/>
                <a:cs typeface="Calibri" pitchFamily="34" charset="-120"/>
              </a:rPr>
              <a:t>Attached documents</a:t>
            </a:r>
            <a:endParaRPr lang="en-US" sz="1450" dirty="0"/>
          </a:p>
          <a:p>
            <a:pPr marL="228600" indent="-228600">
              <a:spcAft>
                <a:spcPts val="1000"/>
              </a:spcAft>
              <a:buSzPct val="100000"/>
              <a:buChar char="•"/>
            </a:pPr>
            <a:r>
              <a:rPr lang="en-US" sz="1450" dirty="0">
                <a:solidFill>
                  <a:srgbClr val="1A1F36"/>
                </a:solidFill>
                <a:latin typeface="Calibri" pitchFamily="34" charset="0"/>
                <a:ea typeface="Calibri" pitchFamily="34" charset="-122"/>
                <a:cs typeface="Calibri" pitchFamily="34" charset="-120"/>
              </a:rPr>
              <a:t>Conversation history</a:t>
            </a:r>
            <a:endParaRPr lang="en-US" sz="1450" dirty="0"/>
          </a:p>
          <a:p>
            <a:pPr marL="228600" indent="-228600">
              <a:spcAft>
                <a:spcPts val="1000"/>
              </a:spcAft>
              <a:buSzPct val="100000"/>
              <a:buChar char="•"/>
            </a:pPr>
            <a:r>
              <a:rPr lang="en-US" sz="1450" dirty="0">
                <a:solidFill>
                  <a:srgbClr val="1A1F36"/>
                </a:solidFill>
                <a:latin typeface="Calibri" pitchFamily="34" charset="0"/>
                <a:ea typeface="Calibri" pitchFamily="34" charset="-122"/>
                <a:cs typeface="Calibri" pitchFamily="34" charset="-120"/>
              </a:rPr>
              <a:t>Background facts you've stated</a:t>
            </a:r>
            <a:endParaRPr lang="en-US" sz="1450" dirty="0"/>
          </a:p>
          <a:p>
            <a:pPr marL="228600" indent="-228600">
              <a:spcAft>
                <a:spcPts val="1000"/>
              </a:spcAft>
              <a:buSzPct val="100000"/>
              <a:buChar char="•"/>
            </a:pPr>
            <a:r>
              <a:rPr lang="en-US" sz="1450" dirty="0">
                <a:solidFill>
                  <a:srgbClr val="1A1F36"/>
                </a:solidFill>
                <a:latin typeface="Calibri" pitchFamily="34" charset="0"/>
                <a:ea typeface="Calibri" pitchFamily="34" charset="-122"/>
                <a:cs typeface="Calibri" pitchFamily="34" charset="-120"/>
              </a:rPr>
              <a:t>Retrieved knowledge (session 3 territory)</a:t>
            </a:r>
            <a:endParaRPr lang="en-US" sz="1450" dirty="0"/>
          </a:p>
        </p:txBody>
      </p:sp>
      <p:sp>
        <p:nvSpPr>
          <p:cNvPr id="13" name="Shape 11"/>
          <p:cNvSpPr/>
          <p:nvPr/>
        </p:nvSpPr>
        <p:spPr>
          <a:xfrm>
            <a:off x="7661867" y="2075688"/>
            <a:ext cx="1554480" cy="1554480"/>
          </a:xfrm>
          <a:prstGeom prst="ellipse">
            <a:avLst/>
          </a:prstGeom>
          <a:solidFill>
            <a:srgbClr val="48587A"/>
          </a:solidFill>
          <a:ln/>
        </p:spPr>
      </p:sp>
      <p:pic>
        <p:nvPicPr>
          <p:cNvPr id="14" name="Image 0" descr="/private/tmp/claude-501/-Users-sai-Work-Office-Teaching/ee8695eb-a8ef-409d-a9ba-c09e44dd9ced/scratchpad/pptx-build/assets/icons/FaSearch.png">    </p:cNvPr>
          <p:cNvPicPr>
            <a:picLocks noChangeAspect="1"/>
          </p:cNvPicPr>
          <p:nvPr/>
        </p:nvPicPr>
        <p:blipFill>
          <a:blip r:embed="rId1"/>
          <a:stretch>
            <a:fillRect/>
          </a:stretch>
        </p:blipFill>
        <p:spPr>
          <a:xfrm>
            <a:off x="8034943" y="2448763"/>
            <a:ext cx="808330" cy="808330"/>
          </a:xfrm>
          <a:prstGeom prst="rect">
            <a:avLst/>
          </a:prstGeom>
        </p:spPr>
      </p:pic>
      <p:sp>
        <p:nvSpPr>
          <p:cNvPr id="15" name="Text 12"/>
          <p:cNvSpPr/>
          <p:nvPr/>
        </p:nvSpPr>
        <p:spPr>
          <a:xfrm>
            <a:off x="6766999" y="3767328"/>
            <a:ext cx="4921776" cy="640080"/>
          </a:xfrm>
          <a:prstGeom prst="rect">
            <a:avLst/>
          </a:prstGeom>
          <a:noFill/>
          <a:ln/>
        </p:spPr>
        <p:txBody>
          <a:bodyPr wrap="square" lIns="0" tIns="0" rIns="0" bIns="0" rtlCol="0" anchor="ctr"/>
          <a:lstStyle/>
          <a:p>
            <a:pPr algn="ctr" indent="0" marL="0">
              <a:buNone/>
            </a:pPr>
            <a:r>
              <a:rPr lang="en-US" sz="1250" i="1" dirty="0">
                <a:solidFill>
                  <a:srgbClr val="6B7280"/>
                </a:solidFill>
                <a:latin typeface="Calibri" pitchFamily="34" charset="0"/>
                <a:ea typeface="Calibri" pitchFamily="34" charset="-122"/>
                <a:cs typeface="Calibri" pitchFamily="34" charset="-120"/>
              </a:rPr>
              <a:t>More isn't always better:</a:t>
            </a:r>
            <a:endParaRPr lang="en-US" sz="1250" dirty="0"/>
          </a:p>
          <a:p>
            <a:pPr algn="ctr" indent="0" marL="0">
              <a:buNone/>
            </a:pPr>
            <a:r>
              <a:rPr lang="en-US" sz="1250" i="1" dirty="0">
                <a:solidFill>
                  <a:srgbClr val="6B7280"/>
                </a:solidFill>
                <a:latin typeface="Calibri" pitchFamily="34" charset="0"/>
                <a:ea typeface="Calibri" pitchFamily="34" charset="-122"/>
                <a:cs typeface="Calibri" pitchFamily="34" charset="-120"/>
              </a:rPr>
              <a:t>irrelevant context dilutes attention.</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I1</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Harness Engineering</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Your agent/tool selection *is* your harness</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From Message to Structured Data</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2340151" y="1801368"/>
            <a:ext cx="3931920" cy="3931920"/>
          </a:xfrm>
          <a:prstGeom prst="ellipse">
            <a:avLst/>
          </a:prstGeom>
          <a:solidFill>
            <a:srgbClr val="E8A33D"/>
          </a:solidFill>
          <a:ln w="19050">
            <a:solidFill>
              <a:srgbClr val="FFFFFF"/>
            </a:solidFill>
            <a:prstDash val="solid"/>
          </a:ln>
        </p:spPr>
      </p:sp>
      <p:sp>
        <p:nvSpPr>
          <p:cNvPr id="13" name="Shape 11"/>
          <p:cNvSpPr/>
          <p:nvPr/>
        </p:nvSpPr>
        <p:spPr>
          <a:xfrm>
            <a:off x="2995471" y="2456688"/>
            <a:ext cx="2621280" cy="2621280"/>
          </a:xfrm>
          <a:prstGeom prst="ellipse">
            <a:avLst/>
          </a:prstGeom>
          <a:solidFill>
            <a:srgbClr val="48587A"/>
          </a:solidFill>
          <a:ln w="19050">
            <a:solidFill>
              <a:srgbClr val="FFFFFF"/>
            </a:solidFill>
            <a:prstDash val="solid"/>
          </a:ln>
        </p:spPr>
      </p:sp>
      <p:sp>
        <p:nvSpPr>
          <p:cNvPr id="14" name="Shape 12"/>
          <p:cNvSpPr/>
          <p:nvPr/>
        </p:nvSpPr>
        <p:spPr>
          <a:xfrm>
            <a:off x="3650791" y="3112008"/>
            <a:ext cx="1310640" cy="1310640"/>
          </a:xfrm>
          <a:prstGeom prst="ellipse">
            <a:avLst/>
          </a:prstGeom>
          <a:solidFill>
            <a:srgbClr val="7186B5"/>
          </a:solidFill>
          <a:ln w="19050">
            <a:solidFill>
              <a:srgbClr val="FFFFFF"/>
            </a:solidFill>
            <a:prstDash val="solid"/>
          </a:ln>
        </p:spPr>
      </p:sp>
      <p:sp>
        <p:nvSpPr>
          <p:cNvPr id="15" name="Text 13"/>
          <p:cNvSpPr/>
          <p:nvPr/>
        </p:nvSpPr>
        <p:spPr>
          <a:xfrm>
            <a:off x="6774991" y="1709928"/>
            <a:ext cx="4913784" cy="754380"/>
          </a:xfrm>
          <a:prstGeom prst="rect">
            <a:avLst/>
          </a:prstGeom>
          <a:noFill/>
          <a:ln/>
        </p:spPr>
        <p:txBody>
          <a:bodyPr wrap="square" lIns="0" tIns="0" rIns="0" bIns="0" rtlCol="0" anchor="b"/>
          <a:lstStyle/>
          <a:p>
            <a:pPr indent="0" marL="0">
              <a:buNone/>
            </a:pPr>
            <a:r>
              <a:rPr lang="en-US" sz="1400" b="1" dirty="0">
                <a:solidFill>
                  <a:srgbClr val="A6660E"/>
                </a:solidFill>
                <a:latin typeface="Calibri" pitchFamily="34" charset="0"/>
                <a:ea typeface="Calibri" pitchFamily="34" charset="-122"/>
                <a:cs typeface="Calibri" pitchFamily="34" charset="-120"/>
              </a:rPr>
              <a:t>Harness</a:t>
            </a:r>
            <a:endParaRPr lang="en-US" sz="1400" dirty="0"/>
          </a:p>
        </p:txBody>
      </p:sp>
      <p:sp>
        <p:nvSpPr>
          <p:cNvPr id="16" name="Text 14"/>
          <p:cNvSpPr/>
          <p:nvPr/>
        </p:nvSpPr>
        <p:spPr>
          <a:xfrm>
            <a:off x="6774991" y="2423160"/>
            <a:ext cx="4913784" cy="617220"/>
          </a:xfrm>
          <a:prstGeom prst="rect">
            <a:avLst/>
          </a:prstGeom>
          <a:noFill/>
          <a:ln/>
        </p:spPr>
        <p:txBody>
          <a:bodyPr wrap="square" lIns="0" tIns="0" rIns="0" bIns="0" rtlCol="0" anchor="t">
            <a:normAutofit/>
          </a:bodyPr>
          <a:lstStyle/>
          <a:p>
            <a:pPr indent="0" marL="0">
              <a:buNone/>
            </a:pPr>
            <a:r>
              <a:rPr lang="en-US" sz="1100" dirty="0">
                <a:solidFill>
                  <a:srgbClr val="6B7280"/>
                </a:solidFill>
                <a:latin typeface="Calibri" pitchFamily="34" charset="0"/>
                <a:ea typeface="Calibri" pitchFamily="34" charset="-122"/>
                <a:cs typeface="Calibri" pitchFamily="34" charset="-120"/>
              </a:rPr>
              <a:t>In AI Studio: which agent(s)/tool(s) you select before asking</a:t>
            </a:r>
            <a:endParaRPr lang="en-US" sz="1100" dirty="0"/>
          </a:p>
        </p:txBody>
      </p:sp>
      <p:sp>
        <p:nvSpPr>
          <p:cNvPr id="17" name="Text 15"/>
          <p:cNvSpPr/>
          <p:nvPr/>
        </p:nvSpPr>
        <p:spPr>
          <a:xfrm>
            <a:off x="6774991" y="3081528"/>
            <a:ext cx="4913784" cy="754380"/>
          </a:xfrm>
          <a:prstGeom prst="rect">
            <a:avLst/>
          </a:prstGeom>
          <a:noFill/>
          <a:ln/>
        </p:spPr>
        <p:txBody>
          <a:bodyPr wrap="square" lIns="0" tIns="0" rIns="0" bIns="0" rtlCol="0" anchor="b"/>
          <a:lstStyle/>
          <a:p>
            <a:pPr indent="0" marL="0">
              <a:buNone/>
            </a:pPr>
            <a:r>
              <a:rPr lang="en-US" sz="1400" b="1" dirty="0">
                <a:solidFill>
                  <a:srgbClr val="1E2761"/>
                </a:solidFill>
                <a:latin typeface="Calibri" pitchFamily="34" charset="0"/>
                <a:ea typeface="Calibri" pitchFamily="34" charset="-122"/>
                <a:cs typeface="Calibri" pitchFamily="34" charset="-120"/>
              </a:rPr>
              <a:t>Context</a:t>
            </a:r>
            <a:endParaRPr lang="en-US" sz="1400" dirty="0"/>
          </a:p>
        </p:txBody>
      </p:sp>
      <p:sp>
        <p:nvSpPr>
          <p:cNvPr id="18" name="Text 16"/>
          <p:cNvSpPr/>
          <p:nvPr/>
        </p:nvSpPr>
        <p:spPr>
          <a:xfrm>
            <a:off x="6774991" y="3794760"/>
            <a:ext cx="4913784" cy="617220"/>
          </a:xfrm>
          <a:prstGeom prst="rect">
            <a:avLst/>
          </a:prstGeom>
          <a:noFill/>
          <a:ln/>
        </p:spPr>
        <p:txBody>
          <a:bodyPr wrap="square" lIns="0" tIns="0" rIns="0" bIns="0" rtlCol="0" anchor="t">
            <a:normAutofit/>
          </a:bodyPr>
          <a:lstStyle/>
          <a:p>
            <a:pPr indent="0" marL="0">
              <a:buNone/>
            </a:pPr>
            <a:r>
              <a:rPr lang="en-US" sz="1100" dirty="0">
                <a:solidFill>
                  <a:srgbClr val="6B7280"/>
                </a:solidFill>
                <a:latin typeface="Calibri" pitchFamily="34" charset="0"/>
                <a:ea typeface="Calibri" pitchFamily="34" charset="-122"/>
                <a:cs typeface="Calibri" pitchFamily="34" charset="-120"/>
              </a:rPr>
              <a:t>What surrounds it</a:t>
            </a:r>
            <a:endParaRPr lang="en-US" sz="1100" dirty="0"/>
          </a:p>
        </p:txBody>
      </p:sp>
      <p:sp>
        <p:nvSpPr>
          <p:cNvPr id="19" name="Text 17"/>
          <p:cNvSpPr/>
          <p:nvPr/>
        </p:nvSpPr>
        <p:spPr>
          <a:xfrm>
            <a:off x="6774991" y="4453128"/>
            <a:ext cx="4913784" cy="754380"/>
          </a:xfrm>
          <a:prstGeom prst="rect">
            <a:avLst/>
          </a:prstGeom>
          <a:noFill/>
          <a:ln/>
        </p:spPr>
        <p:txBody>
          <a:bodyPr wrap="square" lIns="0" tIns="0" rIns="0" bIns="0" rtlCol="0" anchor="b"/>
          <a:lstStyle/>
          <a:p>
            <a:pPr indent="0" marL="0">
              <a:buNone/>
            </a:pPr>
            <a:r>
              <a:rPr lang="en-US" sz="1400" b="1" dirty="0">
                <a:solidFill>
                  <a:srgbClr val="1E2761"/>
                </a:solidFill>
                <a:latin typeface="Calibri" pitchFamily="34" charset="0"/>
                <a:ea typeface="Calibri" pitchFamily="34" charset="-122"/>
                <a:cs typeface="Calibri" pitchFamily="34" charset="-120"/>
              </a:rPr>
              <a:t>Prompt</a:t>
            </a:r>
            <a:endParaRPr lang="en-US" sz="1400" dirty="0"/>
          </a:p>
        </p:txBody>
      </p:sp>
      <p:sp>
        <p:nvSpPr>
          <p:cNvPr id="20" name="Text 18"/>
          <p:cNvSpPr/>
          <p:nvPr/>
        </p:nvSpPr>
        <p:spPr>
          <a:xfrm>
            <a:off x="6774991" y="5166360"/>
            <a:ext cx="4913784" cy="617220"/>
          </a:xfrm>
          <a:prstGeom prst="rect">
            <a:avLst/>
          </a:prstGeom>
          <a:noFill/>
          <a:ln/>
        </p:spPr>
        <p:txBody>
          <a:bodyPr wrap="square" lIns="0" tIns="0" rIns="0" bIns="0" rtlCol="0" anchor="t">
            <a:normAutofit/>
          </a:bodyPr>
          <a:lstStyle/>
          <a:p>
            <a:pPr indent="0" marL="0">
              <a:buNone/>
            </a:pPr>
            <a:r>
              <a:rPr lang="en-US" sz="1100" dirty="0">
                <a:solidFill>
                  <a:srgbClr val="6B7280"/>
                </a:solidFill>
                <a:latin typeface="Calibri" pitchFamily="34" charset="0"/>
                <a:ea typeface="Calibri" pitchFamily="34" charset="-122"/>
                <a:cs typeface="Calibri" pitchFamily="34" charset="-120"/>
              </a:rPr>
              <a:t>The words in your ask</a:t>
            </a:r>
            <a:endParaRPr lang="en-US" sz="1100" dirty="0"/>
          </a:p>
        </p:txBody>
      </p:sp>
      <p:sp>
        <p:nvSpPr>
          <p:cNvPr id="21" name="Text 19"/>
          <p:cNvSpPr/>
          <p:nvPr/>
        </p:nvSpPr>
        <p:spPr>
          <a:xfrm>
            <a:off x="4104943" y="356616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I2</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Putting It Together: A Real Rewrite</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The slide 2 example, narrated line by line</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From Message to Structured Data</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502920" y="1801368"/>
            <a:ext cx="11185855" cy="960120"/>
          </a:xfrm>
          <a:prstGeom prst="roundRect">
            <a:avLst>
              <a:gd name="adj" fmla="val 8571"/>
            </a:avLst>
          </a:prstGeom>
          <a:solidFill>
            <a:srgbClr val="141B45"/>
          </a:solidFill>
          <a:ln/>
          <a:effectLst>
            <a:outerShdw sx="100000" sy="100000" kx="0" ky="0" algn="bl" rotWithShape="0" blurRad="76200" dist="25400" dir="5400000">
              <a:srgbClr val="1E2761">
                <a:alpha val="16000"/>
              </a:srgbClr>
            </a:outerShdw>
          </a:effectLst>
        </p:spPr>
      </p:sp>
      <p:sp>
        <p:nvSpPr>
          <p:cNvPr id="13" name="Text 11"/>
          <p:cNvSpPr/>
          <p:nvPr/>
        </p:nvSpPr>
        <p:spPr>
          <a:xfrm>
            <a:off x="777240" y="1911096"/>
            <a:ext cx="10637215" cy="777240"/>
          </a:xfrm>
          <a:prstGeom prst="rect">
            <a:avLst/>
          </a:prstGeom>
          <a:noFill/>
          <a:ln/>
        </p:spPr>
        <p:txBody>
          <a:bodyPr wrap="square" lIns="0" tIns="0" rIns="0" bIns="0" rtlCol="0" anchor="ctr">
            <a:normAutofit/>
          </a:bodyPr>
          <a:lstStyle/>
          <a:p>
            <a:pPr indent="0" marL="0">
              <a:buNone/>
            </a:pPr>
            <a:r>
              <a:rPr lang="en-US" sz="1450" i="1" dirty="0">
                <a:solidFill>
                  <a:srgbClr val="FFFFFF"/>
                </a:solidFill>
                <a:latin typeface="Calibri" pitchFamily="34" charset="0"/>
                <a:ea typeface="Calibri" pitchFamily="34" charset="-122"/>
                <a:cs typeface="Calibri" pitchFamily="34" charset="-120"/>
              </a:rPr>
              <a:t>[DRAFT: the finalized effective prompt from Slide 2, annotated phrase by phrase]</a:t>
            </a:r>
            <a:endParaRPr lang="en-US" sz="1450" dirty="0"/>
          </a:p>
        </p:txBody>
      </p:sp>
      <p:sp>
        <p:nvSpPr>
          <p:cNvPr id="14" name="Shape 12"/>
          <p:cNvSpPr/>
          <p:nvPr/>
        </p:nvSpPr>
        <p:spPr>
          <a:xfrm>
            <a:off x="502920" y="2990088"/>
            <a:ext cx="2625014" cy="457200"/>
          </a:xfrm>
          <a:prstGeom prst="roundRect">
            <a:avLst>
              <a:gd name="adj" fmla="val 12000"/>
            </a:avLst>
          </a:prstGeom>
          <a:solidFill>
            <a:srgbClr val="1E2761"/>
          </a:solidFill>
          <a:ln/>
        </p:spPr>
      </p:sp>
      <p:sp>
        <p:nvSpPr>
          <p:cNvPr id="15" name="Text 13"/>
          <p:cNvSpPr/>
          <p:nvPr/>
        </p:nvSpPr>
        <p:spPr>
          <a:xfrm>
            <a:off x="502920" y="2990088"/>
            <a:ext cx="2625014"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Role</a:t>
            </a:r>
            <a:endParaRPr lang="en-US" sz="1250" dirty="0"/>
          </a:p>
        </p:txBody>
      </p:sp>
      <p:sp>
        <p:nvSpPr>
          <p:cNvPr id="16" name="Text 14"/>
          <p:cNvSpPr/>
          <p:nvPr/>
        </p:nvSpPr>
        <p:spPr>
          <a:xfrm>
            <a:off x="502920" y="3520440"/>
            <a:ext cx="2625014" cy="201168"/>
          </a:xfrm>
          <a:prstGeom prst="rect">
            <a:avLst/>
          </a:prstGeom>
          <a:noFill/>
          <a:ln/>
        </p:spPr>
        <p:txBody>
          <a:bodyPr wrap="square" lIns="0" tIns="0" rIns="0" bIns="0" rtlCol="0" anchor="t">
            <a:normAutofit/>
          </a:bodyPr>
          <a:lstStyle/>
          <a:p>
            <a:pPr algn="ctr" indent="0" marL="0">
              <a:buNone/>
            </a:pPr>
            <a:r>
              <a:rPr lang="en-US" sz="1050" i="1" dirty="0">
                <a:solidFill>
                  <a:srgbClr val="1A1F36"/>
                </a:solidFill>
                <a:latin typeface="Calibri" pitchFamily="34" charset="0"/>
                <a:ea typeface="Calibri" pitchFamily="34" charset="-122"/>
                <a:cs typeface="Calibri" pitchFamily="34" charset="-120"/>
              </a:rPr>
              <a:t>"draft"</a:t>
            </a:r>
            <a:endParaRPr lang="en-US" sz="1050" dirty="0"/>
          </a:p>
        </p:txBody>
      </p:sp>
      <p:sp>
        <p:nvSpPr>
          <p:cNvPr id="17" name="Shape 15"/>
          <p:cNvSpPr/>
          <p:nvPr/>
        </p:nvSpPr>
        <p:spPr>
          <a:xfrm>
            <a:off x="3356534" y="2990088"/>
            <a:ext cx="2625014" cy="457200"/>
          </a:xfrm>
          <a:prstGeom prst="roundRect">
            <a:avLst>
              <a:gd name="adj" fmla="val 12000"/>
            </a:avLst>
          </a:prstGeom>
          <a:solidFill>
            <a:srgbClr val="48587A"/>
          </a:solidFill>
          <a:ln/>
        </p:spPr>
      </p:sp>
      <p:sp>
        <p:nvSpPr>
          <p:cNvPr id="18" name="Text 16"/>
          <p:cNvSpPr/>
          <p:nvPr/>
        </p:nvSpPr>
        <p:spPr>
          <a:xfrm>
            <a:off x="3356534" y="2990088"/>
            <a:ext cx="2625014"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Task</a:t>
            </a:r>
            <a:endParaRPr lang="en-US" sz="1250" dirty="0"/>
          </a:p>
        </p:txBody>
      </p:sp>
      <p:sp>
        <p:nvSpPr>
          <p:cNvPr id="19" name="Text 17"/>
          <p:cNvSpPr/>
          <p:nvPr/>
        </p:nvSpPr>
        <p:spPr>
          <a:xfrm>
            <a:off x="3356534" y="3520440"/>
            <a:ext cx="2625014" cy="201168"/>
          </a:xfrm>
          <a:prstGeom prst="rect">
            <a:avLst/>
          </a:prstGeom>
          <a:noFill/>
          <a:ln/>
        </p:spPr>
        <p:txBody>
          <a:bodyPr wrap="square" lIns="0" tIns="0" rIns="0" bIns="0" rtlCol="0" anchor="t">
            <a:normAutofit/>
          </a:bodyPr>
          <a:lstStyle/>
          <a:p>
            <a:pPr algn="ctr" indent="0" marL="0">
              <a:buNone/>
            </a:pPr>
            <a:r>
              <a:rPr lang="en-US" sz="1050" i="1" dirty="0">
                <a:solidFill>
                  <a:srgbClr val="1A1F36"/>
                </a:solidFill>
                <a:latin typeface="Calibri" pitchFamily="34" charset="0"/>
                <a:ea typeface="Calibri" pitchFamily="34" charset="-122"/>
                <a:cs typeface="Calibri" pitchFamily="34" charset="-120"/>
              </a:rPr>
              <a:t>"draft"</a:t>
            </a:r>
            <a:endParaRPr lang="en-US" sz="1050" dirty="0"/>
          </a:p>
        </p:txBody>
      </p:sp>
      <p:sp>
        <p:nvSpPr>
          <p:cNvPr id="20" name="Shape 18"/>
          <p:cNvSpPr/>
          <p:nvPr/>
        </p:nvSpPr>
        <p:spPr>
          <a:xfrm>
            <a:off x="6210148" y="2990088"/>
            <a:ext cx="2625014" cy="457200"/>
          </a:xfrm>
          <a:prstGeom prst="roundRect">
            <a:avLst>
              <a:gd name="adj" fmla="val 12000"/>
            </a:avLst>
          </a:prstGeom>
          <a:solidFill>
            <a:srgbClr val="E8A33D"/>
          </a:solidFill>
          <a:ln/>
        </p:spPr>
      </p:sp>
      <p:sp>
        <p:nvSpPr>
          <p:cNvPr id="21" name="Text 19"/>
          <p:cNvSpPr/>
          <p:nvPr/>
        </p:nvSpPr>
        <p:spPr>
          <a:xfrm>
            <a:off x="6210148" y="2990088"/>
            <a:ext cx="2625014" cy="457200"/>
          </a:xfrm>
          <a:prstGeom prst="rect">
            <a:avLst/>
          </a:prstGeom>
          <a:noFill/>
          <a:ln/>
        </p:spPr>
        <p:txBody>
          <a:bodyPr wrap="square" lIns="0" tIns="0" rIns="0" bIns="0" rtlCol="0" anchor="ctr"/>
          <a:lstStyle/>
          <a:p>
            <a:pPr algn="ctr" indent="0" marL="0">
              <a:buNone/>
            </a:pPr>
            <a:r>
              <a:rPr lang="en-US" sz="1250" b="1" dirty="0">
                <a:solidFill>
                  <a:srgbClr val="141B45"/>
                </a:solidFill>
                <a:latin typeface="Calibri" pitchFamily="34" charset="0"/>
                <a:ea typeface="Calibri" pitchFamily="34" charset="-122"/>
                <a:cs typeface="Calibri" pitchFamily="34" charset="-120"/>
              </a:rPr>
              <a:t>Format</a:t>
            </a:r>
            <a:endParaRPr lang="en-US" sz="1250" dirty="0"/>
          </a:p>
        </p:txBody>
      </p:sp>
      <p:sp>
        <p:nvSpPr>
          <p:cNvPr id="22" name="Text 20"/>
          <p:cNvSpPr/>
          <p:nvPr/>
        </p:nvSpPr>
        <p:spPr>
          <a:xfrm>
            <a:off x="6210148" y="3520440"/>
            <a:ext cx="2625014" cy="201168"/>
          </a:xfrm>
          <a:prstGeom prst="rect">
            <a:avLst/>
          </a:prstGeom>
          <a:noFill/>
          <a:ln/>
        </p:spPr>
        <p:txBody>
          <a:bodyPr wrap="square" lIns="0" tIns="0" rIns="0" bIns="0" rtlCol="0" anchor="t">
            <a:normAutofit/>
          </a:bodyPr>
          <a:lstStyle/>
          <a:p>
            <a:pPr algn="ctr" indent="0" marL="0">
              <a:buNone/>
            </a:pPr>
            <a:r>
              <a:rPr lang="en-US" sz="1050" i="1" dirty="0">
                <a:solidFill>
                  <a:srgbClr val="1A1F36"/>
                </a:solidFill>
                <a:latin typeface="Calibri" pitchFamily="34" charset="0"/>
                <a:ea typeface="Calibri" pitchFamily="34" charset="-122"/>
                <a:cs typeface="Calibri" pitchFamily="34" charset="-120"/>
              </a:rPr>
              <a:t>"draft"</a:t>
            </a:r>
            <a:endParaRPr lang="en-US" sz="1050" dirty="0"/>
          </a:p>
        </p:txBody>
      </p:sp>
      <p:sp>
        <p:nvSpPr>
          <p:cNvPr id="23" name="Shape 21"/>
          <p:cNvSpPr/>
          <p:nvPr/>
        </p:nvSpPr>
        <p:spPr>
          <a:xfrm>
            <a:off x="9063761" y="2990088"/>
            <a:ext cx="2625014" cy="457200"/>
          </a:xfrm>
          <a:prstGeom prst="roundRect">
            <a:avLst>
              <a:gd name="adj" fmla="val 12000"/>
            </a:avLst>
          </a:prstGeom>
          <a:solidFill>
            <a:srgbClr val="236972"/>
          </a:solidFill>
          <a:ln/>
        </p:spPr>
      </p:sp>
      <p:sp>
        <p:nvSpPr>
          <p:cNvPr id="24" name="Text 22"/>
          <p:cNvSpPr/>
          <p:nvPr/>
        </p:nvSpPr>
        <p:spPr>
          <a:xfrm>
            <a:off x="9063761" y="2990088"/>
            <a:ext cx="2625014"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Constraint</a:t>
            </a:r>
            <a:endParaRPr lang="en-US" sz="1250" dirty="0"/>
          </a:p>
        </p:txBody>
      </p:sp>
      <p:sp>
        <p:nvSpPr>
          <p:cNvPr id="25" name="Text 23"/>
          <p:cNvSpPr/>
          <p:nvPr/>
        </p:nvSpPr>
        <p:spPr>
          <a:xfrm>
            <a:off x="9063761" y="3520440"/>
            <a:ext cx="2625014" cy="201168"/>
          </a:xfrm>
          <a:prstGeom prst="rect">
            <a:avLst/>
          </a:prstGeom>
          <a:noFill/>
          <a:ln/>
        </p:spPr>
        <p:txBody>
          <a:bodyPr wrap="square" lIns="0" tIns="0" rIns="0" bIns="0" rtlCol="0" anchor="t">
            <a:normAutofit/>
          </a:bodyPr>
          <a:lstStyle/>
          <a:p>
            <a:pPr algn="ctr" indent="0" marL="0">
              <a:buNone/>
            </a:pPr>
            <a:r>
              <a:rPr lang="en-US" sz="1050" i="1" dirty="0">
                <a:solidFill>
                  <a:srgbClr val="1A1F36"/>
                </a:solidFill>
                <a:latin typeface="Calibri" pitchFamily="34" charset="0"/>
                <a:ea typeface="Calibri" pitchFamily="34" charset="-122"/>
                <a:cs typeface="Calibri" pitchFamily="34" charset="-120"/>
              </a:rPr>
              <a:t>"draft"</a:t>
            </a:r>
            <a:endParaRPr lang="en-US" sz="1050" dirty="0"/>
          </a:p>
        </p:txBody>
      </p:sp>
      <p:sp>
        <p:nvSpPr>
          <p:cNvPr id="26" name="Shape 24"/>
          <p:cNvSpPr/>
          <p:nvPr/>
        </p:nvSpPr>
        <p:spPr>
          <a:xfrm>
            <a:off x="502920" y="5276088"/>
            <a:ext cx="11185855" cy="594360"/>
          </a:xfrm>
          <a:prstGeom prst="roundRect">
            <a:avLst>
              <a:gd name="adj" fmla="val 13846"/>
            </a:avLst>
          </a:prstGeom>
          <a:solidFill>
            <a:srgbClr val="FFF4E0"/>
          </a:solidFill>
          <a:ln/>
        </p:spPr>
      </p:sp>
      <p:sp>
        <p:nvSpPr>
          <p:cNvPr id="27" name="Shape 25"/>
          <p:cNvSpPr/>
          <p:nvPr/>
        </p:nvSpPr>
        <p:spPr>
          <a:xfrm>
            <a:off x="502920" y="5276088"/>
            <a:ext cx="82296" cy="594360"/>
          </a:xfrm>
          <a:prstGeom prst="roundRect">
            <a:avLst/>
          </a:prstGeom>
          <a:solidFill>
            <a:srgbClr val="E8A33D"/>
          </a:solidFill>
          <a:ln/>
        </p:spPr>
      </p:sp>
      <p:sp>
        <p:nvSpPr>
          <p:cNvPr id="28" name="Text 26"/>
          <p:cNvSpPr/>
          <p:nvPr/>
        </p:nvSpPr>
        <p:spPr>
          <a:xfrm>
            <a:off x="758952" y="5367528"/>
            <a:ext cx="10728655" cy="411480"/>
          </a:xfrm>
          <a:prstGeom prst="rect">
            <a:avLst/>
          </a:prstGeom>
          <a:noFill/>
          <a:ln/>
        </p:spPr>
        <p:txBody>
          <a:bodyPr wrap="square" lIns="0" tIns="0" rIns="0" bIns="0" rtlCol="0" anchor="ctr">
            <a:normAutofit/>
          </a:bodyPr>
          <a:lstStyle/>
          <a:p>
            <a:pPr indent="0" marL="0">
              <a:buNone/>
            </a:pPr>
            <a:r>
              <a:rPr lang="en-US" sz="1250" b="1" i="1" dirty="0">
                <a:solidFill>
                  <a:srgbClr val="B8720A"/>
                </a:solidFill>
                <a:latin typeface="Calibri" pitchFamily="34" charset="0"/>
                <a:ea typeface="Calibri" pitchFamily="34" charset="-122"/>
                <a:cs typeface="Calibri" pitchFamily="34" charset="-120"/>
              </a:rPr>
              <a:t>[DRAFT] </a:t>
            </a:r>
            <a:pPr indent="0" marL="0">
              <a:buNone/>
            </a:pPr>
            <a:r>
              <a:rPr lang="en-US" sz="1250" i="1" dirty="0">
                <a:solidFill>
                  <a:srgbClr val="5C4400"/>
                </a:solidFill>
                <a:latin typeface="Calibri" pitchFamily="34" charset="0"/>
                <a:ea typeface="Calibri" pitchFamily="34" charset="-122"/>
                <a:cs typeface="Calibri" pitchFamily="34" charset="-120"/>
              </a:rPr>
              <a:t>depends entirely on slide 2's finalized example; do not build this slide until that one is locked.</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I2</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A Checklist for Effective AI Studio Prompts</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Role · Task · Format · Constraints</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From Message to Structured Data</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502920" y="1709928"/>
            <a:ext cx="11185855" cy="4114800"/>
          </a:xfrm>
          <a:prstGeom prst="roundRect">
            <a:avLst>
              <a:gd name="adj" fmla="val 2000"/>
            </a:avLst>
          </a:prstGeom>
          <a:solidFill>
            <a:srgbClr val="F4F6FB"/>
          </a:solidFill>
          <a:ln/>
          <a:effectLst>
            <a:outerShdw sx="100000" sy="100000" kx="0" ky="0" algn="bl" rotWithShape="0" blurRad="76200" dist="25400" dir="5400000">
              <a:srgbClr val="1E2761">
                <a:alpha val="16000"/>
              </a:srgbClr>
            </a:outerShdw>
          </a:effectLst>
        </p:spPr>
      </p:sp>
      <p:sp>
        <p:nvSpPr>
          <p:cNvPr id="13" name="Shape 11"/>
          <p:cNvSpPr/>
          <p:nvPr/>
        </p:nvSpPr>
        <p:spPr>
          <a:xfrm>
            <a:off x="822960" y="2217420"/>
            <a:ext cx="384048" cy="384048"/>
          </a:xfrm>
          <a:prstGeom prst="ellipse">
            <a:avLst/>
          </a:prstGeom>
          <a:solidFill>
            <a:srgbClr val="1E2761"/>
          </a:solidFill>
          <a:ln/>
        </p:spPr>
      </p:sp>
      <p:sp>
        <p:nvSpPr>
          <p:cNvPr id="14" name="Text 12"/>
          <p:cNvSpPr/>
          <p:nvPr/>
        </p:nvSpPr>
        <p:spPr>
          <a:xfrm>
            <a:off x="822960" y="2217420"/>
            <a:ext cx="384048" cy="384048"/>
          </a:xfrm>
          <a:prstGeom prst="rect">
            <a:avLst/>
          </a:prstGeom>
          <a:noFill/>
          <a:ln/>
        </p:spPr>
        <p:txBody>
          <a:bodyPr wrap="square" lIns="0" tIns="0" rIns="0" bIns="0" rtlCol="0" anchor="ctr"/>
          <a:lstStyle/>
          <a:p>
            <a:pPr algn="ctr" indent="0" marL="0">
              <a:buNone/>
            </a:pPr>
            <a:r>
              <a:rPr lang="en-US" sz="1300" b="1" dirty="0">
                <a:solidFill>
                  <a:srgbClr val="E8A33D"/>
                </a:solidFill>
                <a:latin typeface="Cambria" pitchFamily="34" charset="0"/>
                <a:ea typeface="Cambria" pitchFamily="34" charset="-122"/>
                <a:cs typeface="Cambria" pitchFamily="34" charset="-120"/>
              </a:rPr>
              <a:t>1</a:t>
            </a:r>
            <a:endParaRPr lang="en-US" sz="1300" dirty="0"/>
          </a:p>
        </p:txBody>
      </p:sp>
      <p:sp>
        <p:nvSpPr>
          <p:cNvPr id="15" name="Text 13"/>
          <p:cNvSpPr/>
          <p:nvPr/>
        </p:nvSpPr>
        <p:spPr>
          <a:xfrm>
            <a:off x="1353312" y="2002536"/>
            <a:ext cx="9869119" cy="477774"/>
          </a:xfrm>
          <a:prstGeom prst="rect">
            <a:avLst/>
          </a:prstGeom>
          <a:noFill/>
          <a:ln/>
        </p:spPr>
        <p:txBody>
          <a:bodyPr wrap="square" lIns="0" tIns="0" rIns="0" bIns="0" rtlCol="0" anchor="b">
            <a:normAutofit/>
          </a:bodyPr>
          <a:lstStyle/>
          <a:p>
            <a:pPr indent="0" marL="0">
              <a:buNone/>
            </a:pPr>
            <a:r>
              <a:rPr lang="en-US" sz="1300" b="1" dirty="0">
                <a:solidFill>
                  <a:srgbClr val="1A1F36"/>
                </a:solidFill>
                <a:latin typeface="Calibri" pitchFamily="34" charset="0"/>
                <a:ea typeface="Calibri" pitchFamily="34" charset="-122"/>
                <a:cs typeface="Calibri" pitchFamily="34" charset="-120"/>
              </a:rPr>
              <a:t>Role</a:t>
            </a:r>
            <a:endParaRPr lang="en-US" sz="1300" dirty="0"/>
          </a:p>
        </p:txBody>
      </p:sp>
      <p:sp>
        <p:nvSpPr>
          <p:cNvPr id="16" name="Text 14"/>
          <p:cNvSpPr/>
          <p:nvPr/>
        </p:nvSpPr>
        <p:spPr>
          <a:xfrm>
            <a:off x="1353312" y="2481682"/>
            <a:ext cx="9869119" cy="399593"/>
          </a:xfrm>
          <a:prstGeom prst="rect">
            <a:avLst/>
          </a:prstGeom>
          <a:noFill/>
          <a:ln/>
        </p:spPr>
        <p:txBody>
          <a:bodyPr wrap="square" lIns="0" tIns="0" rIns="0" bIns="0" rtlCol="0" anchor="t">
            <a:normAutofit/>
          </a:bodyPr>
          <a:lstStyle/>
          <a:p>
            <a:pPr indent="0" marL="0">
              <a:buNone/>
            </a:pPr>
            <a:r>
              <a:rPr lang="en-US" sz="1050" dirty="0">
                <a:solidFill>
                  <a:srgbClr val="6B7280"/>
                </a:solidFill>
                <a:latin typeface="Calibri" pitchFamily="34" charset="0"/>
                <a:ea typeface="Calibri" pitchFamily="34" charset="-122"/>
                <a:cs typeface="Calibri" pitchFamily="34" charset="-120"/>
              </a:rPr>
              <a:t>"As a [role]..."</a:t>
            </a:r>
            <a:endParaRPr lang="en-US" sz="1050" dirty="0"/>
          </a:p>
        </p:txBody>
      </p:sp>
      <p:sp>
        <p:nvSpPr>
          <p:cNvPr id="17" name="Shape 15"/>
          <p:cNvSpPr/>
          <p:nvPr/>
        </p:nvSpPr>
        <p:spPr>
          <a:xfrm>
            <a:off x="822960" y="3086100"/>
            <a:ext cx="384048" cy="384048"/>
          </a:xfrm>
          <a:prstGeom prst="ellipse">
            <a:avLst/>
          </a:prstGeom>
          <a:solidFill>
            <a:srgbClr val="1E2761"/>
          </a:solidFill>
          <a:ln/>
        </p:spPr>
      </p:sp>
      <p:sp>
        <p:nvSpPr>
          <p:cNvPr id="18" name="Text 16"/>
          <p:cNvSpPr/>
          <p:nvPr/>
        </p:nvSpPr>
        <p:spPr>
          <a:xfrm>
            <a:off x="822960" y="3086100"/>
            <a:ext cx="384048" cy="384048"/>
          </a:xfrm>
          <a:prstGeom prst="rect">
            <a:avLst/>
          </a:prstGeom>
          <a:noFill/>
          <a:ln/>
        </p:spPr>
        <p:txBody>
          <a:bodyPr wrap="square" lIns="0" tIns="0" rIns="0" bIns="0" rtlCol="0" anchor="ctr"/>
          <a:lstStyle/>
          <a:p>
            <a:pPr algn="ctr" indent="0" marL="0">
              <a:buNone/>
            </a:pPr>
            <a:r>
              <a:rPr lang="en-US" sz="1300" b="1" dirty="0">
                <a:solidFill>
                  <a:srgbClr val="E8A33D"/>
                </a:solidFill>
                <a:latin typeface="Cambria" pitchFamily="34" charset="0"/>
                <a:ea typeface="Cambria" pitchFamily="34" charset="-122"/>
                <a:cs typeface="Cambria" pitchFamily="34" charset="-120"/>
              </a:rPr>
              <a:t>2</a:t>
            </a:r>
            <a:endParaRPr lang="en-US" sz="1300" dirty="0"/>
          </a:p>
        </p:txBody>
      </p:sp>
      <p:sp>
        <p:nvSpPr>
          <p:cNvPr id="19" name="Text 17"/>
          <p:cNvSpPr/>
          <p:nvPr/>
        </p:nvSpPr>
        <p:spPr>
          <a:xfrm>
            <a:off x="1353312" y="2871216"/>
            <a:ext cx="9869119" cy="477774"/>
          </a:xfrm>
          <a:prstGeom prst="rect">
            <a:avLst/>
          </a:prstGeom>
          <a:noFill/>
          <a:ln/>
        </p:spPr>
        <p:txBody>
          <a:bodyPr wrap="square" lIns="0" tIns="0" rIns="0" bIns="0" rtlCol="0" anchor="b">
            <a:normAutofit/>
          </a:bodyPr>
          <a:lstStyle/>
          <a:p>
            <a:pPr indent="0" marL="0">
              <a:buNone/>
            </a:pPr>
            <a:r>
              <a:rPr lang="en-US" sz="1300" b="1" dirty="0">
                <a:solidFill>
                  <a:srgbClr val="1A1F36"/>
                </a:solidFill>
                <a:latin typeface="Calibri" pitchFamily="34" charset="0"/>
                <a:ea typeface="Calibri" pitchFamily="34" charset="-122"/>
                <a:cs typeface="Calibri" pitchFamily="34" charset="-120"/>
              </a:rPr>
              <a:t>Task</a:t>
            </a:r>
            <a:endParaRPr lang="en-US" sz="1300" dirty="0"/>
          </a:p>
        </p:txBody>
      </p:sp>
      <p:sp>
        <p:nvSpPr>
          <p:cNvPr id="20" name="Text 18"/>
          <p:cNvSpPr/>
          <p:nvPr/>
        </p:nvSpPr>
        <p:spPr>
          <a:xfrm>
            <a:off x="1353312" y="3350362"/>
            <a:ext cx="9869119" cy="399593"/>
          </a:xfrm>
          <a:prstGeom prst="rect">
            <a:avLst/>
          </a:prstGeom>
          <a:noFill/>
          <a:ln/>
        </p:spPr>
        <p:txBody>
          <a:bodyPr wrap="square" lIns="0" tIns="0" rIns="0" bIns="0" rtlCol="0" anchor="t">
            <a:normAutofit/>
          </a:bodyPr>
          <a:lstStyle/>
          <a:p>
            <a:pPr indent="0" marL="0">
              <a:buNone/>
            </a:pPr>
            <a:r>
              <a:rPr lang="en-US" sz="1050" dirty="0">
                <a:solidFill>
                  <a:srgbClr val="6B7280"/>
                </a:solidFill>
                <a:latin typeface="Calibri" pitchFamily="34" charset="0"/>
                <a:ea typeface="Calibri" pitchFamily="34" charset="-122"/>
                <a:cs typeface="Calibri" pitchFamily="34" charset="-120"/>
              </a:rPr>
              <a:t>A specific verb: summarize, compare, flag, extract</a:t>
            </a:r>
            <a:endParaRPr lang="en-US" sz="1050" dirty="0"/>
          </a:p>
        </p:txBody>
      </p:sp>
      <p:sp>
        <p:nvSpPr>
          <p:cNvPr id="21" name="Shape 19"/>
          <p:cNvSpPr/>
          <p:nvPr/>
        </p:nvSpPr>
        <p:spPr>
          <a:xfrm>
            <a:off x="822960" y="3954780"/>
            <a:ext cx="384048" cy="384048"/>
          </a:xfrm>
          <a:prstGeom prst="ellipse">
            <a:avLst/>
          </a:prstGeom>
          <a:solidFill>
            <a:srgbClr val="1E2761"/>
          </a:solidFill>
          <a:ln/>
        </p:spPr>
      </p:sp>
      <p:sp>
        <p:nvSpPr>
          <p:cNvPr id="22" name="Text 20"/>
          <p:cNvSpPr/>
          <p:nvPr/>
        </p:nvSpPr>
        <p:spPr>
          <a:xfrm>
            <a:off x="822960" y="3954780"/>
            <a:ext cx="384048" cy="384048"/>
          </a:xfrm>
          <a:prstGeom prst="rect">
            <a:avLst/>
          </a:prstGeom>
          <a:noFill/>
          <a:ln/>
        </p:spPr>
        <p:txBody>
          <a:bodyPr wrap="square" lIns="0" tIns="0" rIns="0" bIns="0" rtlCol="0" anchor="ctr"/>
          <a:lstStyle/>
          <a:p>
            <a:pPr algn="ctr" indent="0" marL="0">
              <a:buNone/>
            </a:pPr>
            <a:r>
              <a:rPr lang="en-US" sz="1300" b="1" dirty="0">
                <a:solidFill>
                  <a:srgbClr val="E8A33D"/>
                </a:solidFill>
                <a:latin typeface="Cambria" pitchFamily="34" charset="0"/>
                <a:ea typeface="Cambria" pitchFamily="34" charset="-122"/>
                <a:cs typeface="Cambria" pitchFamily="34" charset="-120"/>
              </a:rPr>
              <a:t>3</a:t>
            </a:r>
            <a:endParaRPr lang="en-US" sz="1300" dirty="0"/>
          </a:p>
        </p:txBody>
      </p:sp>
      <p:sp>
        <p:nvSpPr>
          <p:cNvPr id="23" name="Text 21"/>
          <p:cNvSpPr/>
          <p:nvPr/>
        </p:nvSpPr>
        <p:spPr>
          <a:xfrm>
            <a:off x="1353312" y="3739896"/>
            <a:ext cx="9869119" cy="477774"/>
          </a:xfrm>
          <a:prstGeom prst="rect">
            <a:avLst/>
          </a:prstGeom>
          <a:noFill/>
          <a:ln/>
        </p:spPr>
        <p:txBody>
          <a:bodyPr wrap="square" lIns="0" tIns="0" rIns="0" bIns="0" rtlCol="0" anchor="b">
            <a:normAutofit/>
          </a:bodyPr>
          <a:lstStyle/>
          <a:p>
            <a:pPr indent="0" marL="0">
              <a:buNone/>
            </a:pPr>
            <a:r>
              <a:rPr lang="en-US" sz="1300" b="1" dirty="0">
                <a:solidFill>
                  <a:srgbClr val="1A1F36"/>
                </a:solidFill>
                <a:latin typeface="Calibri" pitchFamily="34" charset="0"/>
                <a:ea typeface="Calibri" pitchFamily="34" charset="-122"/>
                <a:cs typeface="Calibri" pitchFamily="34" charset="-120"/>
              </a:rPr>
              <a:t>Format</a:t>
            </a:r>
            <a:endParaRPr lang="en-US" sz="1300" dirty="0"/>
          </a:p>
        </p:txBody>
      </p:sp>
      <p:sp>
        <p:nvSpPr>
          <p:cNvPr id="24" name="Text 22"/>
          <p:cNvSpPr/>
          <p:nvPr/>
        </p:nvSpPr>
        <p:spPr>
          <a:xfrm>
            <a:off x="1353312" y="4219042"/>
            <a:ext cx="9869119" cy="399593"/>
          </a:xfrm>
          <a:prstGeom prst="rect">
            <a:avLst/>
          </a:prstGeom>
          <a:noFill/>
          <a:ln/>
        </p:spPr>
        <p:txBody>
          <a:bodyPr wrap="square" lIns="0" tIns="0" rIns="0" bIns="0" rtlCol="0" anchor="t">
            <a:normAutofit/>
          </a:bodyPr>
          <a:lstStyle/>
          <a:p>
            <a:pPr indent="0" marL="0">
              <a:buNone/>
            </a:pPr>
            <a:r>
              <a:rPr lang="en-US" sz="1050" dirty="0">
                <a:solidFill>
                  <a:srgbClr val="6B7280"/>
                </a:solidFill>
                <a:latin typeface="Calibri" pitchFamily="34" charset="0"/>
                <a:ea typeface="Calibri" pitchFamily="34" charset="-122"/>
                <a:cs typeface="Calibri" pitchFamily="34" charset="-120"/>
              </a:rPr>
              <a:t>"as a table/chart/list of exactly N items"</a:t>
            </a:r>
            <a:endParaRPr lang="en-US" sz="1050" dirty="0"/>
          </a:p>
        </p:txBody>
      </p:sp>
      <p:sp>
        <p:nvSpPr>
          <p:cNvPr id="25" name="Shape 23"/>
          <p:cNvSpPr/>
          <p:nvPr/>
        </p:nvSpPr>
        <p:spPr>
          <a:xfrm>
            <a:off x="822960" y="4823460"/>
            <a:ext cx="384048" cy="384048"/>
          </a:xfrm>
          <a:prstGeom prst="ellipse">
            <a:avLst/>
          </a:prstGeom>
          <a:solidFill>
            <a:srgbClr val="1E2761"/>
          </a:solidFill>
          <a:ln/>
        </p:spPr>
      </p:sp>
      <p:sp>
        <p:nvSpPr>
          <p:cNvPr id="26" name="Text 24"/>
          <p:cNvSpPr/>
          <p:nvPr/>
        </p:nvSpPr>
        <p:spPr>
          <a:xfrm>
            <a:off x="822960" y="4823460"/>
            <a:ext cx="384048" cy="384048"/>
          </a:xfrm>
          <a:prstGeom prst="rect">
            <a:avLst/>
          </a:prstGeom>
          <a:noFill/>
          <a:ln/>
        </p:spPr>
        <p:txBody>
          <a:bodyPr wrap="square" lIns="0" tIns="0" rIns="0" bIns="0" rtlCol="0" anchor="ctr"/>
          <a:lstStyle/>
          <a:p>
            <a:pPr algn="ctr" indent="0" marL="0">
              <a:buNone/>
            </a:pPr>
            <a:r>
              <a:rPr lang="en-US" sz="1300" b="1" dirty="0">
                <a:solidFill>
                  <a:srgbClr val="E8A33D"/>
                </a:solidFill>
                <a:latin typeface="Cambria" pitchFamily="34" charset="0"/>
                <a:ea typeface="Cambria" pitchFamily="34" charset="-122"/>
                <a:cs typeface="Cambria" pitchFamily="34" charset="-120"/>
              </a:rPr>
              <a:t>4</a:t>
            </a:r>
            <a:endParaRPr lang="en-US" sz="1300" dirty="0"/>
          </a:p>
        </p:txBody>
      </p:sp>
      <p:sp>
        <p:nvSpPr>
          <p:cNvPr id="27" name="Text 25"/>
          <p:cNvSpPr/>
          <p:nvPr/>
        </p:nvSpPr>
        <p:spPr>
          <a:xfrm>
            <a:off x="1353312" y="4608576"/>
            <a:ext cx="9869119" cy="477774"/>
          </a:xfrm>
          <a:prstGeom prst="rect">
            <a:avLst/>
          </a:prstGeom>
          <a:noFill/>
          <a:ln/>
        </p:spPr>
        <p:txBody>
          <a:bodyPr wrap="square" lIns="0" tIns="0" rIns="0" bIns="0" rtlCol="0" anchor="b">
            <a:normAutofit/>
          </a:bodyPr>
          <a:lstStyle/>
          <a:p>
            <a:pPr indent="0" marL="0">
              <a:buNone/>
            </a:pPr>
            <a:r>
              <a:rPr lang="en-US" sz="1300" b="1" dirty="0">
                <a:solidFill>
                  <a:srgbClr val="1A1F36"/>
                </a:solidFill>
                <a:latin typeface="Calibri" pitchFamily="34" charset="0"/>
                <a:ea typeface="Calibri" pitchFamily="34" charset="-122"/>
                <a:cs typeface="Calibri" pitchFamily="34" charset="-120"/>
              </a:rPr>
              <a:t>Constraints</a:t>
            </a:r>
            <a:endParaRPr lang="en-US" sz="1300" dirty="0"/>
          </a:p>
        </p:txBody>
      </p:sp>
      <p:sp>
        <p:nvSpPr>
          <p:cNvPr id="28" name="Text 26"/>
          <p:cNvSpPr/>
          <p:nvPr/>
        </p:nvSpPr>
        <p:spPr>
          <a:xfrm>
            <a:off x="1353312" y="5087722"/>
            <a:ext cx="9869119" cy="399593"/>
          </a:xfrm>
          <a:prstGeom prst="rect">
            <a:avLst/>
          </a:prstGeom>
          <a:noFill/>
          <a:ln/>
        </p:spPr>
        <p:txBody>
          <a:bodyPr wrap="square" lIns="0" tIns="0" rIns="0" bIns="0" rtlCol="0" anchor="t">
            <a:normAutofit/>
          </a:bodyPr>
          <a:lstStyle/>
          <a:p>
            <a:pPr indent="0" marL="0">
              <a:buNone/>
            </a:pPr>
            <a:r>
              <a:rPr lang="en-US" sz="1050" dirty="0">
                <a:solidFill>
                  <a:srgbClr val="6B7280"/>
                </a:solidFill>
                <a:latin typeface="Calibri" pitchFamily="34" charset="0"/>
                <a:ea typeface="Calibri" pitchFamily="34" charset="-122"/>
                <a:cs typeface="Calibri" pitchFamily="34" charset="-120"/>
              </a:rPr>
              <a:t>"excluding...", "using only...", "in under N words"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I3</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Follow-Ups Aren't Restarts</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How multi-turn context carries forward</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From Message to Structured Data</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1916125" y="1984248"/>
            <a:ext cx="658368" cy="658368"/>
          </a:xfrm>
          <a:prstGeom prst="ellipse">
            <a:avLst/>
          </a:prstGeom>
          <a:solidFill>
            <a:srgbClr val="1E2761"/>
          </a:solidFill>
          <a:ln/>
        </p:spPr>
      </p:sp>
      <p:pic>
        <p:nvPicPr>
          <p:cNvPr id="13" name="Image 0" descr="/private/tmp/claude-501/-Users-sai-Work-Office-Teaching/ee8695eb-a8ef-409d-a9ba-c09e44dd9ced/scratchpad/pptx-build/assets/icons/FaComments.png">    </p:cNvPr>
          <p:cNvPicPr>
            <a:picLocks noChangeAspect="1"/>
          </p:cNvPicPr>
          <p:nvPr/>
        </p:nvPicPr>
        <p:blipFill>
          <a:blip r:embed="rId1"/>
          <a:stretch>
            <a:fillRect/>
          </a:stretch>
        </p:blipFill>
        <p:spPr>
          <a:xfrm>
            <a:off x="2074134" y="2142256"/>
            <a:ext cx="342351" cy="342351"/>
          </a:xfrm>
          <a:prstGeom prst="rect">
            <a:avLst/>
          </a:prstGeom>
        </p:spPr>
      </p:pic>
      <p:sp>
        <p:nvSpPr>
          <p:cNvPr id="14" name="Text 11"/>
          <p:cNvSpPr/>
          <p:nvPr/>
        </p:nvSpPr>
        <p:spPr>
          <a:xfrm>
            <a:off x="502920" y="2770632"/>
            <a:ext cx="3484778" cy="502920"/>
          </a:xfrm>
          <a:prstGeom prst="rect">
            <a:avLst/>
          </a:prstGeom>
          <a:noFill/>
          <a:ln/>
        </p:spPr>
        <p:txBody>
          <a:bodyPr wrap="square" lIns="0" tIns="0" rIns="0" bIns="0" rtlCol="0" anchor="t">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Turn 1</a:t>
            </a:r>
            <a:endParaRPr lang="en-US" sz="1250" dirty="0"/>
          </a:p>
        </p:txBody>
      </p:sp>
      <p:sp>
        <p:nvSpPr>
          <p:cNvPr id="15" name="Text 12"/>
          <p:cNvSpPr/>
          <p:nvPr/>
        </p:nvSpPr>
        <p:spPr>
          <a:xfrm>
            <a:off x="502920" y="3209544"/>
            <a:ext cx="3484778" cy="603504"/>
          </a:xfrm>
          <a:prstGeom prst="rect">
            <a:avLst/>
          </a:prstGeom>
          <a:noFill/>
          <a:ln/>
        </p:spPr>
        <p:txBody>
          <a:bodyPr wrap="square" lIns="0" tIns="0" rIns="0" bIns="0" rtlCol="0" anchor="t">
            <a:normAutofit/>
          </a:bodyPr>
          <a:lstStyle/>
          <a:p>
            <a:pPr algn="ctr" indent="0" marL="0">
              <a:buNone/>
            </a:pPr>
            <a:r>
              <a:rPr lang="en-US" sz="1000" dirty="0">
                <a:solidFill>
                  <a:srgbClr val="6B7280"/>
                </a:solidFill>
                <a:latin typeface="Calibri" pitchFamily="34" charset="0"/>
                <a:ea typeface="Calibri" pitchFamily="34" charset="-122"/>
                <a:cs typeface="Calibri" pitchFamily="34" charset="-120"/>
              </a:rPr>
              <a:t>Your question</a:t>
            </a:r>
            <a:endParaRPr lang="en-US" sz="1000" dirty="0"/>
          </a:p>
        </p:txBody>
      </p:sp>
      <p:sp>
        <p:nvSpPr>
          <p:cNvPr id="16" name="Shape 13"/>
          <p:cNvSpPr/>
          <p:nvPr/>
        </p:nvSpPr>
        <p:spPr>
          <a:xfrm>
            <a:off x="4024274" y="2240280"/>
            <a:ext cx="292608" cy="146304"/>
          </a:xfrm>
          <a:prstGeom prst="rightArrow">
            <a:avLst/>
          </a:prstGeom>
          <a:solidFill>
            <a:srgbClr val="48587A"/>
          </a:solidFill>
          <a:ln/>
        </p:spPr>
      </p:sp>
      <p:sp>
        <p:nvSpPr>
          <p:cNvPr id="17" name="Shape 14"/>
          <p:cNvSpPr/>
          <p:nvPr/>
        </p:nvSpPr>
        <p:spPr>
          <a:xfrm>
            <a:off x="5766664" y="1984248"/>
            <a:ext cx="658368" cy="658368"/>
          </a:xfrm>
          <a:prstGeom prst="ellipse">
            <a:avLst/>
          </a:prstGeom>
          <a:solidFill>
            <a:srgbClr val="1E2761"/>
          </a:solidFill>
          <a:ln/>
        </p:spPr>
      </p:sp>
      <p:pic>
        <p:nvPicPr>
          <p:cNvPr id="18" name="Image 1" descr="/private/tmp/claude-501/-Users-sai-Work-Office-Teaching/ee8695eb-a8ef-409d-a9ba-c09e44dd9ced/scratchpad/pptx-build/assets/icons/FaComments.png">    </p:cNvPr>
          <p:cNvPicPr>
            <a:picLocks noChangeAspect="1"/>
          </p:cNvPicPr>
          <p:nvPr/>
        </p:nvPicPr>
        <p:blipFill>
          <a:blip r:embed="rId2"/>
          <a:stretch>
            <a:fillRect/>
          </a:stretch>
        </p:blipFill>
        <p:spPr>
          <a:xfrm>
            <a:off x="5924672" y="2142256"/>
            <a:ext cx="342351" cy="342351"/>
          </a:xfrm>
          <a:prstGeom prst="rect">
            <a:avLst/>
          </a:prstGeom>
        </p:spPr>
      </p:pic>
      <p:sp>
        <p:nvSpPr>
          <p:cNvPr id="19" name="Text 15"/>
          <p:cNvSpPr/>
          <p:nvPr/>
        </p:nvSpPr>
        <p:spPr>
          <a:xfrm>
            <a:off x="4353458" y="2770632"/>
            <a:ext cx="3484778" cy="502920"/>
          </a:xfrm>
          <a:prstGeom prst="rect">
            <a:avLst/>
          </a:prstGeom>
          <a:noFill/>
          <a:ln/>
        </p:spPr>
        <p:txBody>
          <a:bodyPr wrap="square" lIns="0" tIns="0" rIns="0" bIns="0" rtlCol="0" anchor="t">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Turn 2</a:t>
            </a:r>
            <a:endParaRPr lang="en-US" sz="1250" dirty="0"/>
          </a:p>
        </p:txBody>
      </p:sp>
      <p:sp>
        <p:nvSpPr>
          <p:cNvPr id="20" name="Text 16"/>
          <p:cNvSpPr/>
          <p:nvPr/>
        </p:nvSpPr>
        <p:spPr>
          <a:xfrm>
            <a:off x="4353458" y="3209544"/>
            <a:ext cx="3484778" cy="603504"/>
          </a:xfrm>
          <a:prstGeom prst="rect">
            <a:avLst/>
          </a:prstGeom>
          <a:noFill/>
          <a:ln/>
        </p:spPr>
        <p:txBody>
          <a:bodyPr wrap="square" lIns="0" tIns="0" rIns="0" bIns="0" rtlCol="0" anchor="t">
            <a:normAutofit/>
          </a:bodyPr>
          <a:lstStyle/>
          <a:p>
            <a:pPr algn="ctr" indent="0" marL="0">
              <a:buNone/>
            </a:pPr>
            <a:r>
              <a:rPr lang="en-US" sz="1000" dirty="0">
                <a:solidFill>
                  <a:srgbClr val="6B7280"/>
                </a:solidFill>
                <a:latin typeface="Calibri" pitchFamily="34" charset="0"/>
                <a:ea typeface="Calibri" pitchFamily="34" charset="-122"/>
                <a:cs typeface="Calibri" pitchFamily="34" charset="-120"/>
              </a:rPr>
              <a:t>Follow-up (turn 1 context still visible)</a:t>
            </a:r>
            <a:endParaRPr lang="en-US" sz="1000" dirty="0"/>
          </a:p>
        </p:txBody>
      </p:sp>
      <p:sp>
        <p:nvSpPr>
          <p:cNvPr id="21" name="Shape 17"/>
          <p:cNvSpPr/>
          <p:nvPr/>
        </p:nvSpPr>
        <p:spPr>
          <a:xfrm>
            <a:off x="7874813" y="2240280"/>
            <a:ext cx="292608" cy="146304"/>
          </a:xfrm>
          <a:prstGeom prst="rightArrow">
            <a:avLst/>
          </a:prstGeom>
          <a:solidFill>
            <a:srgbClr val="48587A"/>
          </a:solidFill>
          <a:ln/>
        </p:spPr>
      </p:sp>
      <p:sp>
        <p:nvSpPr>
          <p:cNvPr id="22" name="Shape 18"/>
          <p:cNvSpPr/>
          <p:nvPr/>
        </p:nvSpPr>
        <p:spPr>
          <a:xfrm>
            <a:off x="9617202" y="1984248"/>
            <a:ext cx="658368" cy="658368"/>
          </a:xfrm>
          <a:prstGeom prst="ellipse">
            <a:avLst/>
          </a:prstGeom>
          <a:solidFill>
            <a:srgbClr val="E8A33D"/>
          </a:solidFill>
          <a:ln/>
        </p:spPr>
      </p:sp>
      <p:pic>
        <p:nvPicPr>
          <p:cNvPr id="23" name="Image 2" descr="/private/tmp/claude-501/-Users-sai-Work-Office-Teaching/ee8695eb-a8ef-409d-a9ba-c09e44dd9ced/scratchpad/pptx-build/assets/icons-dark/FaComments.png">    </p:cNvPr>
          <p:cNvPicPr>
            <a:picLocks noChangeAspect="1"/>
          </p:cNvPicPr>
          <p:nvPr/>
        </p:nvPicPr>
        <p:blipFill>
          <a:blip r:embed="rId3"/>
          <a:stretch>
            <a:fillRect/>
          </a:stretch>
        </p:blipFill>
        <p:spPr>
          <a:xfrm>
            <a:off x="9775210" y="2142256"/>
            <a:ext cx="342351" cy="342351"/>
          </a:xfrm>
          <a:prstGeom prst="rect">
            <a:avLst/>
          </a:prstGeom>
        </p:spPr>
      </p:pic>
      <p:sp>
        <p:nvSpPr>
          <p:cNvPr id="24" name="Text 19"/>
          <p:cNvSpPr/>
          <p:nvPr/>
        </p:nvSpPr>
        <p:spPr>
          <a:xfrm>
            <a:off x="8203997" y="2770632"/>
            <a:ext cx="3484778" cy="502920"/>
          </a:xfrm>
          <a:prstGeom prst="rect">
            <a:avLst/>
          </a:prstGeom>
          <a:noFill/>
          <a:ln/>
        </p:spPr>
        <p:txBody>
          <a:bodyPr wrap="square" lIns="0" tIns="0" rIns="0" bIns="0" rtlCol="0" anchor="t">
            <a:normAutofit/>
          </a:bodyPr>
          <a:lstStyle/>
          <a:p>
            <a:pPr algn="ctr" indent="0" marL="0">
              <a:buNone/>
            </a:pPr>
            <a:r>
              <a:rPr lang="en-US" sz="1350" b="1" dirty="0">
                <a:solidFill>
                  <a:srgbClr val="A6660E"/>
                </a:solidFill>
                <a:latin typeface="Calibri" pitchFamily="34" charset="0"/>
                <a:ea typeface="Calibri" pitchFamily="34" charset="-122"/>
                <a:cs typeface="Calibri" pitchFamily="34" charset="-120"/>
              </a:rPr>
              <a:t>Turn 3</a:t>
            </a:r>
            <a:endParaRPr lang="en-US" sz="1350" dirty="0"/>
          </a:p>
        </p:txBody>
      </p:sp>
      <p:sp>
        <p:nvSpPr>
          <p:cNvPr id="25" name="Text 20"/>
          <p:cNvSpPr/>
          <p:nvPr/>
        </p:nvSpPr>
        <p:spPr>
          <a:xfrm>
            <a:off x="8203997" y="3209544"/>
            <a:ext cx="3484778" cy="603504"/>
          </a:xfrm>
          <a:prstGeom prst="rect">
            <a:avLst/>
          </a:prstGeom>
          <a:noFill/>
          <a:ln/>
        </p:spPr>
        <p:txBody>
          <a:bodyPr wrap="square" lIns="0" tIns="0" rIns="0" bIns="0" rtlCol="0" anchor="t">
            <a:normAutofit/>
          </a:bodyPr>
          <a:lstStyle/>
          <a:p>
            <a:pPr algn="ctr" indent="0" marL="0">
              <a:buNone/>
            </a:pPr>
            <a:r>
              <a:rPr lang="en-US" sz="1000" dirty="0">
                <a:solidFill>
                  <a:srgbClr val="6B7280"/>
                </a:solidFill>
                <a:latin typeface="Calibri" pitchFamily="34" charset="0"/>
                <a:ea typeface="Calibri" pitchFamily="34" charset="-122"/>
                <a:cs typeface="Calibri" pitchFamily="34" charset="-120"/>
              </a:rPr>
              <a:t>Another follow-up (turns 1–2 still visible)</a:t>
            </a:r>
            <a:endParaRPr lang="en-US" sz="1000" dirty="0"/>
          </a:p>
        </p:txBody>
      </p:sp>
      <p:sp>
        <p:nvSpPr>
          <p:cNvPr id="26" name="Text 21"/>
          <p:cNvSpPr/>
          <p:nvPr/>
        </p:nvSpPr>
        <p:spPr>
          <a:xfrm>
            <a:off x="502920" y="5440680"/>
            <a:ext cx="11185855" cy="457200"/>
          </a:xfrm>
          <a:prstGeom prst="rect">
            <a:avLst/>
          </a:prstGeom>
          <a:noFill/>
          <a:ln/>
        </p:spPr>
        <p:txBody>
          <a:bodyPr wrap="square" lIns="0" tIns="0" rIns="0" bIns="0" rtlCol="0" anchor="ctr"/>
          <a:lstStyle/>
          <a:p>
            <a:pPr algn="ctr" indent="0" marL="0">
              <a:buNone/>
            </a:pPr>
            <a:r>
              <a:rPr lang="en-US" sz="1300" i="1" dirty="0">
                <a:solidFill>
                  <a:srgbClr val="6B7280"/>
                </a:solidFill>
                <a:latin typeface="Calibri" pitchFamily="34" charset="0"/>
                <a:ea typeface="Calibri" pitchFamily="34" charset="-122"/>
                <a:cs typeface="Calibri" pitchFamily="34" charset="-120"/>
              </a:rPr>
              <a:t>Context accumulates, until you start a new conversation.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I3</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Refining a Dashboard Across Three Follow-Ups</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A worked example</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From Message to Structured Data</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1916125" y="1892808"/>
            <a:ext cx="658368" cy="658368"/>
          </a:xfrm>
          <a:prstGeom prst="ellipse">
            <a:avLst/>
          </a:prstGeom>
          <a:solidFill>
            <a:srgbClr val="1E2761"/>
          </a:solidFill>
          <a:ln/>
        </p:spPr>
      </p:sp>
      <p:pic>
        <p:nvPicPr>
          <p:cNvPr id="13" name="Image 0" descr="/private/tmp/claude-501/-Users-sai-Work-Office-Teaching/ee8695eb-a8ef-409d-a9ba-c09e44dd9ced/scratchpad/pptx-build/assets/icons/FaChartBar.png">    </p:cNvPr>
          <p:cNvPicPr>
            <a:picLocks noChangeAspect="1"/>
          </p:cNvPicPr>
          <p:nvPr/>
        </p:nvPicPr>
        <p:blipFill>
          <a:blip r:embed="rId1"/>
          <a:stretch>
            <a:fillRect/>
          </a:stretch>
        </p:blipFill>
        <p:spPr>
          <a:xfrm>
            <a:off x="2074134" y="2050816"/>
            <a:ext cx="342351" cy="342351"/>
          </a:xfrm>
          <a:prstGeom prst="rect">
            <a:avLst/>
          </a:prstGeom>
        </p:spPr>
      </p:pic>
      <p:sp>
        <p:nvSpPr>
          <p:cNvPr id="14" name="Text 11"/>
          <p:cNvSpPr/>
          <p:nvPr/>
        </p:nvSpPr>
        <p:spPr>
          <a:xfrm>
            <a:off x="502920" y="2679192"/>
            <a:ext cx="3484778" cy="502920"/>
          </a:xfrm>
          <a:prstGeom prst="rect">
            <a:avLst/>
          </a:prstGeom>
          <a:noFill/>
          <a:ln/>
        </p:spPr>
        <p:txBody>
          <a:bodyPr wrap="square" lIns="0" tIns="0" rIns="0" bIns="0" rtlCol="0" anchor="t">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Initial dashboard</a:t>
            </a:r>
            <a:endParaRPr lang="en-US" sz="1250" dirty="0"/>
          </a:p>
        </p:txBody>
      </p:sp>
      <p:sp>
        <p:nvSpPr>
          <p:cNvPr id="15" name="Text 12"/>
          <p:cNvSpPr/>
          <p:nvPr/>
        </p:nvSpPr>
        <p:spPr>
          <a:xfrm>
            <a:off x="502920" y="3118104"/>
            <a:ext cx="3484778" cy="603504"/>
          </a:xfrm>
          <a:prstGeom prst="rect">
            <a:avLst/>
          </a:prstGeom>
          <a:noFill/>
          <a:ln/>
        </p:spPr>
        <p:txBody>
          <a:bodyPr wrap="square" lIns="0" tIns="0" rIns="0" bIns="0" rtlCol="0" anchor="t">
            <a:normAutofit/>
          </a:bodyPr>
          <a:lstStyle/>
          <a:p>
            <a:pPr algn="ctr" indent="0" marL="0">
              <a:buNone/>
            </a:pPr>
            <a:r>
              <a:rPr lang="en-US" sz="1000" dirty="0">
                <a:solidFill>
                  <a:srgbClr val="6B7280"/>
                </a:solidFill>
                <a:latin typeface="Calibri" pitchFamily="34" charset="0"/>
                <a:ea typeface="Calibri" pitchFamily="34" charset="-122"/>
                <a:cs typeface="Calibri" pitchFamily="34" charset="-120"/>
              </a:rPr>
              <a:t>[DRAFT: broad first ask]</a:t>
            </a:r>
            <a:endParaRPr lang="en-US" sz="1000" dirty="0"/>
          </a:p>
        </p:txBody>
      </p:sp>
      <p:sp>
        <p:nvSpPr>
          <p:cNvPr id="16" name="Shape 13"/>
          <p:cNvSpPr/>
          <p:nvPr/>
        </p:nvSpPr>
        <p:spPr>
          <a:xfrm>
            <a:off x="4024274" y="2148840"/>
            <a:ext cx="292608" cy="146304"/>
          </a:xfrm>
          <a:prstGeom prst="rightArrow">
            <a:avLst/>
          </a:prstGeom>
          <a:solidFill>
            <a:srgbClr val="48587A"/>
          </a:solidFill>
          <a:ln/>
        </p:spPr>
      </p:sp>
      <p:sp>
        <p:nvSpPr>
          <p:cNvPr id="17" name="Shape 14"/>
          <p:cNvSpPr/>
          <p:nvPr/>
        </p:nvSpPr>
        <p:spPr>
          <a:xfrm>
            <a:off x="5766664" y="1892808"/>
            <a:ext cx="658368" cy="658368"/>
          </a:xfrm>
          <a:prstGeom prst="ellipse">
            <a:avLst/>
          </a:prstGeom>
          <a:solidFill>
            <a:srgbClr val="1E2761"/>
          </a:solidFill>
          <a:ln/>
        </p:spPr>
      </p:sp>
      <p:pic>
        <p:nvPicPr>
          <p:cNvPr id="18" name="Image 1" descr="/private/tmp/claude-501/-Users-sai-Work-Office-Teaching/ee8695eb-a8ef-409d-a9ba-c09e44dd9ced/scratchpad/pptx-build/assets/icons/FaChartBar.png">    </p:cNvPr>
          <p:cNvPicPr>
            <a:picLocks noChangeAspect="1"/>
          </p:cNvPicPr>
          <p:nvPr/>
        </p:nvPicPr>
        <p:blipFill>
          <a:blip r:embed="rId2"/>
          <a:stretch>
            <a:fillRect/>
          </a:stretch>
        </p:blipFill>
        <p:spPr>
          <a:xfrm>
            <a:off x="5924672" y="2050816"/>
            <a:ext cx="342351" cy="342351"/>
          </a:xfrm>
          <a:prstGeom prst="rect">
            <a:avLst/>
          </a:prstGeom>
        </p:spPr>
      </p:pic>
      <p:sp>
        <p:nvSpPr>
          <p:cNvPr id="19" name="Text 15"/>
          <p:cNvSpPr/>
          <p:nvPr/>
        </p:nvSpPr>
        <p:spPr>
          <a:xfrm>
            <a:off x="4353458" y="2679192"/>
            <a:ext cx="3484778" cy="502920"/>
          </a:xfrm>
          <a:prstGeom prst="rect">
            <a:avLst/>
          </a:prstGeom>
          <a:noFill/>
          <a:ln/>
        </p:spPr>
        <p:txBody>
          <a:bodyPr wrap="square" lIns="0" tIns="0" rIns="0" bIns="0" rtlCol="0" anchor="t">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Follow-up 1</a:t>
            </a:r>
            <a:endParaRPr lang="en-US" sz="1250" dirty="0"/>
          </a:p>
        </p:txBody>
      </p:sp>
      <p:sp>
        <p:nvSpPr>
          <p:cNvPr id="20" name="Text 16"/>
          <p:cNvSpPr/>
          <p:nvPr/>
        </p:nvSpPr>
        <p:spPr>
          <a:xfrm>
            <a:off x="4353458" y="3118104"/>
            <a:ext cx="3484778" cy="603504"/>
          </a:xfrm>
          <a:prstGeom prst="rect">
            <a:avLst/>
          </a:prstGeom>
          <a:noFill/>
          <a:ln/>
        </p:spPr>
        <p:txBody>
          <a:bodyPr wrap="square" lIns="0" tIns="0" rIns="0" bIns="0" rtlCol="0" anchor="t">
            <a:normAutofit/>
          </a:bodyPr>
          <a:lstStyle/>
          <a:p>
            <a:pPr algn="ctr" indent="0" marL="0">
              <a:buNone/>
            </a:pPr>
            <a:r>
              <a:rPr lang="en-US" sz="1000" dirty="0">
                <a:solidFill>
                  <a:srgbClr val="6B7280"/>
                </a:solidFill>
                <a:latin typeface="Calibri" pitchFamily="34" charset="0"/>
                <a:ea typeface="Calibri" pitchFamily="34" charset="-122"/>
                <a:cs typeface="Calibri" pitchFamily="34" charset="-120"/>
              </a:rPr>
              <a:t>[DRAFT: "break this down by trader"]</a:t>
            </a:r>
            <a:endParaRPr lang="en-US" sz="1000" dirty="0"/>
          </a:p>
        </p:txBody>
      </p:sp>
      <p:sp>
        <p:nvSpPr>
          <p:cNvPr id="21" name="Shape 17"/>
          <p:cNvSpPr/>
          <p:nvPr/>
        </p:nvSpPr>
        <p:spPr>
          <a:xfrm>
            <a:off x="7874813" y="2148840"/>
            <a:ext cx="292608" cy="146304"/>
          </a:xfrm>
          <a:prstGeom prst="rightArrow">
            <a:avLst/>
          </a:prstGeom>
          <a:solidFill>
            <a:srgbClr val="48587A"/>
          </a:solidFill>
          <a:ln/>
        </p:spPr>
      </p:sp>
      <p:sp>
        <p:nvSpPr>
          <p:cNvPr id="22" name="Shape 18"/>
          <p:cNvSpPr/>
          <p:nvPr/>
        </p:nvSpPr>
        <p:spPr>
          <a:xfrm>
            <a:off x="9617202" y="1892808"/>
            <a:ext cx="658368" cy="658368"/>
          </a:xfrm>
          <a:prstGeom prst="ellipse">
            <a:avLst/>
          </a:prstGeom>
          <a:solidFill>
            <a:srgbClr val="E8A33D"/>
          </a:solidFill>
          <a:ln/>
        </p:spPr>
      </p:sp>
      <p:pic>
        <p:nvPicPr>
          <p:cNvPr id="23" name="Image 2" descr="/private/tmp/claude-501/-Users-sai-Work-Office-Teaching/ee8695eb-a8ef-409d-a9ba-c09e44dd9ced/scratchpad/pptx-build/assets/icons-dark/FaChartBar.png">    </p:cNvPr>
          <p:cNvPicPr>
            <a:picLocks noChangeAspect="1"/>
          </p:cNvPicPr>
          <p:nvPr/>
        </p:nvPicPr>
        <p:blipFill>
          <a:blip r:embed="rId3"/>
          <a:stretch>
            <a:fillRect/>
          </a:stretch>
        </p:blipFill>
        <p:spPr>
          <a:xfrm>
            <a:off x="9775210" y="2050816"/>
            <a:ext cx="342351" cy="342351"/>
          </a:xfrm>
          <a:prstGeom prst="rect">
            <a:avLst/>
          </a:prstGeom>
        </p:spPr>
      </p:pic>
      <p:sp>
        <p:nvSpPr>
          <p:cNvPr id="24" name="Text 19"/>
          <p:cNvSpPr/>
          <p:nvPr/>
        </p:nvSpPr>
        <p:spPr>
          <a:xfrm>
            <a:off x="8203997" y="2679192"/>
            <a:ext cx="3484778" cy="502920"/>
          </a:xfrm>
          <a:prstGeom prst="rect">
            <a:avLst/>
          </a:prstGeom>
          <a:noFill/>
          <a:ln/>
        </p:spPr>
        <p:txBody>
          <a:bodyPr wrap="square" lIns="0" tIns="0" rIns="0" bIns="0" rtlCol="0" anchor="t">
            <a:normAutofit/>
          </a:bodyPr>
          <a:lstStyle/>
          <a:p>
            <a:pPr algn="ctr" indent="0" marL="0">
              <a:buNone/>
            </a:pPr>
            <a:r>
              <a:rPr lang="en-US" sz="1350" b="1" dirty="0">
                <a:solidFill>
                  <a:srgbClr val="A6660E"/>
                </a:solidFill>
                <a:latin typeface="Calibri" pitchFamily="34" charset="0"/>
                <a:ea typeface="Calibri" pitchFamily="34" charset="-122"/>
                <a:cs typeface="Calibri" pitchFamily="34" charset="-120"/>
              </a:rPr>
              <a:t>Follow-up 2</a:t>
            </a:r>
            <a:endParaRPr lang="en-US" sz="1350" dirty="0"/>
          </a:p>
        </p:txBody>
      </p:sp>
      <p:sp>
        <p:nvSpPr>
          <p:cNvPr id="25" name="Text 20"/>
          <p:cNvSpPr/>
          <p:nvPr/>
        </p:nvSpPr>
        <p:spPr>
          <a:xfrm>
            <a:off x="8203997" y="3118104"/>
            <a:ext cx="3484778" cy="603504"/>
          </a:xfrm>
          <a:prstGeom prst="rect">
            <a:avLst/>
          </a:prstGeom>
          <a:noFill/>
          <a:ln/>
        </p:spPr>
        <p:txBody>
          <a:bodyPr wrap="square" lIns="0" tIns="0" rIns="0" bIns="0" rtlCol="0" anchor="t">
            <a:normAutofit/>
          </a:bodyPr>
          <a:lstStyle/>
          <a:p>
            <a:pPr algn="ctr" indent="0" marL="0">
              <a:buNone/>
            </a:pPr>
            <a:r>
              <a:rPr lang="en-US" sz="1000" dirty="0">
                <a:solidFill>
                  <a:srgbClr val="6B7280"/>
                </a:solidFill>
                <a:latin typeface="Calibri" pitchFamily="34" charset="0"/>
                <a:ea typeface="Calibri" pitchFamily="34" charset="-122"/>
                <a:cs typeface="Calibri" pitchFamily="34" charset="-120"/>
              </a:rPr>
              <a:t>[DRAFT: "now just show last week"]</a:t>
            </a:r>
            <a:endParaRPr lang="en-US" sz="1000" dirty="0"/>
          </a:p>
        </p:txBody>
      </p:sp>
      <p:sp>
        <p:nvSpPr>
          <p:cNvPr id="26" name="Shape 21"/>
          <p:cNvSpPr/>
          <p:nvPr/>
        </p:nvSpPr>
        <p:spPr>
          <a:xfrm>
            <a:off x="502920" y="5093208"/>
            <a:ext cx="11185855" cy="777240"/>
          </a:xfrm>
          <a:prstGeom prst="roundRect">
            <a:avLst>
              <a:gd name="adj" fmla="val 10588"/>
            </a:avLst>
          </a:prstGeom>
          <a:solidFill>
            <a:srgbClr val="FFF4E0"/>
          </a:solidFill>
          <a:ln/>
        </p:spPr>
      </p:sp>
      <p:sp>
        <p:nvSpPr>
          <p:cNvPr id="27" name="Shape 22"/>
          <p:cNvSpPr/>
          <p:nvPr/>
        </p:nvSpPr>
        <p:spPr>
          <a:xfrm>
            <a:off x="502920" y="5093208"/>
            <a:ext cx="82296" cy="777240"/>
          </a:xfrm>
          <a:prstGeom prst="roundRect">
            <a:avLst/>
          </a:prstGeom>
          <a:solidFill>
            <a:srgbClr val="E8A33D"/>
          </a:solidFill>
          <a:ln/>
        </p:spPr>
      </p:sp>
      <p:sp>
        <p:nvSpPr>
          <p:cNvPr id="28" name="Text 23"/>
          <p:cNvSpPr/>
          <p:nvPr/>
        </p:nvSpPr>
        <p:spPr>
          <a:xfrm>
            <a:off x="758952" y="5184648"/>
            <a:ext cx="10728655" cy="594360"/>
          </a:xfrm>
          <a:prstGeom prst="rect">
            <a:avLst/>
          </a:prstGeom>
          <a:noFill/>
          <a:ln/>
        </p:spPr>
        <p:txBody>
          <a:bodyPr wrap="square" lIns="0" tIns="0" rIns="0" bIns="0" rtlCol="0" anchor="ctr">
            <a:normAutofit/>
          </a:bodyPr>
          <a:lstStyle/>
          <a:p>
            <a:pPr indent="0" marL="0">
              <a:buNone/>
            </a:pPr>
            <a:r>
              <a:rPr lang="en-US" sz="1250" b="1" i="1" dirty="0">
                <a:solidFill>
                  <a:srgbClr val="B8720A"/>
                </a:solidFill>
                <a:latin typeface="Calibri" pitchFamily="34" charset="0"/>
                <a:ea typeface="Calibri" pitchFamily="34" charset="-122"/>
                <a:cs typeface="Calibri" pitchFamily="34" charset="-120"/>
              </a:rPr>
              <a:t>[DRAFT] </a:t>
            </a:r>
            <a:pPr indent="0" marL="0">
              <a:buNone/>
            </a:pPr>
            <a:r>
              <a:rPr lang="en-US" sz="1250" i="1" dirty="0">
                <a:solidFill>
                  <a:srgbClr val="5C4400"/>
                </a:solidFill>
                <a:latin typeface="Calibri" pitchFamily="34" charset="0"/>
                <a:ea typeface="Calibri" pitchFamily="34" charset="-122"/>
                <a:cs typeface="Calibri" pitchFamily="34" charset="-120"/>
              </a:rPr>
              <a:t>capture real screenshots/outputs from an actual tested AI Studio run before this session; the credibility of this slide depends on it looking like a genuine captured run, not a fabricated mockup.</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I4</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When You Need Structured, Not Prose</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Designing for parseable output</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From Message to Structured Data</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502920" y="1709928"/>
            <a:ext cx="5364328" cy="3017520"/>
          </a:xfrm>
          <a:prstGeom prst="roundRect">
            <a:avLst>
              <a:gd name="adj" fmla="val 2727"/>
            </a:avLst>
          </a:prstGeom>
          <a:solidFill>
            <a:srgbClr val="F4F6FB"/>
          </a:solidFill>
          <a:ln/>
          <a:effectLst>
            <a:outerShdw sx="100000" sy="100000" kx="0" ky="0" algn="bl" rotWithShape="0" blurRad="76200" dist="25400" dir="5400000">
              <a:srgbClr val="1E2761">
                <a:alpha val="16000"/>
              </a:srgbClr>
            </a:outerShdw>
          </a:effectLst>
        </p:spPr>
      </p:sp>
      <p:sp>
        <p:nvSpPr>
          <p:cNvPr id="13" name="Shape 11"/>
          <p:cNvSpPr/>
          <p:nvPr/>
        </p:nvSpPr>
        <p:spPr>
          <a:xfrm>
            <a:off x="502920" y="1709928"/>
            <a:ext cx="5364328" cy="457200"/>
          </a:xfrm>
          <a:prstGeom prst="roundRect">
            <a:avLst>
              <a:gd name="adj" fmla="val 18000"/>
            </a:avLst>
          </a:prstGeom>
          <a:solidFill>
            <a:srgbClr val="48587A"/>
          </a:solidFill>
          <a:ln/>
        </p:spPr>
      </p:sp>
      <p:sp>
        <p:nvSpPr>
          <p:cNvPr id="14" name="Shape 12"/>
          <p:cNvSpPr/>
          <p:nvPr/>
        </p:nvSpPr>
        <p:spPr>
          <a:xfrm>
            <a:off x="502920" y="1965960"/>
            <a:ext cx="5364328" cy="201168"/>
          </a:xfrm>
          <a:prstGeom prst="rect">
            <a:avLst/>
          </a:prstGeom>
          <a:solidFill>
            <a:srgbClr val="48587A"/>
          </a:solidFill>
          <a:ln/>
        </p:spPr>
      </p:sp>
      <p:sp>
        <p:nvSpPr>
          <p:cNvPr id="15" name="Text 13"/>
          <p:cNvSpPr/>
          <p:nvPr/>
        </p:nvSpPr>
        <p:spPr>
          <a:xfrm>
            <a:off x="640080" y="1709928"/>
            <a:ext cx="5090008" cy="45720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Prose output</a:t>
            </a:r>
            <a:endParaRPr lang="en-US" sz="1450" dirty="0"/>
          </a:p>
        </p:txBody>
      </p:sp>
      <p:sp>
        <p:nvSpPr>
          <p:cNvPr id="16" name="Text 14"/>
          <p:cNvSpPr/>
          <p:nvPr/>
        </p:nvSpPr>
        <p:spPr>
          <a:xfrm>
            <a:off x="704088" y="2313432"/>
            <a:ext cx="4961992" cy="2286000"/>
          </a:xfrm>
          <a:prstGeom prst="rect">
            <a:avLst/>
          </a:prstGeom>
          <a:noFill/>
          <a:ln/>
        </p:spPr>
        <p:txBody>
          <a:bodyPr wrap="square" lIns="0" tIns="0" rIns="0" bIns="0" rtlCol="0" anchor="ctr">
            <a:normAutofit/>
          </a:bodyPr>
          <a:lstStyle/>
          <a:p>
            <a:pPr marL="177800" indent="-177800">
              <a:spcAft>
                <a:spcPts val="1400"/>
              </a:spcAft>
              <a:buSzPct val="100000"/>
              <a:buChar char="•"/>
            </a:pPr>
            <a:r>
              <a:rPr lang="en-US" sz="1450" dirty="0">
                <a:solidFill>
                  <a:srgbClr val="1A1F36"/>
                </a:solidFill>
                <a:latin typeface="Calibri" pitchFamily="34" charset="0"/>
                <a:ea typeface="Calibri" pitchFamily="34" charset="-122"/>
                <a:cs typeface="Calibri" pitchFamily="34" charset="-120"/>
              </a:rPr>
              <a:t>A paragraph</a:t>
            </a:r>
            <a:endParaRPr lang="en-US" sz="1450" dirty="0"/>
          </a:p>
          <a:p>
            <a:pPr marL="177800" indent="-177800">
              <a:spcAft>
                <a:spcPts val="1400"/>
              </a:spcAft>
              <a:buSzPct val="100000"/>
              <a:buChar char="•"/>
            </a:pPr>
            <a:r>
              <a:rPr lang="en-US" sz="1450" dirty="0">
                <a:solidFill>
                  <a:srgbClr val="1A1F36"/>
                </a:solidFill>
                <a:latin typeface="Calibri" pitchFamily="34" charset="0"/>
                <a:ea typeface="Calibri" pitchFamily="34" charset="-122"/>
                <a:cs typeface="Calibri" pitchFamily="34" charset="-120"/>
              </a:rPr>
              <a:t>Hard to parse programmatically</a:t>
            </a:r>
            <a:endParaRPr lang="en-US" sz="1450" dirty="0"/>
          </a:p>
          <a:p>
            <a:pPr marL="177800" indent="-177800">
              <a:spcAft>
                <a:spcPts val="1400"/>
              </a:spcAft>
              <a:buSzPct val="100000"/>
              <a:buChar char="•"/>
            </a:pPr>
            <a:r>
              <a:rPr lang="en-US" sz="1450" dirty="0">
                <a:solidFill>
                  <a:srgbClr val="1A1F36"/>
                </a:solidFill>
                <a:latin typeface="Calibri" pitchFamily="34" charset="0"/>
                <a:ea typeface="Calibri" pitchFamily="34" charset="-122"/>
                <a:cs typeface="Calibri" pitchFamily="34" charset="-120"/>
              </a:rPr>
              <a:t>Reads naturally, but shape is unpredictable</a:t>
            </a:r>
            <a:endParaRPr lang="en-US" sz="1450" dirty="0"/>
          </a:p>
        </p:txBody>
      </p:sp>
      <p:sp>
        <p:nvSpPr>
          <p:cNvPr id="17" name="Shape 15"/>
          <p:cNvSpPr/>
          <p:nvPr/>
        </p:nvSpPr>
        <p:spPr>
          <a:xfrm>
            <a:off x="6324448" y="1709928"/>
            <a:ext cx="5364328" cy="3017520"/>
          </a:xfrm>
          <a:prstGeom prst="roundRect">
            <a:avLst>
              <a:gd name="adj" fmla="val 2727"/>
            </a:avLst>
          </a:prstGeom>
          <a:solidFill>
            <a:srgbClr val="F4F6FB"/>
          </a:solidFill>
          <a:ln/>
          <a:effectLst>
            <a:outerShdw sx="100000" sy="100000" kx="0" ky="0" algn="bl" rotWithShape="0" blurRad="76200" dist="25400" dir="5400000">
              <a:srgbClr val="1E2761">
                <a:alpha val="16000"/>
              </a:srgbClr>
            </a:outerShdw>
          </a:effectLst>
        </p:spPr>
      </p:sp>
      <p:sp>
        <p:nvSpPr>
          <p:cNvPr id="18" name="Shape 16"/>
          <p:cNvSpPr/>
          <p:nvPr/>
        </p:nvSpPr>
        <p:spPr>
          <a:xfrm>
            <a:off x="6324448" y="1709928"/>
            <a:ext cx="5364328" cy="457200"/>
          </a:xfrm>
          <a:prstGeom prst="roundRect">
            <a:avLst>
              <a:gd name="adj" fmla="val 18000"/>
            </a:avLst>
          </a:prstGeom>
          <a:solidFill>
            <a:srgbClr val="1E2761"/>
          </a:solidFill>
          <a:ln/>
        </p:spPr>
      </p:sp>
      <p:sp>
        <p:nvSpPr>
          <p:cNvPr id="19" name="Shape 17"/>
          <p:cNvSpPr/>
          <p:nvPr/>
        </p:nvSpPr>
        <p:spPr>
          <a:xfrm>
            <a:off x="6324448" y="1965960"/>
            <a:ext cx="5364328" cy="201168"/>
          </a:xfrm>
          <a:prstGeom prst="rect">
            <a:avLst/>
          </a:prstGeom>
          <a:solidFill>
            <a:srgbClr val="1E2761"/>
          </a:solidFill>
          <a:ln/>
        </p:spPr>
      </p:sp>
      <p:sp>
        <p:nvSpPr>
          <p:cNvPr id="20" name="Text 18"/>
          <p:cNvSpPr/>
          <p:nvPr/>
        </p:nvSpPr>
        <p:spPr>
          <a:xfrm>
            <a:off x="6461608" y="1709928"/>
            <a:ext cx="5090008" cy="45720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Structured output</a:t>
            </a:r>
            <a:endParaRPr lang="en-US" sz="1450" dirty="0"/>
          </a:p>
        </p:txBody>
      </p:sp>
      <p:sp>
        <p:nvSpPr>
          <p:cNvPr id="21" name="Text 19"/>
          <p:cNvSpPr/>
          <p:nvPr/>
        </p:nvSpPr>
        <p:spPr>
          <a:xfrm>
            <a:off x="6525616" y="2313432"/>
            <a:ext cx="4961992" cy="2286000"/>
          </a:xfrm>
          <a:prstGeom prst="rect">
            <a:avLst/>
          </a:prstGeom>
          <a:noFill/>
          <a:ln/>
        </p:spPr>
        <p:txBody>
          <a:bodyPr wrap="square" lIns="0" tIns="0" rIns="0" bIns="0" rtlCol="0" anchor="ctr">
            <a:normAutofit/>
          </a:bodyPr>
          <a:lstStyle/>
          <a:p>
            <a:pPr marL="177800" indent="-177800">
              <a:spcAft>
                <a:spcPts val="1400"/>
              </a:spcAft>
              <a:buSzPct val="100000"/>
              <a:buChar char="•"/>
            </a:pPr>
            <a:r>
              <a:rPr lang="en-US" sz="1450" dirty="0">
                <a:solidFill>
                  <a:srgbClr val="1A1F36"/>
                </a:solidFill>
                <a:latin typeface="Calibri" pitchFamily="34" charset="0"/>
                <a:ea typeface="Calibri" pitchFamily="34" charset="-122"/>
                <a:cs typeface="Calibri" pitchFamily="34" charset="-120"/>
              </a:rPr>
              <a:t>A clean table / field list</a:t>
            </a:r>
            <a:endParaRPr lang="en-US" sz="1450" dirty="0"/>
          </a:p>
          <a:p>
            <a:pPr marL="177800" indent="-177800">
              <a:spcAft>
                <a:spcPts val="1400"/>
              </a:spcAft>
              <a:buSzPct val="100000"/>
              <a:buChar char="•"/>
            </a:pPr>
            <a:r>
              <a:rPr lang="en-US" sz="1450" dirty="0">
                <a:solidFill>
                  <a:srgbClr val="1A1F36"/>
                </a:solidFill>
                <a:latin typeface="Calibri" pitchFamily="34" charset="0"/>
                <a:ea typeface="Calibri" pitchFamily="34" charset="-122"/>
                <a:cs typeface="Calibri" pitchFamily="34" charset="-120"/>
              </a:rPr>
              <a:t>Easy to parse, aggregate, and compare</a:t>
            </a:r>
            <a:endParaRPr lang="en-US" sz="1450" dirty="0"/>
          </a:p>
          <a:p>
            <a:pPr marL="177800" indent="-177800">
              <a:spcAft>
                <a:spcPts val="1400"/>
              </a:spcAft>
              <a:buSzPct val="100000"/>
              <a:buChar char="•"/>
            </a:pPr>
            <a:r>
              <a:rPr lang="en-US" sz="1450" dirty="0">
                <a:solidFill>
                  <a:srgbClr val="1A1F36"/>
                </a:solidFill>
                <a:latin typeface="Calibri" pitchFamily="34" charset="0"/>
                <a:ea typeface="Calibri" pitchFamily="34" charset="-122"/>
                <a:cs typeface="Calibri" pitchFamily="34" charset="-120"/>
              </a:rPr>
              <a:t>Shape is explicit and predictable</a:t>
            </a:r>
            <a:endParaRPr lang="en-US" sz="1450" dirty="0"/>
          </a:p>
        </p:txBody>
      </p:sp>
      <p:sp>
        <p:nvSpPr>
          <p:cNvPr id="22" name="Text 20"/>
          <p:cNvSpPr/>
          <p:nvPr/>
        </p:nvSpPr>
        <p:spPr>
          <a:xfrm>
            <a:off x="502920" y="5440680"/>
            <a:ext cx="11185855" cy="457200"/>
          </a:xfrm>
          <a:prstGeom prst="rect">
            <a:avLst/>
          </a:prstGeom>
          <a:noFill/>
          <a:ln/>
        </p:spPr>
        <p:txBody>
          <a:bodyPr wrap="square" lIns="0" tIns="0" rIns="0" bIns="0" rtlCol="0" anchor="ctr"/>
          <a:lstStyle/>
          <a:p>
            <a:pPr algn="ctr" indent="0" marL="0">
              <a:buNone/>
            </a:pPr>
            <a:r>
              <a:rPr lang="en-US" sz="1300" i="1" dirty="0">
                <a:solidFill>
                  <a:srgbClr val="6B7280"/>
                </a:solidFill>
                <a:latin typeface="Calibri" pitchFamily="34" charset="0"/>
                <a:ea typeface="Calibri" pitchFamily="34" charset="-122"/>
                <a:cs typeface="Calibri" pitchFamily="34" charset="-120"/>
              </a:rPr>
              <a:t>Specify the schema explicitly: don't leave the shape to chance.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I4</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Message → Structured Fields</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A worked example</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From Message to Structured Data</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502920" y="1709928"/>
            <a:ext cx="5364328" cy="3291840"/>
          </a:xfrm>
          <a:prstGeom prst="roundRect">
            <a:avLst>
              <a:gd name="adj" fmla="val 2500"/>
            </a:avLst>
          </a:prstGeom>
          <a:solidFill>
            <a:srgbClr val="F4F6FB"/>
          </a:solidFill>
          <a:ln/>
          <a:effectLst>
            <a:outerShdw sx="100000" sy="100000" kx="0" ky="0" algn="bl" rotWithShape="0" blurRad="76200" dist="25400" dir="5400000">
              <a:srgbClr val="1E2761">
                <a:alpha val="16000"/>
              </a:srgbClr>
            </a:outerShdw>
          </a:effectLst>
        </p:spPr>
      </p:sp>
      <p:sp>
        <p:nvSpPr>
          <p:cNvPr id="13" name="Shape 11"/>
          <p:cNvSpPr/>
          <p:nvPr/>
        </p:nvSpPr>
        <p:spPr>
          <a:xfrm>
            <a:off x="502920" y="1709928"/>
            <a:ext cx="5364328" cy="457200"/>
          </a:xfrm>
          <a:prstGeom prst="roundRect">
            <a:avLst>
              <a:gd name="adj" fmla="val 18000"/>
            </a:avLst>
          </a:prstGeom>
          <a:solidFill>
            <a:srgbClr val="48587A"/>
          </a:solidFill>
          <a:ln/>
        </p:spPr>
      </p:sp>
      <p:sp>
        <p:nvSpPr>
          <p:cNvPr id="14" name="Shape 12"/>
          <p:cNvSpPr/>
          <p:nvPr/>
        </p:nvSpPr>
        <p:spPr>
          <a:xfrm>
            <a:off x="502920" y="1965960"/>
            <a:ext cx="5364328" cy="201168"/>
          </a:xfrm>
          <a:prstGeom prst="rect">
            <a:avLst/>
          </a:prstGeom>
          <a:solidFill>
            <a:srgbClr val="48587A"/>
          </a:solidFill>
          <a:ln/>
        </p:spPr>
      </p:sp>
      <p:sp>
        <p:nvSpPr>
          <p:cNvPr id="15" name="Text 13"/>
          <p:cNvSpPr/>
          <p:nvPr/>
        </p:nvSpPr>
        <p:spPr>
          <a:xfrm>
            <a:off x="640080" y="1709928"/>
            <a:ext cx="5090008" cy="45720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Raw message</a:t>
            </a:r>
            <a:endParaRPr lang="en-US" sz="1450" dirty="0"/>
          </a:p>
        </p:txBody>
      </p:sp>
      <p:sp>
        <p:nvSpPr>
          <p:cNvPr id="16" name="Text 14"/>
          <p:cNvSpPr/>
          <p:nvPr/>
        </p:nvSpPr>
        <p:spPr>
          <a:xfrm>
            <a:off x="704088" y="2313432"/>
            <a:ext cx="4961992" cy="2560320"/>
          </a:xfrm>
          <a:prstGeom prst="rect">
            <a:avLst/>
          </a:prstGeom>
          <a:noFill/>
          <a:ln/>
        </p:spPr>
        <p:txBody>
          <a:bodyPr wrap="square" lIns="0" tIns="0" rIns="0" bIns="0" rtlCol="0" anchor="ctr">
            <a:normAutofit/>
          </a:bodyPr>
          <a:lstStyle/>
          <a:p>
            <a:pPr marL="177800" indent="-177800">
              <a:spcAft>
                <a:spcPts val="1400"/>
              </a:spcAft>
              <a:buSzPct val="100000"/>
              <a:buChar char="•"/>
            </a:pPr>
            <a:r>
              <a:rPr lang="en-US" sz="1450" dirty="0">
                <a:solidFill>
                  <a:srgbClr val="1A1F36"/>
                </a:solidFill>
                <a:latin typeface="Calibri" pitchFamily="34" charset="0"/>
                <a:ea typeface="Calibri" pitchFamily="34" charset="-122"/>
                <a:cs typeface="Calibri" pitchFamily="34" charset="-120"/>
              </a:rPr>
              <a:t>[DRAFT: a realistic, appropriately anonymized/generic trader-message example]</a:t>
            </a:r>
            <a:endParaRPr lang="en-US" sz="1450" dirty="0"/>
          </a:p>
        </p:txBody>
      </p:sp>
      <p:sp>
        <p:nvSpPr>
          <p:cNvPr id="17" name="Shape 15"/>
          <p:cNvSpPr/>
          <p:nvPr/>
        </p:nvSpPr>
        <p:spPr>
          <a:xfrm>
            <a:off x="6324448" y="1709928"/>
            <a:ext cx="5364328" cy="3291840"/>
          </a:xfrm>
          <a:prstGeom prst="roundRect">
            <a:avLst>
              <a:gd name="adj" fmla="val 2500"/>
            </a:avLst>
          </a:prstGeom>
          <a:solidFill>
            <a:srgbClr val="F4F6FB"/>
          </a:solidFill>
          <a:ln/>
          <a:effectLst>
            <a:outerShdw sx="100000" sy="100000" kx="0" ky="0" algn="bl" rotWithShape="0" blurRad="76200" dist="25400" dir="5400000">
              <a:srgbClr val="1E2761">
                <a:alpha val="16000"/>
              </a:srgbClr>
            </a:outerShdw>
          </a:effectLst>
        </p:spPr>
      </p:sp>
      <p:sp>
        <p:nvSpPr>
          <p:cNvPr id="18" name="Shape 16"/>
          <p:cNvSpPr/>
          <p:nvPr/>
        </p:nvSpPr>
        <p:spPr>
          <a:xfrm>
            <a:off x="6324448" y="1709928"/>
            <a:ext cx="5364328" cy="457200"/>
          </a:xfrm>
          <a:prstGeom prst="roundRect">
            <a:avLst>
              <a:gd name="adj" fmla="val 18000"/>
            </a:avLst>
          </a:prstGeom>
          <a:solidFill>
            <a:srgbClr val="1E2761"/>
          </a:solidFill>
          <a:ln/>
        </p:spPr>
      </p:sp>
      <p:sp>
        <p:nvSpPr>
          <p:cNvPr id="19" name="Shape 17"/>
          <p:cNvSpPr/>
          <p:nvPr/>
        </p:nvSpPr>
        <p:spPr>
          <a:xfrm>
            <a:off x="6324448" y="1965960"/>
            <a:ext cx="5364328" cy="201168"/>
          </a:xfrm>
          <a:prstGeom prst="rect">
            <a:avLst/>
          </a:prstGeom>
          <a:solidFill>
            <a:srgbClr val="1E2761"/>
          </a:solidFill>
          <a:ln/>
        </p:spPr>
      </p:sp>
      <p:sp>
        <p:nvSpPr>
          <p:cNvPr id="20" name="Text 18"/>
          <p:cNvSpPr/>
          <p:nvPr/>
        </p:nvSpPr>
        <p:spPr>
          <a:xfrm>
            <a:off x="6461608" y="1709928"/>
            <a:ext cx="5090008" cy="45720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Extracted fields</a:t>
            </a:r>
            <a:endParaRPr lang="en-US" sz="1450" dirty="0"/>
          </a:p>
        </p:txBody>
      </p:sp>
      <p:sp>
        <p:nvSpPr>
          <p:cNvPr id="21" name="Text 19"/>
          <p:cNvSpPr/>
          <p:nvPr/>
        </p:nvSpPr>
        <p:spPr>
          <a:xfrm>
            <a:off x="6525616" y="2313432"/>
            <a:ext cx="4961992" cy="2560320"/>
          </a:xfrm>
          <a:prstGeom prst="rect">
            <a:avLst/>
          </a:prstGeom>
          <a:noFill/>
          <a:ln/>
        </p:spPr>
        <p:txBody>
          <a:bodyPr wrap="square" lIns="0" tIns="0" rIns="0" bIns="0" rtlCol="0" anchor="ctr">
            <a:normAutofit/>
          </a:bodyPr>
          <a:lstStyle/>
          <a:p>
            <a:pPr marL="177800" indent="-177800">
              <a:spcAft>
                <a:spcPts val="1400"/>
              </a:spcAft>
              <a:buSzPct val="100000"/>
              <a:buChar char="•"/>
            </a:pPr>
            <a:r>
              <a:rPr lang="en-US" sz="1450" dirty="0">
                <a:solidFill>
                  <a:srgbClr val="1A1F36"/>
                </a:solidFill>
                <a:latin typeface="Calibri" pitchFamily="34" charset="0"/>
                <a:ea typeface="Calibri" pitchFamily="34" charset="-122"/>
                <a:cs typeface="Calibri" pitchFamily="34" charset="-120"/>
              </a:rPr>
              <a:t>trader</a:t>
            </a:r>
            <a:endParaRPr lang="en-US" sz="1450" dirty="0"/>
          </a:p>
          <a:p>
            <a:pPr marL="177800" indent="-177800">
              <a:spcAft>
                <a:spcPts val="1400"/>
              </a:spcAft>
              <a:buSzPct val="100000"/>
              <a:buChar char="•"/>
            </a:pPr>
            <a:r>
              <a:rPr lang="en-US" sz="1450" dirty="0">
                <a:solidFill>
                  <a:srgbClr val="1A1F36"/>
                </a:solidFill>
                <a:latin typeface="Calibri" pitchFamily="34" charset="0"/>
                <a:ea typeface="Calibri" pitchFamily="34" charset="-122"/>
                <a:cs typeface="Calibri" pitchFamily="34" charset="-120"/>
              </a:rPr>
              <a:t>instrument</a:t>
            </a:r>
            <a:endParaRPr lang="en-US" sz="1450" dirty="0"/>
          </a:p>
          <a:p>
            <a:pPr marL="177800" indent="-177800">
              <a:spcAft>
                <a:spcPts val="1400"/>
              </a:spcAft>
              <a:buSzPct val="100000"/>
              <a:buChar char="•"/>
            </a:pPr>
            <a:r>
              <a:rPr lang="en-US" sz="1450" dirty="0">
                <a:solidFill>
                  <a:srgbClr val="1A1F36"/>
                </a:solidFill>
                <a:latin typeface="Calibri" pitchFamily="34" charset="0"/>
                <a:ea typeface="Calibri" pitchFamily="34" charset="-122"/>
                <a:cs typeface="Calibri" pitchFamily="34" charset="-120"/>
              </a:rPr>
              <a:t>notional</a:t>
            </a:r>
            <a:endParaRPr lang="en-US" sz="1450" dirty="0"/>
          </a:p>
          <a:p>
            <a:pPr marL="177800" indent="-177800">
              <a:spcAft>
                <a:spcPts val="1400"/>
              </a:spcAft>
              <a:buSzPct val="100000"/>
              <a:buChar char="•"/>
            </a:pPr>
            <a:r>
              <a:rPr lang="en-US" sz="1450" dirty="0">
                <a:solidFill>
                  <a:srgbClr val="1A1F36"/>
                </a:solidFill>
                <a:latin typeface="Calibri" pitchFamily="34" charset="0"/>
                <a:ea typeface="Calibri" pitchFamily="34" charset="-122"/>
                <a:cs typeface="Calibri" pitchFamily="34" charset="-120"/>
              </a:rPr>
              <a:t>direction</a:t>
            </a:r>
            <a:endParaRPr lang="en-US" sz="1450" dirty="0"/>
          </a:p>
        </p:txBody>
      </p:sp>
      <p:sp>
        <p:nvSpPr>
          <p:cNvPr id="22" name="Shape 20"/>
          <p:cNvSpPr/>
          <p:nvPr/>
        </p:nvSpPr>
        <p:spPr>
          <a:xfrm>
            <a:off x="502920" y="5184648"/>
            <a:ext cx="11185855" cy="594360"/>
          </a:xfrm>
          <a:prstGeom prst="roundRect">
            <a:avLst>
              <a:gd name="adj" fmla="val 13846"/>
            </a:avLst>
          </a:prstGeom>
          <a:solidFill>
            <a:srgbClr val="FFF4E0"/>
          </a:solidFill>
          <a:ln/>
        </p:spPr>
      </p:sp>
      <p:sp>
        <p:nvSpPr>
          <p:cNvPr id="23" name="Shape 21"/>
          <p:cNvSpPr/>
          <p:nvPr/>
        </p:nvSpPr>
        <p:spPr>
          <a:xfrm>
            <a:off x="502920" y="5184648"/>
            <a:ext cx="82296" cy="594360"/>
          </a:xfrm>
          <a:prstGeom prst="roundRect">
            <a:avLst/>
          </a:prstGeom>
          <a:solidFill>
            <a:srgbClr val="E8A33D"/>
          </a:solidFill>
          <a:ln/>
        </p:spPr>
      </p:sp>
      <p:sp>
        <p:nvSpPr>
          <p:cNvPr id="24" name="Text 22"/>
          <p:cNvSpPr/>
          <p:nvPr/>
        </p:nvSpPr>
        <p:spPr>
          <a:xfrm>
            <a:off x="758952" y="5276088"/>
            <a:ext cx="10728655" cy="411480"/>
          </a:xfrm>
          <a:prstGeom prst="rect">
            <a:avLst/>
          </a:prstGeom>
          <a:noFill/>
          <a:ln/>
        </p:spPr>
        <p:txBody>
          <a:bodyPr wrap="square" lIns="0" tIns="0" rIns="0" bIns="0" rtlCol="0" anchor="ctr">
            <a:normAutofit/>
          </a:bodyPr>
          <a:lstStyle/>
          <a:p>
            <a:pPr indent="0" marL="0">
              <a:buNone/>
            </a:pPr>
            <a:r>
              <a:rPr lang="en-US" sz="1250" b="1" i="1" dirty="0">
                <a:solidFill>
                  <a:srgbClr val="B8720A"/>
                </a:solidFill>
                <a:latin typeface="Calibri" pitchFamily="34" charset="0"/>
                <a:ea typeface="Calibri" pitchFamily="34" charset="-122"/>
                <a:cs typeface="Calibri" pitchFamily="34" charset="-120"/>
              </a:rPr>
              <a:t>[DRAFT] </a:t>
            </a:r>
            <a:pPr indent="0" marL="0">
              <a:buNone/>
            </a:pPr>
            <a:r>
              <a:rPr lang="en-US" sz="1250" i="1" dirty="0">
                <a:solidFill>
                  <a:srgbClr val="5C4400"/>
                </a:solidFill>
                <a:latin typeface="Calibri" pitchFamily="34" charset="0"/>
                <a:ea typeface="Calibri" pitchFamily="34" charset="-122"/>
                <a:cs typeface="Calibri" pitchFamily="34" charset="-120"/>
              </a:rPr>
              <a:t>needs a realistic but appropriately anonymized/generic example; do not use anything resembling a real client or trade.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I5</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Two Languages, One AI</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Bridging business &amp; quant phrasing</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From Message to Structured Data</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502920" y="1984248"/>
            <a:ext cx="5181448" cy="2040941"/>
          </a:xfrm>
          <a:prstGeom prst="wedgeRoundRectCallout">
            <a:avLst>
              <a:gd name="adj" fmla="val 5376"/>
            </a:avLst>
          </a:prstGeom>
          <a:solidFill>
            <a:srgbClr val="48587A"/>
          </a:solidFill>
          <a:ln/>
        </p:spPr>
      </p:sp>
      <p:sp>
        <p:nvSpPr>
          <p:cNvPr id="13" name="Text 11"/>
          <p:cNvSpPr/>
          <p:nvPr/>
        </p:nvSpPr>
        <p:spPr>
          <a:xfrm>
            <a:off x="777240" y="2057400"/>
            <a:ext cx="4632808" cy="310896"/>
          </a:xfrm>
          <a:prstGeom prst="rect">
            <a:avLst/>
          </a:prstGeom>
          <a:noFill/>
          <a:ln/>
        </p:spPr>
        <p:txBody>
          <a:bodyPr wrap="square" lIns="0" tIns="0" rIns="0" bIns="0" rtlCol="0" anchor="ctr"/>
          <a:lstStyle/>
          <a:p>
            <a:pPr algn="ctr" indent="0" marL="0">
              <a:buNone/>
            </a:pPr>
            <a:r>
              <a:rPr lang="en-US" sz="1200" b="1" dirty="0">
                <a:solidFill>
                  <a:srgbClr val="E8A33D"/>
                </a:solidFill>
                <a:latin typeface="Calibri" pitchFamily="34" charset="0"/>
                <a:ea typeface="Calibri" pitchFamily="34" charset="-122"/>
                <a:cs typeface="Calibri" pitchFamily="34" charset="-120"/>
              </a:rPr>
              <a:t>Business ask</a:t>
            </a:r>
            <a:endParaRPr lang="en-US" sz="1200" dirty="0"/>
          </a:p>
        </p:txBody>
      </p:sp>
      <p:sp>
        <p:nvSpPr>
          <p:cNvPr id="14" name="Text 12"/>
          <p:cNvSpPr/>
          <p:nvPr/>
        </p:nvSpPr>
        <p:spPr>
          <a:xfrm>
            <a:off x="777240" y="2368296"/>
            <a:ext cx="4632808" cy="1538021"/>
          </a:xfrm>
          <a:prstGeom prst="rect">
            <a:avLst/>
          </a:prstGeom>
          <a:noFill/>
          <a:ln/>
        </p:spPr>
        <p:txBody>
          <a:bodyPr wrap="square" lIns="0" tIns="0" rIns="0" bIns="0" rtlCol="0" anchor="ctr">
            <a:normAutofit/>
          </a:bodyPr>
          <a:lstStyle/>
          <a:p>
            <a:pPr algn="ctr" indent="0" marL="0">
              <a:buNone/>
            </a:pPr>
            <a:r>
              <a:rPr lang="en-US" sz="1300" i="1" dirty="0">
                <a:solidFill>
                  <a:srgbClr val="FFFFFF"/>
                </a:solidFill>
                <a:latin typeface="Calibri" pitchFamily="34" charset="0"/>
                <a:ea typeface="Calibri" pitchFamily="34" charset="-122"/>
                <a:cs typeface="Calibri" pitchFamily="34" charset="-120"/>
              </a:rPr>
              <a:t>[DRAFT: real paired example]</a:t>
            </a:r>
            <a:endParaRPr lang="en-US" sz="1300" dirty="0"/>
          </a:p>
        </p:txBody>
      </p:sp>
      <p:sp>
        <p:nvSpPr>
          <p:cNvPr id="15" name="Shape 13"/>
          <p:cNvSpPr/>
          <p:nvPr/>
        </p:nvSpPr>
        <p:spPr>
          <a:xfrm>
            <a:off x="6507328" y="1984248"/>
            <a:ext cx="5181448" cy="2040941"/>
          </a:xfrm>
          <a:prstGeom prst="wedgeRoundRectCallout">
            <a:avLst>
              <a:gd name="adj" fmla="val 5376"/>
            </a:avLst>
          </a:prstGeom>
          <a:solidFill>
            <a:srgbClr val="1E2761"/>
          </a:solidFill>
          <a:ln/>
        </p:spPr>
      </p:sp>
      <p:sp>
        <p:nvSpPr>
          <p:cNvPr id="16" name="Text 14"/>
          <p:cNvSpPr/>
          <p:nvPr/>
        </p:nvSpPr>
        <p:spPr>
          <a:xfrm>
            <a:off x="6781648" y="2057400"/>
            <a:ext cx="4632808" cy="310896"/>
          </a:xfrm>
          <a:prstGeom prst="rect">
            <a:avLst/>
          </a:prstGeom>
          <a:noFill/>
          <a:ln/>
        </p:spPr>
        <p:txBody>
          <a:bodyPr wrap="square" lIns="0" tIns="0" rIns="0" bIns="0" rtlCol="0" anchor="ctr"/>
          <a:lstStyle/>
          <a:p>
            <a:pPr algn="ctr" indent="0" marL="0">
              <a:buNone/>
            </a:pPr>
            <a:r>
              <a:rPr lang="en-US" sz="1200" b="1" dirty="0">
                <a:solidFill>
                  <a:srgbClr val="E8A33D"/>
                </a:solidFill>
                <a:latin typeface="Calibri" pitchFamily="34" charset="0"/>
                <a:ea typeface="Calibri" pitchFamily="34" charset="-122"/>
                <a:cs typeface="Calibri" pitchFamily="34" charset="-120"/>
              </a:rPr>
              <a:t>Quant formalization</a:t>
            </a:r>
            <a:endParaRPr lang="en-US" sz="1200" dirty="0"/>
          </a:p>
        </p:txBody>
      </p:sp>
      <p:sp>
        <p:nvSpPr>
          <p:cNvPr id="17" name="Text 15"/>
          <p:cNvSpPr/>
          <p:nvPr/>
        </p:nvSpPr>
        <p:spPr>
          <a:xfrm>
            <a:off x="6781648" y="2368296"/>
            <a:ext cx="4632808" cy="1538021"/>
          </a:xfrm>
          <a:prstGeom prst="rect">
            <a:avLst/>
          </a:prstGeom>
          <a:noFill/>
          <a:ln/>
        </p:spPr>
        <p:txBody>
          <a:bodyPr wrap="square" lIns="0" tIns="0" rIns="0" bIns="0" rtlCol="0" anchor="ctr">
            <a:normAutofit/>
          </a:bodyPr>
          <a:lstStyle/>
          <a:p>
            <a:pPr algn="ctr" indent="0" marL="0">
              <a:buNone/>
            </a:pPr>
            <a:r>
              <a:rPr lang="en-US" sz="1300" i="1" dirty="0">
                <a:solidFill>
                  <a:srgbClr val="FFFFFF"/>
                </a:solidFill>
                <a:latin typeface="Calibri" pitchFamily="34" charset="0"/>
                <a:ea typeface="Calibri" pitchFamily="34" charset="-122"/>
                <a:cs typeface="Calibri" pitchFamily="34" charset="-120"/>
              </a:rPr>
              <a:t>[DRAFT: real paired example]</a:t>
            </a:r>
            <a:endParaRPr lang="en-US" sz="1300" dirty="0"/>
          </a:p>
        </p:txBody>
      </p:sp>
      <p:sp>
        <p:nvSpPr>
          <p:cNvPr id="18" name="Shape 16"/>
          <p:cNvSpPr/>
          <p:nvPr/>
        </p:nvSpPr>
        <p:spPr>
          <a:xfrm>
            <a:off x="5848960" y="4528109"/>
            <a:ext cx="493776" cy="201168"/>
          </a:xfrm>
          <a:prstGeom prst="leftRightArrow">
            <a:avLst/>
          </a:prstGeom>
          <a:solidFill>
            <a:srgbClr val="E8A33D"/>
          </a:solidFill>
          <a:ln/>
        </p:spPr>
      </p:sp>
      <p:sp>
        <p:nvSpPr>
          <p:cNvPr id="19" name="Text 17"/>
          <p:cNvSpPr/>
          <p:nvPr/>
        </p:nvSpPr>
        <p:spPr>
          <a:xfrm>
            <a:off x="502920" y="4802429"/>
            <a:ext cx="11185855" cy="365760"/>
          </a:xfrm>
          <a:prstGeom prst="rect">
            <a:avLst/>
          </a:prstGeom>
          <a:noFill/>
          <a:ln/>
        </p:spPr>
        <p:txBody>
          <a:bodyPr wrap="square" lIns="0" tIns="0" rIns="0" bIns="0" rtlCol="0" anchor="ctr"/>
          <a:lstStyle/>
          <a:p>
            <a:pPr algn="ctr" indent="0" marL="0">
              <a:buNone/>
            </a:pPr>
            <a:r>
              <a:rPr lang="en-US" sz="1150" i="1" dirty="0">
                <a:solidFill>
                  <a:srgbClr val="6B7280"/>
                </a:solidFill>
                <a:latin typeface="Calibri" pitchFamily="34" charset="0"/>
                <a:ea typeface="Calibri" pitchFamily="34" charset="-122"/>
                <a:cs typeface="Calibri" pitchFamily="34" charset="-120"/>
              </a:rPr>
              <a:t>AI translates either direction</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B45"/>
        </a:solidFill>
      </p:bgPr>
    </p:bg>
    <p:spTree>
      <p:nvGrpSpPr>
        <p:cNvPr id="1" name=""/>
        <p:cNvGrpSpPr/>
        <p:nvPr/>
      </p:nvGrpSpPr>
      <p:grpSpPr>
        <a:xfrm>
          <a:off x="0" y="0"/>
          <a:ext cx="0" cy="0"/>
          <a:chOff x="0" y="0"/>
          <a:chExt cx="0" cy="0"/>
        </a:xfrm>
      </p:grpSpPr>
      <p:sp>
        <p:nvSpPr>
          <p:cNvPr id="2" name="Shape 0"/>
          <p:cNvSpPr/>
          <p:nvPr/>
        </p:nvSpPr>
        <p:spPr>
          <a:xfrm>
            <a:off x="9966960" y="-1371600"/>
            <a:ext cx="3840480" cy="3840480"/>
          </a:xfrm>
          <a:prstGeom prst="ellipse">
            <a:avLst/>
          </a:prstGeom>
          <a:solidFill>
            <a:srgbClr val="1E2761"/>
          </a:solidFill>
          <a:ln/>
        </p:spPr>
      </p:sp>
      <p:sp>
        <p:nvSpPr>
          <p:cNvPr id="3" name="Text 1"/>
          <p:cNvSpPr/>
          <p:nvPr/>
        </p:nvSpPr>
        <p:spPr>
          <a:xfrm>
            <a:off x="502920" y="502920"/>
            <a:ext cx="9144000" cy="365760"/>
          </a:xfrm>
          <a:prstGeom prst="rect">
            <a:avLst/>
          </a:prstGeom>
          <a:noFill/>
          <a:ln/>
        </p:spPr>
        <p:txBody>
          <a:bodyPr wrap="square" lIns="0" tIns="0" rIns="0" bIns="0" rtlCol="0" anchor="ctr"/>
          <a:lstStyle/>
          <a:p>
            <a:pPr indent="0" marL="0">
              <a:buNone/>
            </a:pPr>
            <a:r>
              <a:rPr lang="en-US" sz="1300" b="1" spc="200" kern="0" dirty="0">
                <a:solidFill>
                  <a:srgbClr val="E8A33D"/>
                </a:solidFill>
                <a:latin typeface="Calibri" pitchFamily="34" charset="0"/>
                <a:ea typeface="Calibri" pitchFamily="34" charset="-122"/>
                <a:cs typeface="Calibri" pitchFamily="34" charset="-120"/>
              </a:rPr>
              <a:t>LIVE DEMO</a:t>
            </a:r>
            <a:endParaRPr lang="en-US" sz="1300" dirty="0"/>
          </a:p>
        </p:txBody>
      </p:sp>
      <p:sp>
        <p:nvSpPr>
          <p:cNvPr id="4" name="Text 2"/>
          <p:cNvSpPr/>
          <p:nvPr/>
        </p:nvSpPr>
        <p:spPr>
          <a:xfrm>
            <a:off x="502920" y="841248"/>
            <a:ext cx="11185855" cy="658368"/>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Vague → Tight → Follow-Up → Structured</a:t>
            </a:r>
            <a:endParaRPr lang="en-US" sz="2700" dirty="0"/>
          </a:p>
        </p:txBody>
      </p:sp>
      <p:sp>
        <p:nvSpPr>
          <p:cNvPr id="5" name="Text 3"/>
          <p:cNvSpPr/>
          <p:nvPr/>
        </p:nvSpPr>
        <p:spPr>
          <a:xfrm>
            <a:off x="502920" y="1444752"/>
            <a:ext cx="11185855" cy="365760"/>
          </a:xfrm>
          <a:prstGeom prst="rect">
            <a:avLst/>
          </a:prstGeom>
          <a:noFill/>
          <a:ln/>
        </p:spPr>
        <p:txBody>
          <a:bodyPr wrap="square" lIns="0" tIns="0" rIns="0" bIns="0" rtlCol="0" anchor="ctr"/>
          <a:lstStyle/>
          <a:p>
            <a:pPr indent="0" marL="0">
              <a:buNone/>
            </a:pPr>
            <a:r>
              <a:rPr lang="en-US" sz="1350" i="1" dirty="0">
                <a:solidFill>
                  <a:srgbClr val="CADCFC"/>
                </a:solidFill>
                <a:latin typeface="Calibri" pitchFamily="34" charset="0"/>
                <a:ea typeface="Calibri" pitchFamily="34" charset="-122"/>
                <a:cs typeface="Calibri" pitchFamily="34" charset="-120"/>
              </a:rPr>
              <a:t>~10–15 min · pre-type the slide 2/7 prompt pair so you're not composing live under pressure</a:t>
            </a:r>
            <a:endParaRPr lang="en-US" sz="1350" dirty="0"/>
          </a:p>
        </p:txBody>
      </p:sp>
      <p:sp>
        <p:nvSpPr>
          <p:cNvPr id="6" name="Shape 4"/>
          <p:cNvSpPr/>
          <p:nvPr/>
        </p:nvSpPr>
        <p:spPr>
          <a:xfrm>
            <a:off x="502920" y="2020824"/>
            <a:ext cx="457200" cy="457200"/>
          </a:xfrm>
          <a:prstGeom prst="ellipse">
            <a:avLst/>
          </a:prstGeom>
          <a:solidFill>
            <a:srgbClr val="E8A33D"/>
          </a:solidFill>
          <a:ln/>
        </p:spPr>
      </p:sp>
      <p:sp>
        <p:nvSpPr>
          <p:cNvPr id="7" name="Text 5"/>
          <p:cNvSpPr/>
          <p:nvPr/>
        </p:nvSpPr>
        <p:spPr>
          <a:xfrm>
            <a:off x="502920" y="2020824"/>
            <a:ext cx="457200" cy="457200"/>
          </a:xfrm>
          <a:prstGeom prst="rect">
            <a:avLst/>
          </a:prstGeom>
          <a:noFill/>
          <a:ln/>
        </p:spPr>
        <p:txBody>
          <a:bodyPr wrap="square" lIns="0" tIns="0" rIns="0" bIns="0" rtlCol="0" anchor="ctr"/>
          <a:lstStyle/>
          <a:p>
            <a:pPr algn="ctr" indent="0" marL="0">
              <a:buNone/>
            </a:pPr>
            <a:r>
              <a:rPr lang="en-US" sz="1600" b="1" dirty="0">
                <a:solidFill>
                  <a:srgbClr val="141B45"/>
                </a:solidFill>
                <a:latin typeface="Cambria" pitchFamily="34" charset="0"/>
                <a:ea typeface="Cambria" pitchFamily="34" charset="-122"/>
                <a:cs typeface="Cambria" pitchFamily="34" charset="-120"/>
              </a:rPr>
              <a:t>1</a:t>
            </a:r>
            <a:endParaRPr lang="en-US" sz="1600" dirty="0"/>
          </a:p>
        </p:txBody>
      </p:sp>
      <p:sp>
        <p:nvSpPr>
          <p:cNvPr id="8" name="Text 6"/>
          <p:cNvSpPr/>
          <p:nvPr/>
        </p:nvSpPr>
        <p:spPr>
          <a:xfrm>
            <a:off x="1161288" y="1965960"/>
            <a:ext cx="10527487" cy="578358"/>
          </a:xfrm>
          <a:prstGeom prst="rect">
            <a:avLst/>
          </a:prstGeom>
          <a:noFill/>
          <a:ln/>
        </p:spPr>
        <p:txBody>
          <a:bodyPr wrap="square" lIns="0" tIns="0" rIns="0" bIns="0" rtlCol="0" anchor="b">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Start deliberately vague</a:t>
            </a:r>
            <a:endParaRPr lang="en-US" sz="1500" dirty="0"/>
          </a:p>
        </p:txBody>
      </p:sp>
      <p:sp>
        <p:nvSpPr>
          <p:cNvPr id="9" name="Text 7"/>
          <p:cNvSpPr/>
          <p:nvPr/>
        </p:nvSpPr>
        <p:spPr>
          <a:xfrm>
            <a:off x="1161288" y="2491740"/>
            <a:ext cx="10527487" cy="504749"/>
          </a:xfrm>
          <a:prstGeom prst="rect">
            <a:avLst/>
          </a:prstGeom>
          <a:noFill/>
          <a:ln/>
        </p:spPr>
        <p:txBody>
          <a:bodyPr wrap="square" lIns="0" tIns="0" rIns="0" bIns="0" rtlCol="0" anchor="t">
            <a:normAutofit/>
          </a:bodyPr>
          <a:lstStyle/>
          <a:p>
            <a:pPr indent="0" marL="0">
              <a:buNone/>
            </a:pPr>
            <a:r>
              <a:rPr lang="en-US" sz="1150" i="1" dirty="0">
                <a:solidFill>
                  <a:srgbClr val="CADCFC"/>
                </a:solidFill>
                <a:latin typeface="Calibri" pitchFamily="34" charset="0"/>
                <a:ea typeface="Calibri" pitchFamily="34" charset="-122"/>
                <a:cs typeface="Calibri" pitchFamily="34" charset="-120"/>
              </a:rPr>
              <a:t>"Let's start badly, on purpose." Technically an answer, not very useful.</a:t>
            </a:r>
            <a:endParaRPr lang="en-US" sz="1150" dirty="0"/>
          </a:p>
        </p:txBody>
      </p:sp>
      <p:sp>
        <p:nvSpPr>
          <p:cNvPr id="10" name="Shape 8"/>
          <p:cNvSpPr/>
          <p:nvPr/>
        </p:nvSpPr>
        <p:spPr>
          <a:xfrm>
            <a:off x="502920" y="3072384"/>
            <a:ext cx="457200" cy="457200"/>
          </a:xfrm>
          <a:prstGeom prst="ellipse">
            <a:avLst/>
          </a:prstGeom>
          <a:solidFill>
            <a:srgbClr val="E8A33D"/>
          </a:solidFill>
          <a:ln/>
        </p:spPr>
      </p:sp>
      <p:sp>
        <p:nvSpPr>
          <p:cNvPr id="11" name="Text 9"/>
          <p:cNvSpPr/>
          <p:nvPr/>
        </p:nvSpPr>
        <p:spPr>
          <a:xfrm>
            <a:off x="502920" y="3072384"/>
            <a:ext cx="457200" cy="457200"/>
          </a:xfrm>
          <a:prstGeom prst="rect">
            <a:avLst/>
          </a:prstGeom>
          <a:noFill/>
          <a:ln/>
        </p:spPr>
        <p:txBody>
          <a:bodyPr wrap="square" lIns="0" tIns="0" rIns="0" bIns="0" rtlCol="0" anchor="ctr"/>
          <a:lstStyle/>
          <a:p>
            <a:pPr algn="ctr" indent="0" marL="0">
              <a:buNone/>
            </a:pPr>
            <a:r>
              <a:rPr lang="en-US" sz="1600" b="1" dirty="0">
                <a:solidFill>
                  <a:srgbClr val="141B45"/>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1161288" y="3017520"/>
            <a:ext cx="10527487" cy="578358"/>
          </a:xfrm>
          <a:prstGeom prst="rect">
            <a:avLst/>
          </a:prstGeom>
          <a:noFill/>
          <a:ln/>
        </p:spPr>
        <p:txBody>
          <a:bodyPr wrap="square" lIns="0" tIns="0" rIns="0" bIns="0" rtlCol="0" anchor="b">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Tighten it via Role/Task/Format/Constraints</a:t>
            </a:r>
            <a:endParaRPr lang="en-US" sz="1500" dirty="0"/>
          </a:p>
        </p:txBody>
      </p:sp>
      <p:sp>
        <p:nvSpPr>
          <p:cNvPr id="13" name="Text 11"/>
          <p:cNvSpPr/>
          <p:nvPr/>
        </p:nvSpPr>
        <p:spPr>
          <a:xfrm>
            <a:off x="1161288" y="3543300"/>
            <a:ext cx="10527487" cy="504749"/>
          </a:xfrm>
          <a:prstGeom prst="rect">
            <a:avLst/>
          </a:prstGeom>
          <a:noFill/>
          <a:ln/>
        </p:spPr>
        <p:txBody>
          <a:bodyPr wrap="square" lIns="0" tIns="0" rIns="0" bIns="0" rtlCol="0" anchor="t">
            <a:normAutofit/>
          </a:bodyPr>
          <a:lstStyle/>
          <a:p>
            <a:pPr indent="0" marL="0">
              <a:buNone/>
            </a:pPr>
            <a:r>
              <a:rPr lang="en-US" sz="1150" i="1" dirty="0">
                <a:solidFill>
                  <a:srgbClr val="CADCFC"/>
                </a:solidFill>
                <a:latin typeface="Calibri" pitchFamily="34" charset="0"/>
                <a:ea typeface="Calibri" pitchFamily="34" charset="-122"/>
                <a:cs typeface="Calibri" pitchFamily="34" charset="-120"/>
              </a:rPr>
              <a:t>Rebuild it live, phrase by phrase, using the checklist.</a:t>
            </a:r>
            <a:endParaRPr lang="en-US" sz="1150" dirty="0"/>
          </a:p>
        </p:txBody>
      </p:sp>
      <p:sp>
        <p:nvSpPr>
          <p:cNvPr id="14" name="Shape 12"/>
          <p:cNvSpPr/>
          <p:nvPr/>
        </p:nvSpPr>
        <p:spPr>
          <a:xfrm>
            <a:off x="502920" y="4123944"/>
            <a:ext cx="457200" cy="457200"/>
          </a:xfrm>
          <a:prstGeom prst="ellipse">
            <a:avLst/>
          </a:prstGeom>
          <a:solidFill>
            <a:srgbClr val="E8A33D"/>
          </a:solidFill>
          <a:ln/>
        </p:spPr>
      </p:sp>
      <p:sp>
        <p:nvSpPr>
          <p:cNvPr id="15" name="Text 13"/>
          <p:cNvSpPr/>
          <p:nvPr/>
        </p:nvSpPr>
        <p:spPr>
          <a:xfrm>
            <a:off x="502920" y="4123944"/>
            <a:ext cx="457200" cy="457200"/>
          </a:xfrm>
          <a:prstGeom prst="rect">
            <a:avLst/>
          </a:prstGeom>
          <a:noFill/>
          <a:ln/>
        </p:spPr>
        <p:txBody>
          <a:bodyPr wrap="square" lIns="0" tIns="0" rIns="0" bIns="0" rtlCol="0" anchor="ctr"/>
          <a:lstStyle/>
          <a:p>
            <a:pPr algn="ctr" indent="0" marL="0">
              <a:buNone/>
            </a:pPr>
            <a:r>
              <a:rPr lang="en-US" sz="1600" b="1" dirty="0">
                <a:solidFill>
                  <a:srgbClr val="141B45"/>
                </a:solidFill>
                <a:latin typeface="Cambria" pitchFamily="34" charset="0"/>
                <a:ea typeface="Cambria" pitchFamily="34" charset="-122"/>
                <a:cs typeface="Cambria" pitchFamily="34" charset="-120"/>
              </a:rPr>
              <a:t>3</a:t>
            </a:r>
            <a:endParaRPr lang="en-US" sz="1600" dirty="0"/>
          </a:p>
        </p:txBody>
      </p:sp>
      <p:sp>
        <p:nvSpPr>
          <p:cNvPr id="16" name="Text 14"/>
          <p:cNvSpPr/>
          <p:nvPr/>
        </p:nvSpPr>
        <p:spPr>
          <a:xfrm>
            <a:off x="1161288" y="4069080"/>
            <a:ext cx="10527487" cy="578358"/>
          </a:xfrm>
          <a:prstGeom prst="rect">
            <a:avLst/>
          </a:prstGeom>
          <a:noFill/>
          <a:ln/>
        </p:spPr>
        <p:txBody>
          <a:bodyPr wrap="square" lIns="0" tIns="0" rIns="0" bIns="0" rtlCol="0" anchor="b">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Follow up in the same conversation</a:t>
            </a:r>
            <a:endParaRPr lang="en-US" sz="1500" dirty="0"/>
          </a:p>
        </p:txBody>
      </p:sp>
      <p:sp>
        <p:nvSpPr>
          <p:cNvPr id="17" name="Text 15"/>
          <p:cNvSpPr/>
          <p:nvPr/>
        </p:nvSpPr>
        <p:spPr>
          <a:xfrm>
            <a:off x="1161288" y="4594860"/>
            <a:ext cx="10527487" cy="504749"/>
          </a:xfrm>
          <a:prstGeom prst="rect">
            <a:avLst/>
          </a:prstGeom>
          <a:noFill/>
          <a:ln/>
        </p:spPr>
        <p:txBody>
          <a:bodyPr wrap="square" lIns="0" tIns="0" rIns="0" bIns="0" rtlCol="0" anchor="t">
            <a:normAutofit/>
          </a:bodyPr>
          <a:lstStyle/>
          <a:p>
            <a:pPr indent="0" marL="0">
              <a:buNone/>
            </a:pPr>
            <a:r>
              <a:rPr lang="en-US" sz="1150" i="1" dirty="0">
                <a:solidFill>
                  <a:srgbClr val="CADCFC"/>
                </a:solidFill>
                <a:latin typeface="Calibri" pitchFamily="34" charset="0"/>
                <a:ea typeface="Calibri" pitchFamily="34" charset="-122"/>
                <a:cs typeface="Calibri" pitchFamily="34" charset="-120"/>
              </a:rPr>
              <a:t>"I don't restart." Show it building on what's already there.</a:t>
            </a:r>
            <a:endParaRPr lang="en-US" sz="1150" dirty="0"/>
          </a:p>
        </p:txBody>
      </p:sp>
      <p:sp>
        <p:nvSpPr>
          <p:cNvPr id="18" name="Shape 16"/>
          <p:cNvSpPr/>
          <p:nvPr/>
        </p:nvSpPr>
        <p:spPr>
          <a:xfrm>
            <a:off x="502920" y="5175504"/>
            <a:ext cx="457200" cy="457200"/>
          </a:xfrm>
          <a:prstGeom prst="ellipse">
            <a:avLst/>
          </a:prstGeom>
          <a:solidFill>
            <a:srgbClr val="E8A33D"/>
          </a:solidFill>
          <a:ln/>
        </p:spPr>
      </p:sp>
      <p:sp>
        <p:nvSpPr>
          <p:cNvPr id="19" name="Text 17"/>
          <p:cNvSpPr/>
          <p:nvPr/>
        </p:nvSpPr>
        <p:spPr>
          <a:xfrm>
            <a:off x="502920" y="5175504"/>
            <a:ext cx="457200" cy="457200"/>
          </a:xfrm>
          <a:prstGeom prst="rect">
            <a:avLst/>
          </a:prstGeom>
          <a:noFill/>
          <a:ln/>
        </p:spPr>
        <p:txBody>
          <a:bodyPr wrap="square" lIns="0" tIns="0" rIns="0" bIns="0" rtlCol="0" anchor="ctr"/>
          <a:lstStyle/>
          <a:p>
            <a:pPr algn="ctr" indent="0" marL="0">
              <a:buNone/>
            </a:pPr>
            <a:r>
              <a:rPr lang="en-US" sz="1600" b="1" dirty="0">
                <a:solidFill>
                  <a:srgbClr val="141B45"/>
                </a:solidFill>
                <a:latin typeface="Cambria" pitchFamily="34" charset="0"/>
                <a:ea typeface="Cambria" pitchFamily="34" charset="-122"/>
                <a:cs typeface="Cambria" pitchFamily="34" charset="-120"/>
              </a:rPr>
              <a:t>4</a:t>
            </a:r>
            <a:endParaRPr lang="en-US" sz="1600" dirty="0"/>
          </a:p>
        </p:txBody>
      </p:sp>
      <p:sp>
        <p:nvSpPr>
          <p:cNvPr id="20" name="Text 18"/>
          <p:cNvSpPr/>
          <p:nvPr/>
        </p:nvSpPr>
        <p:spPr>
          <a:xfrm>
            <a:off x="1161288" y="5120640"/>
            <a:ext cx="10527487" cy="578358"/>
          </a:xfrm>
          <a:prstGeom prst="rect">
            <a:avLst/>
          </a:prstGeom>
          <a:noFill/>
          <a:ln/>
        </p:spPr>
        <p:txBody>
          <a:bodyPr wrap="square" lIns="0" tIns="0" rIns="0" bIns="0" rtlCol="0" anchor="b">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Ask for structured output</a:t>
            </a:r>
            <a:endParaRPr lang="en-US" sz="1500" dirty="0"/>
          </a:p>
        </p:txBody>
      </p:sp>
      <p:sp>
        <p:nvSpPr>
          <p:cNvPr id="21" name="Text 19"/>
          <p:cNvSpPr/>
          <p:nvPr/>
        </p:nvSpPr>
        <p:spPr>
          <a:xfrm>
            <a:off x="1161288" y="5646420"/>
            <a:ext cx="10527487" cy="504749"/>
          </a:xfrm>
          <a:prstGeom prst="rect">
            <a:avLst/>
          </a:prstGeom>
          <a:noFill/>
          <a:ln/>
        </p:spPr>
        <p:txBody>
          <a:bodyPr wrap="square" lIns="0" tIns="0" rIns="0" bIns="0" rtlCol="0" anchor="t">
            <a:normAutofit/>
          </a:bodyPr>
          <a:lstStyle/>
          <a:p>
            <a:pPr indent="0" marL="0">
              <a:buNone/>
            </a:pPr>
            <a:r>
              <a:rPr lang="en-US" sz="1150" i="1" dirty="0">
                <a:solidFill>
                  <a:srgbClr val="CADCFC"/>
                </a:solidFill>
                <a:latin typeface="Calibri" pitchFamily="34" charset="0"/>
                <a:ea typeface="Calibri" pitchFamily="34" charset="-122"/>
                <a:cs typeface="Calibri" pitchFamily="34" charset="-120"/>
              </a:rPr>
              <a:t>Same information, reshaped into structured fields, I4, live.</a:t>
            </a:r>
            <a:endParaRPr lang="en-US" sz="1150" dirty="0"/>
          </a:p>
        </p:txBody>
      </p:sp>
      <p:sp>
        <p:nvSpPr>
          <p:cNvPr id="22" name="Text 20"/>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A9AFC3"/>
                </a:solidFill>
                <a:latin typeface="Calibri" pitchFamily="34" charset="0"/>
                <a:ea typeface="Calibri" pitchFamily="34" charset="-122"/>
                <a:cs typeface="Calibri" pitchFamily="34" charset="-120"/>
              </a:rPr>
              <a:t>From Message to Structured Data</a:t>
            </a:r>
            <a:endParaRPr lang="en-US" sz="900" dirty="0"/>
          </a:p>
        </p:txBody>
      </p:sp>
      <p:sp>
        <p:nvSpPr>
          <p:cNvPr id="23" name="Text 2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A9AFC3"/>
                </a:solidFill>
                <a:latin typeface="Calibri" pitchFamily="34" charset="0"/>
                <a:ea typeface="Calibri" pitchFamily="34" charset="-122"/>
                <a:cs typeface="Calibri" pitchFamily="34" charset="-120"/>
              </a:rPr>
              <a:t>14</a:t>
            </a:r>
            <a:endParaRPr lang="en-US" sz="900" dirty="0"/>
          </a:p>
        </p:txBody>
      </p:sp>
      <p:sp>
        <p:nvSpPr>
          <p:cNvPr id="24" name="Shape 22"/>
          <p:cNvSpPr/>
          <p:nvPr/>
        </p:nvSpPr>
        <p:spPr>
          <a:xfrm>
            <a:off x="11400739" y="201168"/>
            <a:ext cx="192024" cy="192024"/>
          </a:xfrm>
          <a:prstGeom prst="rect">
            <a:avLst/>
          </a:prstGeom>
          <a:solidFill>
            <a:srgbClr val="FFFFFF"/>
          </a:solidFill>
          <a:ln/>
        </p:spPr>
      </p:sp>
      <p:sp>
        <p:nvSpPr>
          <p:cNvPr id="25" name="Shape 23"/>
          <p:cNvSpPr/>
          <p:nvPr/>
        </p:nvSpPr>
        <p:spPr>
          <a:xfrm rot="5400000">
            <a:off x="11544757" y="249174"/>
            <a:ext cx="192024" cy="96012"/>
          </a:xfrm>
          <a:prstGeom prst="triangle">
            <a:avLst/>
          </a:prstGeom>
          <a:solidFill>
            <a:srgbClr val="E52713"/>
          </a:solidFill>
          <a:ln/>
        </p:spPr>
      </p:sp>
      <p:sp>
        <p:nvSpPr>
          <p:cNvPr id="26" name="Shape 24"/>
          <p:cNvSpPr/>
          <p:nvPr/>
        </p:nvSpPr>
        <p:spPr>
          <a:xfrm rot="16200000">
            <a:off x="11256721" y="249174"/>
            <a:ext cx="192024" cy="96012"/>
          </a:xfrm>
          <a:prstGeom prst="triangle">
            <a:avLst/>
          </a:prstGeom>
          <a:solidFill>
            <a:srgbClr val="E52713"/>
          </a:solidFill>
          <a:ln/>
        </p:spPr>
      </p:sp>
      <p:sp>
        <p:nvSpPr>
          <p:cNvPr id="27" name="Shape 25"/>
          <p:cNvSpPr/>
          <p:nvPr/>
        </p:nvSpPr>
        <p:spPr>
          <a:xfrm rot="10800000">
            <a:off x="11400739" y="201168"/>
            <a:ext cx="192024" cy="96012"/>
          </a:xfrm>
          <a:prstGeom prst="triangle">
            <a:avLst/>
          </a:prstGeom>
          <a:solidFill>
            <a:srgbClr val="E52713"/>
          </a:solidFill>
          <a:ln/>
        </p:spPr>
      </p:sp>
      <p:sp>
        <p:nvSpPr>
          <p:cNvPr id="28" name="Shape 26"/>
          <p:cNvSpPr/>
          <p:nvPr/>
        </p:nvSpPr>
        <p:spPr>
          <a:xfrm>
            <a:off x="11400739" y="297180"/>
            <a:ext cx="192024" cy="96012"/>
          </a:xfrm>
          <a:prstGeom prst="triangle">
            <a:avLst/>
          </a:prstGeom>
          <a:solidFill>
            <a:srgbClr val="E52713"/>
          </a:solid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RECAP</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Recap + What's Next</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One line on today, one line ahead</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From Message to Structured Data</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1104870" y="1709928"/>
            <a:ext cx="777240" cy="777240"/>
          </a:xfrm>
          <a:prstGeom prst="ellipse">
            <a:avLst/>
          </a:prstGeom>
          <a:solidFill>
            <a:srgbClr val="1E2761"/>
          </a:solidFill>
          <a:ln/>
        </p:spPr>
      </p:sp>
      <p:pic>
        <p:nvPicPr>
          <p:cNvPr id="13" name="Image 0" descr="/private/tmp/claude-501/-Users-sai-Work-Office-Teaching/ee8695eb-a8ef-409d-a9ba-c09e44dd9ced/scratchpad/pptx-build/assets/icons/FaLayerGroup.png">    </p:cNvPr>
          <p:cNvPicPr>
            <a:picLocks noChangeAspect="1"/>
          </p:cNvPicPr>
          <p:nvPr/>
        </p:nvPicPr>
        <p:blipFill>
          <a:blip r:embed="rId1"/>
          <a:stretch>
            <a:fillRect/>
          </a:stretch>
        </p:blipFill>
        <p:spPr>
          <a:xfrm>
            <a:off x="1291407" y="1896466"/>
            <a:ext cx="404165" cy="404165"/>
          </a:xfrm>
          <a:prstGeom prst="rect">
            <a:avLst/>
          </a:prstGeom>
        </p:spPr>
      </p:pic>
      <p:sp>
        <p:nvSpPr>
          <p:cNvPr id="14" name="Text 11"/>
          <p:cNvSpPr/>
          <p:nvPr/>
        </p:nvSpPr>
        <p:spPr>
          <a:xfrm>
            <a:off x="502920" y="2615184"/>
            <a:ext cx="1981139"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I1 Levers</a:t>
            </a:r>
            <a:endParaRPr lang="en-US" sz="1250" dirty="0"/>
          </a:p>
        </p:txBody>
      </p:sp>
      <p:sp>
        <p:nvSpPr>
          <p:cNvPr id="15" name="Shape 12"/>
          <p:cNvSpPr/>
          <p:nvPr/>
        </p:nvSpPr>
        <p:spPr>
          <a:xfrm>
            <a:off x="3406049" y="1709928"/>
            <a:ext cx="777240" cy="777240"/>
          </a:xfrm>
          <a:prstGeom prst="ellipse">
            <a:avLst/>
          </a:prstGeom>
          <a:solidFill>
            <a:srgbClr val="1E2761"/>
          </a:solidFill>
          <a:ln/>
        </p:spPr>
      </p:sp>
      <p:pic>
        <p:nvPicPr>
          <p:cNvPr id="16" name="Image 1" descr="/private/tmp/claude-501/-Users-sai-Work-Office-Teaching/ee8695eb-a8ef-409d-a9ba-c09e44dd9ced/scratchpad/pptx-build/assets/icons/FaClipboardCheck.png">    </p:cNvPr>
          <p:cNvPicPr>
            <a:picLocks noChangeAspect="1"/>
          </p:cNvPicPr>
          <p:nvPr/>
        </p:nvPicPr>
        <p:blipFill>
          <a:blip r:embed="rId2"/>
          <a:stretch>
            <a:fillRect/>
          </a:stretch>
        </p:blipFill>
        <p:spPr>
          <a:xfrm>
            <a:off x="3592586" y="1896466"/>
            <a:ext cx="404165" cy="404165"/>
          </a:xfrm>
          <a:prstGeom prst="rect">
            <a:avLst/>
          </a:prstGeom>
        </p:spPr>
      </p:pic>
      <p:sp>
        <p:nvSpPr>
          <p:cNvPr id="17" name="Text 13"/>
          <p:cNvSpPr/>
          <p:nvPr/>
        </p:nvSpPr>
        <p:spPr>
          <a:xfrm>
            <a:off x="2804099" y="2615184"/>
            <a:ext cx="1981139"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I2 Checklist</a:t>
            </a:r>
            <a:endParaRPr lang="en-US" sz="1250" dirty="0"/>
          </a:p>
        </p:txBody>
      </p:sp>
      <p:sp>
        <p:nvSpPr>
          <p:cNvPr id="18" name="Shape 14"/>
          <p:cNvSpPr/>
          <p:nvPr/>
        </p:nvSpPr>
        <p:spPr>
          <a:xfrm>
            <a:off x="5707228" y="1709928"/>
            <a:ext cx="777240" cy="777240"/>
          </a:xfrm>
          <a:prstGeom prst="ellipse">
            <a:avLst/>
          </a:prstGeom>
          <a:solidFill>
            <a:srgbClr val="1E2761"/>
          </a:solidFill>
          <a:ln/>
        </p:spPr>
      </p:sp>
      <p:pic>
        <p:nvPicPr>
          <p:cNvPr id="19" name="Image 2" descr="/private/tmp/claude-501/-Users-sai-Work-Office-Teaching/ee8695eb-a8ef-409d-a9ba-c09e44dd9ced/scratchpad/pptx-build/assets/icons/FaComments.png">    </p:cNvPr>
          <p:cNvPicPr>
            <a:picLocks noChangeAspect="1"/>
          </p:cNvPicPr>
          <p:nvPr/>
        </p:nvPicPr>
        <p:blipFill>
          <a:blip r:embed="rId3"/>
          <a:stretch>
            <a:fillRect/>
          </a:stretch>
        </p:blipFill>
        <p:spPr>
          <a:xfrm>
            <a:off x="5893765" y="1896466"/>
            <a:ext cx="404165" cy="404165"/>
          </a:xfrm>
          <a:prstGeom prst="rect">
            <a:avLst/>
          </a:prstGeom>
        </p:spPr>
      </p:pic>
      <p:sp>
        <p:nvSpPr>
          <p:cNvPr id="20" name="Text 15"/>
          <p:cNvSpPr/>
          <p:nvPr/>
        </p:nvSpPr>
        <p:spPr>
          <a:xfrm>
            <a:off x="5105278" y="2615184"/>
            <a:ext cx="1981139"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I3 Follow-ups</a:t>
            </a:r>
            <a:endParaRPr lang="en-US" sz="1250" dirty="0"/>
          </a:p>
        </p:txBody>
      </p:sp>
      <p:sp>
        <p:nvSpPr>
          <p:cNvPr id="21" name="Shape 16"/>
          <p:cNvSpPr/>
          <p:nvPr/>
        </p:nvSpPr>
        <p:spPr>
          <a:xfrm>
            <a:off x="8008407" y="1709928"/>
            <a:ext cx="777240" cy="777240"/>
          </a:xfrm>
          <a:prstGeom prst="ellipse">
            <a:avLst/>
          </a:prstGeom>
          <a:solidFill>
            <a:srgbClr val="1E2761"/>
          </a:solidFill>
          <a:ln/>
        </p:spPr>
      </p:sp>
      <p:pic>
        <p:nvPicPr>
          <p:cNvPr id="22" name="Image 3" descr="/private/tmp/claude-501/-Users-sai-Work-Office-Teaching/ee8695eb-a8ef-409d-a9ba-c09e44dd9ced/scratchpad/pptx-build/assets/icons/FaTable.png">    </p:cNvPr>
          <p:cNvPicPr>
            <a:picLocks noChangeAspect="1"/>
          </p:cNvPicPr>
          <p:nvPr/>
        </p:nvPicPr>
        <p:blipFill>
          <a:blip r:embed="rId4"/>
          <a:stretch>
            <a:fillRect/>
          </a:stretch>
        </p:blipFill>
        <p:spPr>
          <a:xfrm>
            <a:off x="8194944" y="1896466"/>
            <a:ext cx="404165" cy="404165"/>
          </a:xfrm>
          <a:prstGeom prst="rect">
            <a:avLst/>
          </a:prstGeom>
        </p:spPr>
      </p:pic>
      <p:sp>
        <p:nvSpPr>
          <p:cNvPr id="23" name="Text 17"/>
          <p:cNvSpPr/>
          <p:nvPr/>
        </p:nvSpPr>
        <p:spPr>
          <a:xfrm>
            <a:off x="7406457" y="2615184"/>
            <a:ext cx="1981139"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I4 Structured</a:t>
            </a:r>
            <a:endParaRPr lang="en-US" sz="1250" dirty="0"/>
          </a:p>
        </p:txBody>
      </p:sp>
      <p:sp>
        <p:nvSpPr>
          <p:cNvPr id="24" name="Shape 18"/>
          <p:cNvSpPr/>
          <p:nvPr/>
        </p:nvSpPr>
        <p:spPr>
          <a:xfrm>
            <a:off x="10309586" y="1709928"/>
            <a:ext cx="777240" cy="777240"/>
          </a:xfrm>
          <a:prstGeom prst="ellipse">
            <a:avLst/>
          </a:prstGeom>
          <a:solidFill>
            <a:srgbClr val="1E2761"/>
          </a:solidFill>
          <a:ln/>
        </p:spPr>
      </p:sp>
      <p:pic>
        <p:nvPicPr>
          <p:cNvPr id="25" name="Image 4" descr="/private/tmp/claude-501/-Users-sai-Work-Office-Teaching/ee8695eb-a8ef-409d-a9ba-c09e44dd9ced/scratchpad/pptx-build/assets/icons/FaExchangeAlt.png">    </p:cNvPr>
          <p:cNvPicPr>
            <a:picLocks noChangeAspect="1"/>
          </p:cNvPicPr>
          <p:nvPr/>
        </p:nvPicPr>
        <p:blipFill>
          <a:blip r:embed="rId5"/>
          <a:stretch>
            <a:fillRect/>
          </a:stretch>
        </p:blipFill>
        <p:spPr>
          <a:xfrm>
            <a:off x="10496123" y="1896466"/>
            <a:ext cx="404165" cy="404165"/>
          </a:xfrm>
          <a:prstGeom prst="rect">
            <a:avLst/>
          </a:prstGeom>
        </p:spPr>
      </p:pic>
      <p:sp>
        <p:nvSpPr>
          <p:cNvPr id="26" name="Text 19"/>
          <p:cNvSpPr/>
          <p:nvPr/>
        </p:nvSpPr>
        <p:spPr>
          <a:xfrm>
            <a:off x="9707636" y="2615184"/>
            <a:ext cx="1981139"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I5 Bridging</a:t>
            </a:r>
            <a:endParaRPr lang="en-US" sz="1250" dirty="0"/>
          </a:p>
        </p:txBody>
      </p:sp>
      <p:sp>
        <p:nvSpPr>
          <p:cNvPr id="27" name="Shape 20"/>
          <p:cNvSpPr/>
          <p:nvPr/>
        </p:nvSpPr>
        <p:spPr>
          <a:xfrm>
            <a:off x="502920" y="3310128"/>
            <a:ext cx="11185855" cy="2606040"/>
          </a:xfrm>
          <a:prstGeom prst="roundRect">
            <a:avLst>
              <a:gd name="adj" fmla="val 3158"/>
            </a:avLst>
          </a:prstGeom>
          <a:solidFill>
            <a:srgbClr val="F4F6FB"/>
          </a:solidFill>
          <a:ln/>
          <a:effectLst>
            <a:outerShdw sx="100000" sy="100000" kx="0" ky="0" algn="bl" rotWithShape="0" blurRad="76200" dist="25400" dir="5400000">
              <a:srgbClr val="1E2761">
                <a:alpha val="16000"/>
              </a:srgbClr>
            </a:outerShdw>
          </a:effectLst>
        </p:spPr>
      </p:sp>
      <p:sp>
        <p:nvSpPr>
          <p:cNvPr id="28" name="Text 21"/>
          <p:cNvSpPr/>
          <p:nvPr/>
        </p:nvSpPr>
        <p:spPr>
          <a:xfrm>
            <a:off x="914400" y="3310128"/>
            <a:ext cx="10362895" cy="2606040"/>
          </a:xfrm>
          <a:prstGeom prst="rect">
            <a:avLst/>
          </a:prstGeom>
          <a:noFill/>
          <a:ln/>
        </p:spPr>
        <p:txBody>
          <a:bodyPr wrap="square" lIns="0" tIns="0" rIns="0" bIns="0" rtlCol="0" anchor="ctr"/>
          <a:lstStyle/>
          <a:p>
            <a:pPr indent="0" marL="0">
              <a:spcAft>
                <a:spcPts val="1400"/>
              </a:spcAft>
              <a:buNone/>
            </a:pPr>
            <a:r>
              <a:rPr lang="en-US" sz="1600" dirty="0">
                <a:solidFill>
                  <a:srgbClr val="1A1F36"/>
                </a:solidFill>
                <a:latin typeface="Calibri" pitchFamily="34" charset="0"/>
                <a:ea typeface="Calibri" pitchFamily="34" charset="-122"/>
                <a:cs typeface="Calibri" pitchFamily="34" charset="-120"/>
              </a:rPr>
              <a:t>Today: three levers (prompt/context/harness) → the checklist → follow-ups → structured output → bridging business &amp; quant.</a:t>
            </a:r>
            <a:endParaRPr lang="en-US" sz="1600" dirty="0"/>
          </a:p>
          <a:p>
            <a:pPr indent="0" marL="0">
              <a:spcAft>
                <a:spcPts val="1400"/>
              </a:spcAft>
              <a:buNone/>
            </a:pPr>
            <a:r>
              <a:rPr lang="en-US" sz="1600" dirty="0">
                <a:solidFill>
                  <a:srgbClr val="1A1F36"/>
                </a:solidFill>
                <a:latin typeface="Calibri" pitchFamily="34" charset="0"/>
                <a:ea typeface="Calibri" pitchFamily="34" charset="-122"/>
                <a:cs typeface="Calibri" pitchFamily="34" charset="-120"/>
              </a:rPr>
              <a:t>Next time: when prompting alone isn't enough; session 3 is fully self-contained.</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B45"/>
        </a:solidFill>
      </p:bgPr>
    </p:bg>
    <p:spTree>
      <p:nvGrpSpPr>
        <p:cNvPr id="1" name=""/>
        <p:cNvGrpSpPr/>
        <p:nvPr/>
      </p:nvGrpSpPr>
      <p:grpSpPr>
        <a:xfrm>
          <a:off x="0" y="0"/>
          <a:ext cx="0" cy="0"/>
          <a:chOff x="0" y="0"/>
          <a:chExt cx="0" cy="0"/>
        </a:xfrm>
      </p:grpSpPr>
      <p:sp>
        <p:nvSpPr>
          <p:cNvPr id="2" name="Shape 0"/>
          <p:cNvSpPr/>
          <p:nvPr/>
        </p:nvSpPr>
        <p:spPr>
          <a:xfrm>
            <a:off x="-1645920" y="-1645920"/>
            <a:ext cx="3840480" cy="3840480"/>
          </a:xfrm>
          <a:prstGeom prst="ellipse">
            <a:avLst/>
          </a:prstGeom>
          <a:solidFill>
            <a:srgbClr val="1E2761"/>
          </a:solidFill>
          <a:ln/>
        </p:spPr>
      </p:sp>
      <p:sp>
        <p:nvSpPr>
          <p:cNvPr id="3" name="Text 1"/>
          <p:cNvSpPr/>
          <p:nvPr/>
        </p:nvSpPr>
        <p:spPr>
          <a:xfrm>
            <a:off x="914400" y="2514600"/>
            <a:ext cx="10332720" cy="365760"/>
          </a:xfrm>
          <a:prstGeom prst="rect">
            <a:avLst/>
          </a:prstGeom>
          <a:noFill/>
          <a:ln/>
        </p:spPr>
        <p:txBody>
          <a:bodyPr wrap="square" lIns="0" tIns="0" rIns="0" bIns="0" rtlCol="0" anchor="ctr"/>
          <a:lstStyle/>
          <a:p>
            <a:pPr indent="0" marL="0">
              <a:buNone/>
            </a:pPr>
            <a:r>
              <a:rPr lang="en-US" sz="1300" b="1" spc="200" kern="0" dirty="0">
                <a:solidFill>
                  <a:srgbClr val="E8A33D"/>
                </a:solidFill>
                <a:latin typeface="Calibri" pitchFamily="34" charset="0"/>
                <a:ea typeface="Calibri" pitchFamily="34" charset="-122"/>
                <a:cs typeface="Calibri" pitchFamily="34" charset="-120"/>
              </a:rPr>
              <a:t>APPENDIX</a:t>
            </a:r>
            <a:endParaRPr lang="en-US" sz="1300" dirty="0"/>
          </a:p>
        </p:txBody>
      </p:sp>
      <p:sp>
        <p:nvSpPr>
          <p:cNvPr id="4" name="Text 2"/>
          <p:cNvSpPr/>
          <p:nvPr/>
        </p:nvSpPr>
        <p:spPr>
          <a:xfrm>
            <a:off x="914400" y="2880360"/>
            <a:ext cx="10332720" cy="10058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Anticipated Q&amp;A</a:t>
            </a:r>
            <a:endParaRPr lang="en-US" sz="3400" dirty="0"/>
          </a:p>
        </p:txBody>
      </p:sp>
      <p:sp>
        <p:nvSpPr>
          <p:cNvPr id="5" name="Text 3"/>
          <p:cNvSpPr/>
          <p:nvPr/>
        </p:nvSpPr>
        <p:spPr>
          <a:xfrm>
            <a:off x="914400" y="3794760"/>
            <a:ext cx="10332720" cy="548640"/>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Likely questions with model answers, for reference during live Q&amp;A</a:t>
            </a:r>
            <a:endParaRPr lang="en-US" sz="1500" dirty="0"/>
          </a:p>
        </p:txBody>
      </p:sp>
      <p:sp>
        <p:nvSpPr>
          <p:cNvPr id="6" name="Text 4"/>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A9AFC3"/>
                </a:solidFill>
                <a:latin typeface="Calibri" pitchFamily="34" charset="0"/>
                <a:ea typeface="Calibri" pitchFamily="34" charset="-122"/>
                <a:cs typeface="Calibri" pitchFamily="34" charset="-120"/>
              </a:rPr>
              <a:t>From Message to Structured Data</a:t>
            </a:r>
            <a:endParaRPr lang="en-US" sz="900" dirty="0"/>
          </a:p>
        </p:txBody>
      </p:sp>
      <p:sp>
        <p:nvSpPr>
          <p:cNvPr id="7" name="Text 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A9AFC3"/>
                </a:solidFill>
                <a:latin typeface="Calibri" pitchFamily="34" charset="0"/>
                <a:ea typeface="Calibri" pitchFamily="34" charset="-122"/>
                <a:cs typeface="Calibri" pitchFamily="34" charset="-120"/>
              </a:rPr>
              <a:t>16</a:t>
            </a:r>
            <a:endParaRPr lang="en-US" sz="900" dirty="0"/>
          </a:p>
        </p:txBody>
      </p:sp>
      <p:sp>
        <p:nvSpPr>
          <p:cNvPr id="8" name="Shape 6"/>
          <p:cNvSpPr/>
          <p:nvPr/>
        </p:nvSpPr>
        <p:spPr>
          <a:xfrm>
            <a:off x="11400739" y="201168"/>
            <a:ext cx="192024" cy="192024"/>
          </a:xfrm>
          <a:prstGeom prst="rect">
            <a:avLst/>
          </a:prstGeom>
          <a:solidFill>
            <a:srgbClr val="FFFFFF"/>
          </a:solidFill>
          <a:ln/>
        </p:spPr>
      </p:sp>
      <p:sp>
        <p:nvSpPr>
          <p:cNvPr id="9" name="Shape 7"/>
          <p:cNvSpPr/>
          <p:nvPr/>
        </p:nvSpPr>
        <p:spPr>
          <a:xfrm rot="5400000">
            <a:off x="11544757" y="249174"/>
            <a:ext cx="192024" cy="96012"/>
          </a:xfrm>
          <a:prstGeom prst="triangle">
            <a:avLst/>
          </a:prstGeom>
          <a:solidFill>
            <a:srgbClr val="E52713"/>
          </a:solidFill>
          <a:ln/>
        </p:spPr>
      </p:sp>
      <p:sp>
        <p:nvSpPr>
          <p:cNvPr id="10" name="Shape 8"/>
          <p:cNvSpPr/>
          <p:nvPr/>
        </p:nvSpPr>
        <p:spPr>
          <a:xfrm rot="16200000">
            <a:off x="11256721" y="249174"/>
            <a:ext cx="192024" cy="96012"/>
          </a:xfrm>
          <a:prstGeom prst="triangle">
            <a:avLst/>
          </a:prstGeom>
          <a:solidFill>
            <a:srgbClr val="E52713"/>
          </a:solidFill>
          <a:ln/>
        </p:spPr>
      </p:sp>
      <p:sp>
        <p:nvSpPr>
          <p:cNvPr id="11" name="Shape 9"/>
          <p:cNvSpPr/>
          <p:nvPr/>
        </p:nvSpPr>
        <p:spPr>
          <a:xfrm rot="10800000">
            <a:off x="11400739" y="201168"/>
            <a:ext cx="192024" cy="96012"/>
          </a:xfrm>
          <a:prstGeom prst="triangle">
            <a:avLst/>
          </a:prstGeom>
          <a:solidFill>
            <a:srgbClr val="E52713"/>
          </a:solidFill>
          <a:ln/>
        </p:spPr>
      </p:sp>
      <p:sp>
        <p:nvSpPr>
          <p:cNvPr id="12" name="Shape 10"/>
          <p:cNvSpPr/>
          <p:nvPr/>
        </p:nvSpPr>
        <p:spPr>
          <a:xfrm>
            <a:off x="11400739" y="297180"/>
            <a:ext cx="192024" cy="96012"/>
          </a:xfrm>
          <a:prstGeom prst="triangle">
            <a:avLst/>
          </a:prstGeom>
          <a:solidFill>
            <a:srgbClr val="E52713"/>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E8A33D"/>
          </a:solidFill>
          <a:ln/>
        </p:spPr>
      </p:sp>
      <p:sp>
        <p:nvSpPr>
          <p:cNvPr id="3" name="Text 1"/>
          <p:cNvSpPr/>
          <p:nvPr/>
        </p:nvSpPr>
        <p:spPr>
          <a:xfrm>
            <a:off x="502920" y="457200"/>
            <a:ext cx="566928" cy="566928"/>
          </a:xfrm>
          <a:prstGeom prst="rect">
            <a:avLst/>
          </a:prstGeom>
          <a:noFill/>
          <a:ln/>
        </p:spPr>
        <p:txBody>
          <a:bodyPr wrap="square" lIns="0" tIns="0" rIns="0" bIns="0" rtlCol="0" anchor="ctr"/>
          <a:lstStyle/>
          <a:p>
            <a:pPr algn="ctr" indent="0" marL="0">
              <a:buNone/>
            </a:pPr>
            <a:r>
              <a:rPr lang="en-US" sz="1500" b="1" dirty="0">
                <a:solidFill>
                  <a:srgbClr val="141B45"/>
                </a:solidFill>
                <a:latin typeface="Cambria" pitchFamily="34" charset="0"/>
                <a:ea typeface="Cambria" pitchFamily="34" charset="-122"/>
                <a:cs typeface="Cambria" pitchFamily="34" charset="-120"/>
              </a:rPr>
              <a:t>Q1</a:t>
            </a:r>
            <a:endParaRPr lang="en-US" sz="1500" dirty="0"/>
          </a:p>
        </p:txBody>
      </p:sp>
      <p:sp>
        <p:nvSpPr>
          <p:cNvPr id="4" name="Text 2"/>
          <p:cNvSpPr/>
          <p:nvPr/>
        </p:nvSpPr>
        <p:spPr>
          <a:xfrm>
            <a:off x="1234440" y="457200"/>
            <a:ext cx="10454335" cy="685800"/>
          </a:xfrm>
          <a:prstGeom prst="rect">
            <a:avLst/>
          </a:prstGeom>
          <a:noFill/>
          <a:ln/>
        </p:spPr>
        <p:txBody>
          <a:bodyPr wrap="square" lIns="0" tIns="0" rIns="0" bIns="0" rtlCol="0" anchor="ctr"/>
          <a:lstStyle/>
          <a:p>
            <a:pPr indent="0" marL="0">
              <a:buNone/>
            </a:pPr>
            <a:r>
              <a:rPr lang="en-US" sz="1900" b="1" i="1" dirty="0">
                <a:solidFill>
                  <a:srgbClr val="1E2761"/>
                </a:solidFill>
                <a:latin typeface="Cambria" pitchFamily="34" charset="0"/>
                <a:ea typeface="Cambria" pitchFamily="34" charset="-122"/>
                <a:cs typeface="Cambria" pitchFamily="34" charset="-120"/>
              </a:rPr>
              <a:t>Isn't context just... a longer prompt?</a:t>
            </a:r>
            <a:endParaRPr lang="en-US" sz="1900" dirty="0"/>
          </a:p>
        </p:txBody>
      </p:sp>
      <p:sp>
        <p:nvSpPr>
          <p:cNvPr id="5" name="Shape 3"/>
          <p:cNvSpPr/>
          <p:nvPr/>
        </p:nvSpPr>
        <p:spPr>
          <a:xfrm>
            <a:off x="502920" y="1371600"/>
            <a:ext cx="11185855" cy="1417320"/>
          </a:xfrm>
          <a:prstGeom prst="roundRect">
            <a:avLst>
              <a:gd name="adj" fmla="val 5806"/>
            </a:avLst>
          </a:prstGeom>
          <a:solidFill>
            <a:srgbClr val="F4F6FB"/>
          </a:solidFill>
          <a:ln/>
          <a:effectLst>
            <a:outerShdw sx="100000" sy="100000" kx="0" ky="0" algn="bl" rotWithShape="0" blurRad="76200" dist="25400" dir="5400000">
              <a:srgbClr val="1E2761">
                <a:alpha val="16000"/>
              </a:srgbClr>
            </a:outerShdw>
          </a:effectLst>
        </p:spPr>
      </p:sp>
      <p:sp>
        <p:nvSpPr>
          <p:cNvPr id="6" name="Text 4"/>
          <p:cNvSpPr/>
          <p:nvPr/>
        </p:nvSpPr>
        <p:spPr>
          <a:xfrm>
            <a:off x="758952" y="1517904"/>
            <a:ext cx="10673791" cy="1143000"/>
          </a:xfrm>
          <a:prstGeom prst="rect">
            <a:avLst/>
          </a:prstGeom>
          <a:noFill/>
          <a:ln/>
        </p:spPr>
        <p:txBody>
          <a:bodyPr wrap="square" lIns="0" tIns="0" rIns="0" bIns="0" rtlCol="0" anchor="t">
            <a:normAutofit/>
          </a:bodyPr>
          <a:lstStyle/>
          <a:p>
            <a:pPr indent="0" marL="0">
              <a:buNone/>
            </a:pPr>
            <a:r>
              <a:rPr lang="en-US" sz="1400" b="1" dirty="0">
                <a:solidFill>
                  <a:srgbClr val="A6660E"/>
                </a:solidFill>
                <a:latin typeface="Calibri" pitchFamily="34" charset="0"/>
                <a:ea typeface="Calibri" pitchFamily="34" charset="-122"/>
                <a:cs typeface="Calibri" pitchFamily="34" charset="-120"/>
              </a:rPr>
              <a:t>A: </a:t>
            </a:r>
            <a:pPr indent="0" marL="0">
              <a:buNone/>
            </a:pPr>
            <a:r>
              <a:rPr lang="en-US" sz="1400" dirty="0">
                <a:solidFill>
                  <a:srgbClr val="1A1F36"/>
                </a:solidFill>
                <a:latin typeface="Calibri" pitchFamily="34" charset="0"/>
                <a:ea typeface="Calibri" pitchFamily="34" charset="-122"/>
                <a:cs typeface="Calibri" pitchFamily="34" charset="-120"/>
              </a:rPr>
              <a:t>No: a longer prompt is still the innermost layer (the instruction itself); context is a separate layer (what surrounds the instruction: documents, history, facts).</a:t>
            </a:r>
            <a:endParaRPr lang="en-US" sz="1400" dirty="0"/>
          </a:p>
        </p:txBody>
      </p:sp>
      <p:sp>
        <p:nvSpPr>
          <p:cNvPr id="7" name="Text 5"/>
          <p:cNvSpPr/>
          <p:nvPr/>
        </p:nvSpPr>
        <p:spPr>
          <a:xfrm>
            <a:off x="502920" y="3017520"/>
            <a:ext cx="11185855" cy="7772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Why this comes up: </a:t>
            </a:r>
            <a:pPr indent="0" marL="0">
              <a:buNone/>
            </a:pPr>
            <a:r>
              <a:rPr lang="en-US" sz="1250" i="1" dirty="0">
                <a:solidFill>
                  <a:srgbClr val="6B7280"/>
                </a:solidFill>
                <a:latin typeface="Calibri" pitchFamily="34" charset="0"/>
                <a:ea typeface="Calibri" pitchFamily="34" charset="-122"/>
                <a:cs typeface="Calibri" pitchFamily="34" charset="-120"/>
              </a:rPr>
              <a:t>The two really do blur in casual usage, since both involve "more text."</a:t>
            </a:r>
            <a:endParaRPr lang="en-US" sz="1250" dirty="0"/>
          </a:p>
        </p:txBody>
      </p:sp>
      <p:sp>
        <p:nvSpPr>
          <p:cNvPr id="8" name="Text 6"/>
          <p:cNvSpPr/>
          <p:nvPr/>
        </p:nvSpPr>
        <p:spPr>
          <a:xfrm>
            <a:off x="502920" y="3840480"/>
            <a:ext cx="11185855" cy="10058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If pushed further: </a:t>
            </a:r>
            <a:pPr indent="0" marL="0">
              <a:buNone/>
            </a:pPr>
            <a:r>
              <a:rPr lang="en-US" sz="1250" i="1" dirty="0">
                <a:solidFill>
                  <a:srgbClr val="6B7280"/>
                </a:solidFill>
                <a:latin typeface="Calibri" pitchFamily="34" charset="0"/>
                <a:ea typeface="Calibri" pitchFamily="34" charset="-122"/>
                <a:cs typeface="Calibri" pitchFamily="34" charset="-120"/>
              </a:rPr>
              <a:t>If you're adding words to tell it what to do differently, that's prompt; if you're adding information for it to use, that's context.</a:t>
            </a:r>
            <a:endParaRPr lang="en-US" sz="1250" dirty="0"/>
          </a:p>
        </p:txBody>
      </p:sp>
      <p:sp>
        <p:nvSpPr>
          <p:cNvPr id="9" name="Text 7"/>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From Message to Structured Data</a:t>
            </a:r>
            <a:endParaRPr lang="en-US" sz="900" dirty="0"/>
          </a:p>
        </p:txBody>
      </p:sp>
      <p:sp>
        <p:nvSpPr>
          <p:cNvPr id="10" name="Text 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17</a:t>
            </a:r>
            <a:endParaRPr lang="en-US" sz="900" dirty="0"/>
          </a:p>
        </p:txBody>
      </p:sp>
      <p:sp>
        <p:nvSpPr>
          <p:cNvPr id="11" name="Shape 9"/>
          <p:cNvSpPr/>
          <p:nvPr/>
        </p:nvSpPr>
        <p:spPr>
          <a:xfrm>
            <a:off x="11400739" y="201168"/>
            <a:ext cx="192024" cy="192024"/>
          </a:xfrm>
          <a:prstGeom prst="rect">
            <a:avLst/>
          </a:prstGeom>
          <a:solidFill>
            <a:srgbClr val="FFFFFF"/>
          </a:solidFill>
          <a:ln/>
        </p:spPr>
      </p:sp>
      <p:sp>
        <p:nvSpPr>
          <p:cNvPr id="12" name="Shape 10"/>
          <p:cNvSpPr/>
          <p:nvPr/>
        </p:nvSpPr>
        <p:spPr>
          <a:xfrm rot="5400000">
            <a:off x="11544757" y="249174"/>
            <a:ext cx="192024" cy="96012"/>
          </a:xfrm>
          <a:prstGeom prst="triangle">
            <a:avLst/>
          </a:prstGeom>
          <a:solidFill>
            <a:srgbClr val="E52713"/>
          </a:solidFill>
          <a:ln/>
        </p:spPr>
      </p:sp>
      <p:sp>
        <p:nvSpPr>
          <p:cNvPr id="13" name="Shape 11"/>
          <p:cNvSpPr/>
          <p:nvPr/>
        </p:nvSpPr>
        <p:spPr>
          <a:xfrm rot="16200000">
            <a:off x="11256721" y="249174"/>
            <a:ext cx="192024" cy="96012"/>
          </a:xfrm>
          <a:prstGeom prst="triangle">
            <a:avLst/>
          </a:prstGeom>
          <a:solidFill>
            <a:srgbClr val="E52713"/>
          </a:solidFill>
          <a:ln/>
        </p:spPr>
      </p:sp>
      <p:sp>
        <p:nvSpPr>
          <p:cNvPr id="14" name="Shape 12"/>
          <p:cNvSpPr/>
          <p:nvPr/>
        </p:nvSpPr>
        <p:spPr>
          <a:xfrm rot="10800000">
            <a:off x="11400739" y="201168"/>
            <a:ext cx="192024" cy="96012"/>
          </a:xfrm>
          <a:prstGeom prst="triangle">
            <a:avLst/>
          </a:prstGeom>
          <a:solidFill>
            <a:srgbClr val="E52713"/>
          </a:solidFill>
          <a:ln/>
        </p:spPr>
      </p:sp>
      <p:sp>
        <p:nvSpPr>
          <p:cNvPr id="15" name="Shape 13"/>
          <p:cNvSpPr/>
          <p:nvPr/>
        </p:nvSpPr>
        <p:spPr>
          <a:xfrm>
            <a:off x="11400739" y="297180"/>
            <a:ext cx="192024" cy="96012"/>
          </a:xfrm>
          <a:prstGeom prst="triangle">
            <a:avLst/>
          </a:prstGeom>
          <a:solidFill>
            <a:srgbClr val="E52713"/>
          </a:solidFill>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E8A33D"/>
          </a:solidFill>
          <a:ln/>
        </p:spPr>
      </p:sp>
      <p:sp>
        <p:nvSpPr>
          <p:cNvPr id="3" name="Text 1"/>
          <p:cNvSpPr/>
          <p:nvPr/>
        </p:nvSpPr>
        <p:spPr>
          <a:xfrm>
            <a:off x="502920" y="457200"/>
            <a:ext cx="566928" cy="566928"/>
          </a:xfrm>
          <a:prstGeom prst="rect">
            <a:avLst/>
          </a:prstGeom>
          <a:noFill/>
          <a:ln/>
        </p:spPr>
        <p:txBody>
          <a:bodyPr wrap="square" lIns="0" tIns="0" rIns="0" bIns="0" rtlCol="0" anchor="ctr"/>
          <a:lstStyle/>
          <a:p>
            <a:pPr algn="ctr" indent="0" marL="0">
              <a:buNone/>
            </a:pPr>
            <a:r>
              <a:rPr lang="en-US" sz="1500" b="1" dirty="0">
                <a:solidFill>
                  <a:srgbClr val="141B45"/>
                </a:solidFill>
                <a:latin typeface="Cambria" pitchFamily="34" charset="0"/>
                <a:ea typeface="Cambria" pitchFamily="34" charset="-122"/>
                <a:cs typeface="Cambria" pitchFamily="34" charset="-120"/>
              </a:rPr>
              <a:t>Q2</a:t>
            </a:r>
            <a:endParaRPr lang="en-US" sz="1500" dirty="0"/>
          </a:p>
        </p:txBody>
      </p:sp>
      <p:sp>
        <p:nvSpPr>
          <p:cNvPr id="4" name="Text 2"/>
          <p:cNvSpPr/>
          <p:nvPr/>
        </p:nvSpPr>
        <p:spPr>
          <a:xfrm>
            <a:off x="1234440" y="457200"/>
            <a:ext cx="10454335" cy="685800"/>
          </a:xfrm>
          <a:prstGeom prst="rect">
            <a:avLst/>
          </a:prstGeom>
          <a:noFill/>
          <a:ln/>
        </p:spPr>
        <p:txBody>
          <a:bodyPr wrap="square" lIns="0" tIns="0" rIns="0" bIns="0" rtlCol="0" anchor="ctr"/>
          <a:lstStyle/>
          <a:p>
            <a:pPr indent="0" marL="0">
              <a:buNone/>
            </a:pPr>
            <a:r>
              <a:rPr lang="en-US" sz="1900" b="1" i="1" dirty="0">
                <a:solidFill>
                  <a:srgbClr val="1E2761"/>
                </a:solidFill>
                <a:latin typeface="Cambria" pitchFamily="34" charset="0"/>
                <a:ea typeface="Cambria" pitchFamily="34" charset="-122"/>
                <a:cs typeface="Cambria" pitchFamily="34" charset="-120"/>
              </a:rPr>
              <a:t>If I pick the wrong agent/tool, does it fail loudly, or just give a bad answer?</a:t>
            </a:r>
            <a:endParaRPr lang="en-US" sz="1900" dirty="0"/>
          </a:p>
        </p:txBody>
      </p:sp>
      <p:sp>
        <p:nvSpPr>
          <p:cNvPr id="5" name="Shape 3"/>
          <p:cNvSpPr/>
          <p:nvPr/>
        </p:nvSpPr>
        <p:spPr>
          <a:xfrm>
            <a:off x="502920" y="1371600"/>
            <a:ext cx="11185855" cy="1417320"/>
          </a:xfrm>
          <a:prstGeom prst="roundRect">
            <a:avLst>
              <a:gd name="adj" fmla="val 5806"/>
            </a:avLst>
          </a:prstGeom>
          <a:solidFill>
            <a:srgbClr val="F4F6FB"/>
          </a:solidFill>
          <a:ln/>
          <a:effectLst>
            <a:outerShdw sx="100000" sy="100000" kx="0" ky="0" algn="bl" rotWithShape="0" blurRad="76200" dist="25400" dir="5400000">
              <a:srgbClr val="1E2761">
                <a:alpha val="16000"/>
              </a:srgbClr>
            </a:outerShdw>
          </a:effectLst>
        </p:spPr>
      </p:sp>
      <p:sp>
        <p:nvSpPr>
          <p:cNvPr id="6" name="Text 4"/>
          <p:cNvSpPr/>
          <p:nvPr/>
        </p:nvSpPr>
        <p:spPr>
          <a:xfrm>
            <a:off x="758952" y="1517904"/>
            <a:ext cx="10673791" cy="1143000"/>
          </a:xfrm>
          <a:prstGeom prst="rect">
            <a:avLst/>
          </a:prstGeom>
          <a:noFill/>
          <a:ln/>
        </p:spPr>
        <p:txBody>
          <a:bodyPr wrap="square" lIns="0" tIns="0" rIns="0" bIns="0" rtlCol="0" anchor="t">
            <a:normAutofit/>
          </a:bodyPr>
          <a:lstStyle/>
          <a:p>
            <a:pPr indent="0" marL="0">
              <a:buNone/>
            </a:pPr>
            <a:r>
              <a:rPr lang="en-US" sz="1400" b="1" dirty="0">
                <a:solidFill>
                  <a:srgbClr val="A6660E"/>
                </a:solidFill>
                <a:latin typeface="Calibri" pitchFamily="34" charset="0"/>
                <a:ea typeface="Calibri" pitchFamily="34" charset="-122"/>
                <a:cs typeface="Calibri" pitchFamily="34" charset="-120"/>
              </a:rPr>
              <a:t>A: </a:t>
            </a:r>
            <a:pPr indent="0" marL="0">
              <a:buNone/>
            </a:pPr>
            <a:r>
              <a:rPr lang="en-US" sz="1400" dirty="0">
                <a:solidFill>
                  <a:srgbClr val="1A1F36"/>
                </a:solidFill>
                <a:latin typeface="Calibri" pitchFamily="34" charset="0"/>
                <a:ea typeface="Calibri" pitchFamily="34" charset="-122"/>
                <a:cs typeface="Calibri" pitchFamily="34" charset="-120"/>
              </a:rPr>
              <a:t>Usually the latter: it does its best with what it has, which is why harness mistakes often just look like "wrong answer," not an obvious error.</a:t>
            </a:r>
            <a:endParaRPr lang="en-US" sz="1400" dirty="0"/>
          </a:p>
        </p:txBody>
      </p:sp>
      <p:sp>
        <p:nvSpPr>
          <p:cNvPr id="7" name="Text 5"/>
          <p:cNvSpPr/>
          <p:nvPr/>
        </p:nvSpPr>
        <p:spPr>
          <a:xfrm>
            <a:off x="502920" y="3017520"/>
            <a:ext cx="11185855" cy="7772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Why this comes up: </a:t>
            </a:r>
            <a:pPr indent="0" marL="0">
              <a:buNone/>
            </a:pPr>
            <a:r>
              <a:rPr lang="en-US" sz="1250" i="1" dirty="0">
                <a:solidFill>
                  <a:srgbClr val="6B7280"/>
                </a:solidFill>
                <a:latin typeface="Calibri" pitchFamily="34" charset="0"/>
                <a:ea typeface="Calibri" pitchFamily="34" charset="-122"/>
                <a:cs typeface="Calibri" pitchFamily="34" charset="-120"/>
              </a:rPr>
              <a:t>People expect software to fail loudly when misconfigured; LLM-based tools often don't.</a:t>
            </a:r>
            <a:endParaRPr lang="en-US" sz="1250" dirty="0"/>
          </a:p>
        </p:txBody>
      </p:sp>
      <p:sp>
        <p:nvSpPr>
          <p:cNvPr id="8" name="Text 6"/>
          <p:cNvSpPr/>
          <p:nvPr/>
        </p:nvSpPr>
        <p:spPr>
          <a:xfrm>
            <a:off x="502920" y="3840480"/>
            <a:ext cx="11185855" cy="10058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If pushed further: </a:t>
            </a:r>
            <a:pPr indent="0" marL="0">
              <a:buNone/>
            </a:pPr>
            <a:r>
              <a:rPr lang="en-US" sz="1250" i="1" dirty="0">
                <a:solidFill>
                  <a:srgbClr val="6B7280"/>
                </a:solidFill>
                <a:latin typeface="Calibri" pitchFamily="34" charset="0"/>
                <a:ea typeface="Calibri" pitchFamily="34" charset="-122"/>
                <a:cs typeface="Calibri" pitchFamily="34" charset="-120"/>
              </a:rPr>
              <a:t>This is exactly why the troubleshooting checklist (session 4) treats "tool/agent choice" as a distinct, explicit thing to check.</a:t>
            </a:r>
            <a:endParaRPr lang="en-US" sz="1250" dirty="0"/>
          </a:p>
        </p:txBody>
      </p:sp>
      <p:sp>
        <p:nvSpPr>
          <p:cNvPr id="9" name="Text 7"/>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From Message to Structured Data</a:t>
            </a:r>
            <a:endParaRPr lang="en-US" sz="900" dirty="0"/>
          </a:p>
        </p:txBody>
      </p:sp>
      <p:sp>
        <p:nvSpPr>
          <p:cNvPr id="10" name="Text 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18</a:t>
            </a:r>
            <a:endParaRPr lang="en-US" sz="900" dirty="0"/>
          </a:p>
        </p:txBody>
      </p:sp>
      <p:sp>
        <p:nvSpPr>
          <p:cNvPr id="11" name="Shape 9"/>
          <p:cNvSpPr/>
          <p:nvPr/>
        </p:nvSpPr>
        <p:spPr>
          <a:xfrm>
            <a:off x="11400739" y="201168"/>
            <a:ext cx="192024" cy="192024"/>
          </a:xfrm>
          <a:prstGeom prst="rect">
            <a:avLst/>
          </a:prstGeom>
          <a:solidFill>
            <a:srgbClr val="FFFFFF"/>
          </a:solidFill>
          <a:ln/>
        </p:spPr>
      </p:sp>
      <p:sp>
        <p:nvSpPr>
          <p:cNvPr id="12" name="Shape 10"/>
          <p:cNvSpPr/>
          <p:nvPr/>
        </p:nvSpPr>
        <p:spPr>
          <a:xfrm rot="5400000">
            <a:off x="11544757" y="249174"/>
            <a:ext cx="192024" cy="96012"/>
          </a:xfrm>
          <a:prstGeom prst="triangle">
            <a:avLst/>
          </a:prstGeom>
          <a:solidFill>
            <a:srgbClr val="E52713"/>
          </a:solidFill>
          <a:ln/>
        </p:spPr>
      </p:sp>
      <p:sp>
        <p:nvSpPr>
          <p:cNvPr id="13" name="Shape 11"/>
          <p:cNvSpPr/>
          <p:nvPr/>
        </p:nvSpPr>
        <p:spPr>
          <a:xfrm rot="16200000">
            <a:off x="11256721" y="249174"/>
            <a:ext cx="192024" cy="96012"/>
          </a:xfrm>
          <a:prstGeom prst="triangle">
            <a:avLst/>
          </a:prstGeom>
          <a:solidFill>
            <a:srgbClr val="E52713"/>
          </a:solidFill>
          <a:ln/>
        </p:spPr>
      </p:sp>
      <p:sp>
        <p:nvSpPr>
          <p:cNvPr id="14" name="Shape 12"/>
          <p:cNvSpPr/>
          <p:nvPr/>
        </p:nvSpPr>
        <p:spPr>
          <a:xfrm rot="10800000">
            <a:off x="11400739" y="201168"/>
            <a:ext cx="192024" cy="96012"/>
          </a:xfrm>
          <a:prstGeom prst="triangle">
            <a:avLst/>
          </a:prstGeom>
          <a:solidFill>
            <a:srgbClr val="E52713"/>
          </a:solidFill>
          <a:ln/>
        </p:spPr>
      </p:sp>
      <p:sp>
        <p:nvSpPr>
          <p:cNvPr id="15" name="Shape 13"/>
          <p:cNvSpPr/>
          <p:nvPr/>
        </p:nvSpPr>
        <p:spPr>
          <a:xfrm>
            <a:off x="11400739" y="297180"/>
            <a:ext cx="192024" cy="96012"/>
          </a:xfrm>
          <a:prstGeom prst="triangle">
            <a:avLst/>
          </a:prstGeom>
          <a:solidFill>
            <a:srgbClr val="E52713"/>
          </a:solidFill>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E8A33D"/>
          </a:solidFill>
          <a:ln/>
        </p:spPr>
      </p:sp>
      <p:sp>
        <p:nvSpPr>
          <p:cNvPr id="3" name="Text 1"/>
          <p:cNvSpPr/>
          <p:nvPr/>
        </p:nvSpPr>
        <p:spPr>
          <a:xfrm>
            <a:off x="502920" y="457200"/>
            <a:ext cx="566928" cy="566928"/>
          </a:xfrm>
          <a:prstGeom prst="rect">
            <a:avLst/>
          </a:prstGeom>
          <a:noFill/>
          <a:ln/>
        </p:spPr>
        <p:txBody>
          <a:bodyPr wrap="square" lIns="0" tIns="0" rIns="0" bIns="0" rtlCol="0" anchor="ctr"/>
          <a:lstStyle/>
          <a:p>
            <a:pPr algn="ctr" indent="0" marL="0">
              <a:buNone/>
            </a:pPr>
            <a:r>
              <a:rPr lang="en-US" sz="1500" b="1" dirty="0">
                <a:solidFill>
                  <a:srgbClr val="141B45"/>
                </a:solidFill>
                <a:latin typeface="Cambria" pitchFamily="34" charset="0"/>
                <a:ea typeface="Cambria" pitchFamily="34" charset="-122"/>
                <a:cs typeface="Cambria" pitchFamily="34" charset="-120"/>
              </a:rPr>
              <a:t>Q3</a:t>
            </a:r>
            <a:endParaRPr lang="en-US" sz="1500" dirty="0"/>
          </a:p>
        </p:txBody>
      </p:sp>
      <p:sp>
        <p:nvSpPr>
          <p:cNvPr id="4" name="Text 2"/>
          <p:cNvSpPr/>
          <p:nvPr/>
        </p:nvSpPr>
        <p:spPr>
          <a:xfrm>
            <a:off x="1234440" y="457200"/>
            <a:ext cx="10454335" cy="685800"/>
          </a:xfrm>
          <a:prstGeom prst="rect">
            <a:avLst/>
          </a:prstGeom>
          <a:noFill/>
          <a:ln/>
        </p:spPr>
        <p:txBody>
          <a:bodyPr wrap="square" lIns="0" tIns="0" rIns="0" bIns="0" rtlCol="0" anchor="ctr"/>
          <a:lstStyle/>
          <a:p>
            <a:pPr indent="0" marL="0">
              <a:buNone/>
            </a:pPr>
            <a:r>
              <a:rPr lang="en-US" sz="1900" b="1" i="1" dirty="0">
                <a:solidFill>
                  <a:srgbClr val="1E2761"/>
                </a:solidFill>
                <a:latin typeface="Cambria" pitchFamily="34" charset="0"/>
                <a:ea typeface="Cambria" pitchFamily="34" charset="-122"/>
                <a:cs typeface="Cambria" pitchFamily="34" charset="-120"/>
              </a:rPr>
              <a:t>Do I need to restart the conversation for every new question?</a:t>
            </a:r>
            <a:endParaRPr lang="en-US" sz="1900" dirty="0"/>
          </a:p>
        </p:txBody>
      </p:sp>
      <p:sp>
        <p:nvSpPr>
          <p:cNvPr id="5" name="Shape 3"/>
          <p:cNvSpPr/>
          <p:nvPr/>
        </p:nvSpPr>
        <p:spPr>
          <a:xfrm>
            <a:off x="502920" y="1371600"/>
            <a:ext cx="11185855" cy="1417320"/>
          </a:xfrm>
          <a:prstGeom prst="roundRect">
            <a:avLst>
              <a:gd name="adj" fmla="val 5806"/>
            </a:avLst>
          </a:prstGeom>
          <a:solidFill>
            <a:srgbClr val="F4F6FB"/>
          </a:solidFill>
          <a:ln/>
          <a:effectLst>
            <a:outerShdw sx="100000" sy="100000" kx="0" ky="0" algn="bl" rotWithShape="0" blurRad="76200" dist="25400" dir="5400000">
              <a:srgbClr val="1E2761">
                <a:alpha val="16000"/>
              </a:srgbClr>
            </a:outerShdw>
          </a:effectLst>
        </p:spPr>
      </p:sp>
      <p:sp>
        <p:nvSpPr>
          <p:cNvPr id="6" name="Text 4"/>
          <p:cNvSpPr/>
          <p:nvPr/>
        </p:nvSpPr>
        <p:spPr>
          <a:xfrm>
            <a:off x="758952" y="1517904"/>
            <a:ext cx="10673791" cy="1143000"/>
          </a:xfrm>
          <a:prstGeom prst="rect">
            <a:avLst/>
          </a:prstGeom>
          <a:noFill/>
          <a:ln/>
        </p:spPr>
        <p:txBody>
          <a:bodyPr wrap="square" lIns="0" tIns="0" rIns="0" bIns="0" rtlCol="0" anchor="t">
            <a:normAutofit/>
          </a:bodyPr>
          <a:lstStyle/>
          <a:p>
            <a:pPr indent="0" marL="0">
              <a:buNone/>
            </a:pPr>
            <a:r>
              <a:rPr lang="en-US" sz="1400" b="1" dirty="0">
                <a:solidFill>
                  <a:srgbClr val="A6660E"/>
                </a:solidFill>
                <a:latin typeface="Calibri" pitchFamily="34" charset="0"/>
                <a:ea typeface="Calibri" pitchFamily="34" charset="-122"/>
                <a:cs typeface="Calibri" pitchFamily="34" charset="-120"/>
              </a:rPr>
              <a:t>A: </a:t>
            </a:r>
            <a:pPr indent="0" marL="0">
              <a:buNone/>
            </a:pPr>
            <a:r>
              <a:rPr lang="en-US" sz="1400" dirty="0">
                <a:solidFill>
                  <a:srgbClr val="1A1F36"/>
                </a:solidFill>
                <a:latin typeface="Calibri" pitchFamily="34" charset="0"/>
                <a:ea typeface="Calibri" pitchFamily="34" charset="-122"/>
                <a:cs typeface="Calibri" pitchFamily="34" charset="-120"/>
              </a:rPr>
              <a:t>Only when the topic genuinely changes; otherwise follow-ups are usually the better move.</a:t>
            </a:r>
            <a:endParaRPr lang="en-US" sz="1400" dirty="0"/>
          </a:p>
        </p:txBody>
      </p:sp>
      <p:sp>
        <p:nvSpPr>
          <p:cNvPr id="7" name="Text 5"/>
          <p:cNvSpPr/>
          <p:nvPr/>
        </p:nvSpPr>
        <p:spPr>
          <a:xfrm>
            <a:off x="502920" y="3017520"/>
            <a:ext cx="11185855" cy="7772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Why this comes up: </a:t>
            </a:r>
            <a:pPr indent="0" marL="0">
              <a:buNone/>
            </a:pPr>
            <a:r>
              <a:rPr lang="en-US" sz="1250" i="1" dirty="0">
                <a:solidFill>
                  <a:srgbClr val="6B7280"/>
                </a:solidFill>
                <a:latin typeface="Calibri" pitchFamily="34" charset="0"/>
                <a:ea typeface="Calibri" pitchFamily="34" charset="-122"/>
                <a:cs typeface="Calibri" pitchFamily="34" charset="-120"/>
              </a:rPr>
              <a:t>Habit carried over from search engines, where each query is independent by default.</a:t>
            </a:r>
            <a:endParaRPr lang="en-US" sz="1250" dirty="0"/>
          </a:p>
        </p:txBody>
      </p:sp>
      <p:sp>
        <p:nvSpPr>
          <p:cNvPr id="8" name="Text 6"/>
          <p:cNvSpPr/>
          <p:nvPr/>
        </p:nvSpPr>
        <p:spPr>
          <a:xfrm>
            <a:off x="502920" y="3840480"/>
            <a:ext cx="11185855" cy="10058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If pushed further: </a:t>
            </a:r>
            <a:pPr indent="0" marL="0">
              <a:buNone/>
            </a:pPr>
            <a:r>
              <a:rPr lang="en-US" sz="1250" i="1" dirty="0">
                <a:solidFill>
                  <a:srgbClr val="6B7280"/>
                </a:solidFill>
                <a:latin typeface="Calibri" pitchFamily="34" charset="0"/>
                <a:ea typeface="Calibri" pitchFamily="34" charset="-122"/>
                <a:cs typeface="Calibri" pitchFamily="34" charset="-120"/>
              </a:rPr>
              <a:t>If you've drifted more than five or six turns from the original topic, that's usually a good moment to start fresh anyway.</a:t>
            </a:r>
            <a:endParaRPr lang="en-US" sz="1250" dirty="0"/>
          </a:p>
        </p:txBody>
      </p:sp>
      <p:sp>
        <p:nvSpPr>
          <p:cNvPr id="9" name="Text 7"/>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From Message to Structured Data</a:t>
            </a:r>
            <a:endParaRPr lang="en-US" sz="900" dirty="0"/>
          </a:p>
        </p:txBody>
      </p:sp>
      <p:sp>
        <p:nvSpPr>
          <p:cNvPr id="10" name="Text 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19</a:t>
            </a:r>
            <a:endParaRPr lang="en-US" sz="900" dirty="0"/>
          </a:p>
        </p:txBody>
      </p:sp>
      <p:sp>
        <p:nvSpPr>
          <p:cNvPr id="11" name="Shape 9"/>
          <p:cNvSpPr/>
          <p:nvPr/>
        </p:nvSpPr>
        <p:spPr>
          <a:xfrm>
            <a:off x="11400739" y="201168"/>
            <a:ext cx="192024" cy="192024"/>
          </a:xfrm>
          <a:prstGeom prst="rect">
            <a:avLst/>
          </a:prstGeom>
          <a:solidFill>
            <a:srgbClr val="FFFFFF"/>
          </a:solidFill>
          <a:ln/>
        </p:spPr>
      </p:sp>
      <p:sp>
        <p:nvSpPr>
          <p:cNvPr id="12" name="Shape 10"/>
          <p:cNvSpPr/>
          <p:nvPr/>
        </p:nvSpPr>
        <p:spPr>
          <a:xfrm rot="5400000">
            <a:off x="11544757" y="249174"/>
            <a:ext cx="192024" cy="96012"/>
          </a:xfrm>
          <a:prstGeom prst="triangle">
            <a:avLst/>
          </a:prstGeom>
          <a:solidFill>
            <a:srgbClr val="E52713"/>
          </a:solidFill>
          <a:ln/>
        </p:spPr>
      </p:sp>
      <p:sp>
        <p:nvSpPr>
          <p:cNvPr id="13" name="Shape 11"/>
          <p:cNvSpPr/>
          <p:nvPr/>
        </p:nvSpPr>
        <p:spPr>
          <a:xfrm rot="16200000">
            <a:off x="11256721" y="249174"/>
            <a:ext cx="192024" cy="96012"/>
          </a:xfrm>
          <a:prstGeom prst="triangle">
            <a:avLst/>
          </a:prstGeom>
          <a:solidFill>
            <a:srgbClr val="E52713"/>
          </a:solidFill>
          <a:ln/>
        </p:spPr>
      </p:sp>
      <p:sp>
        <p:nvSpPr>
          <p:cNvPr id="14" name="Shape 12"/>
          <p:cNvSpPr/>
          <p:nvPr/>
        </p:nvSpPr>
        <p:spPr>
          <a:xfrm rot="10800000">
            <a:off x="11400739" y="201168"/>
            <a:ext cx="192024" cy="96012"/>
          </a:xfrm>
          <a:prstGeom prst="triangle">
            <a:avLst/>
          </a:prstGeom>
          <a:solidFill>
            <a:srgbClr val="E52713"/>
          </a:solidFill>
          <a:ln/>
        </p:spPr>
      </p:sp>
      <p:sp>
        <p:nvSpPr>
          <p:cNvPr id="15" name="Shape 13"/>
          <p:cNvSpPr/>
          <p:nvPr/>
        </p:nvSpPr>
        <p:spPr>
          <a:xfrm>
            <a:off x="11400739" y="297180"/>
            <a:ext cx="192024" cy="96012"/>
          </a:xfrm>
          <a:prstGeom prst="triangle">
            <a:avLst/>
          </a:prstGeom>
          <a:solidFill>
            <a:srgbClr val="E52713"/>
          </a:solidFill>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E8A33D"/>
          </a:solidFill>
          <a:ln/>
        </p:spPr>
      </p:sp>
      <p:sp>
        <p:nvSpPr>
          <p:cNvPr id="3" name="Text 1"/>
          <p:cNvSpPr/>
          <p:nvPr/>
        </p:nvSpPr>
        <p:spPr>
          <a:xfrm>
            <a:off x="502920" y="457200"/>
            <a:ext cx="566928" cy="566928"/>
          </a:xfrm>
          <a:prstGeom prst="rect">
            <a:avLst/>
          </a:prstGeom>
          <a:noFill/>
          <a:ln/>
        </p:spPr>
        <p:txBody>
          <a:bodyPr wrap="square" lIns="0" tIns="0" rIns="0" bIns="0" rtlCol="0" anchor="ctr"/>
          <a:lstStyle/>
          <a:p>
            <a:pPr algn="ctr" indent="0" marL="0">
              <a:buNone/>
            </a:pPr>
            <a:r>
              <a:rPr lang="en-US" sz="1500" b="1" dirty="0">
                <a:solidFill>
                  <a:srgbClr val="141B45"/>
                </a:solidFill>
                <a:latin typeface="Cambria" pitchFamily="34" charset="0"/>
                <a:ea typeface="Cambria" pitchFamily="34" charset="-122"/>
                <a:cs typeface="Cambria" pitchFamily="34" charset="-120"/>
              </a:rPr>
              <a:t>Q4</a:t>
            </a:r>
            <a:endParaRPr lang="en-US" sz="1500" dirty="0"/>
          </a:p>
        </p:txBody>
      </p:sp>
      <p:sp>
        <p:nvSpPr>
          <p:cNvPr id="4" name="Text 2"/>
          <p:cNvSpPr/>
          <p:nvPr/>
        </p:nvSpPr>
        <p:spPr>
          <a:xfrm>
            <a:off x="1234440" y="457200"/>
            <a:ext cx="10454335" cy="685800"/>
          </a:xfrm>
          <a:prstGeom prst="rect">
            <a:avLst/>
          </a:prstGeom>
          <a:noFill/>
          <a:ln/>
        </p:spPr>
        <p:txBody>
          <a:bodyPr wrap="square" lIns="0" tIns="0" rIns="0" bIns="0" rtlCol="0" anchor="ctr"/>
          <a:lstStyle/>
          <a:p>
            <a:pPr indent="0" marL="0">
              <a:buNone/>
            </a:pPr>
            <a:r>
              <a:rPr lang="en-US" sz="1900" b="1" i="1" dirty="0">
                <a:solidFill>
                  <a:srgbClr val="1E2761"/>
                </a:solidFill>
                <a:latin typeface="Cambria" pitchFamily="34" charset="0"/>
                <a:ea typeface="Cambria" pitchFamily="34" charset="-122"/>
                <a:cs typeface="Cambria" pitchFamily="34" charset="-120"/>
              </a:rPr>
              <a:t>Can I make it always return a table without asking every time?</a:t>
            </a:r>
            <a:endParaRPr lang="en-US" sz="1900" dirty="0"/>
          </a:p>
        </p:txBody>
      </p:sp>
      <p:sp>
        <p:nvSpPr>
          <p:cNvPr id="5" name="Shape 3"/>
          <p:cNvSpPr/>
          <p:nvPr/>
        </p:nvSpPr>
        <p:spPr>
          <a:xfrm>
            <a:off x="502920" y="1371600"/>
            <a:ext cx="11185855" cy="1417320"/>
          </a:xfrm>
          <a:prstGeom prst="roundRect">
            <a:avLst>
              <a:gd name="adj" fmla="val 5806"/>
            </a:avLst>
          </a:prstGeom>
          <a:solidFill>
            <a:srgbClr val="F4F6FB"/>
          </a:solidFill>
          <a:ln/>
          <a:effectLst>
            <a:outerShdw sx="100000" sy="100000" kx="0" ky="0" algn="bl" rotWithShape="0" blurRad="76200" dist="25400" dir="5400000">
              <a:srgbClr val="1E2761">
                <a:alpha val="16000"/>
              </a:srgbClr>
            </a:outerShdw>
          </a:effectLst>
        </p:spPr>
      </p:sp>
      <p:sp>
        <p:nvSpPr>
          <p:cNvPr id="6" name="Text 4"/>
          <p:cNvSpPr/>
          <p:nvPr/>
        </p:nvSpPr>
        <p:spPr>
          <a:xfrm>
            <a:off x="758952" y="1517904"/>
            <a:ext cx="10673791" cy="1143000"/>
          </a:xfrm>
          <a:prstGeom prst="rect">
            <a:avLst/>
          </a:prstGeom>
          <a:noFill/>
          <a:ln/>
        </p:spPr>
        <p:txBody>
          <a:bodyPr wrap="square" lIns="0" tIns="0" rIns="0" bIns="0" rtlCol="0" anchor="t">
            <a:normAutofit/>
          </a:bodyPr>
          <a:lstStyle/>
          <a:p>
            <a:pPr indent="0" marL="0">
              <a:buNone/>
            </a:pPr>
            <a:r>
              <a:rPr lang="en-US" sz="1400" b="1" dirty="0">
                <a:solidFill>
                  <a:srgbClr val="A6660E"/>
                </a:solidFill>
                <a:latin typeface="Calibri" pitchFamily="34" charset="0"/>
                <a:ea typeface="Calibri" pitchFamily="34" charset="-122"/>
                <a:cs typeface="Calibri" pitchFamily="34" charset="-120"/>
              </a:rPr>
              <a:t>A: </a:t>
            </a:r>
            <a:pPr indent="0" marL="0">
              <a:buNone/>
            </a:pPr>
            <a:r>
              <a:rPr lang="en-US" sz="1400" dirty="0">
                <a:solidFill>
                  <a:srgbClr val="1A1F36"/>
                </a:solidFill>
                <a:latin typeface="Calibri" pitchFamily="34" charset="0"/>
                <a:ea typeface="Calibri" pitchFamily="34" charset="-122"/>
                <a:cs typeface="Calibri" pitchFamily="34" charset="-120"/>
              </a:rPr>
              <a:t>Within one conversation, yes, since context carries forward; across brand-new conversations, that consistency needs a system prompt set at the agent level (session 3 territory), not something you set per query.</a:t>
            </a:r>
            <a:endParaRPr lang="en-US" sz="1400" dirty="0"/>
          </a:p>
        </p:txBody>
      </p:sp>
      <p:sp>
        <p:nvSpPr>
          <p:cNvPr id="7" name="Text 5"/>
          <p:cNvSpPr/>
          <p:nvPr/>
        </p:nvSpPr>
        <p:spPr>
          <a:xfrm>
            <a:off x="502920" y="3017520"/>
            <a:ext cx="11185855" cy="7772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Why this comes up: </a:t>
            </a:r>
            <a:pPr indent="0" marL="0">
              <a:buNone/>
            </a:pPr>
            <a:r>
              <a:rPr lang="en-US" sz="1250" i="1" dirty="0">
                <a:solidFill>
                  <a:srgbClr val="6B7280"/>
                </a:solidFill>
                <a:latin typeface="Calibri" pitchFamily="34" charset="0"/>
                <a:ea typeface="Calibri" pitchFamily="34" charset="-122"/>
                <a:cs typeface="Calibri" pitchFamily="34" charset="-120"/>
              </a:rPr>
              <a:t>Natural extrapolation from just having seen follow-ups work.</a:t>
            </a:r>
            <a:endParaRPr lang="en-US" sz="1250" dirty="0"/>
          </a:p>
        </p:txBody>
      </p:sp>
      <p:sp>
        <p:nvSpPr>
          <p:cNvPr id="8" name="Text 6"/>
          <p:cNvSpPr/>
          <p:nvPr/>
        </p:nvSpPr>
        <p:spPr>
          <a:xfrm>
            <a:off x="502920" y="3840480"/>
            <a:ext cx="11185855" cy="10058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If pushed further: </a:t>
            </a:r>
            <a:pPr indent="0" marL="0">
              <a:buNone/>
            </a:pPr>
            <a:r>
              <a:rPr lang="en-US" sz="1250" i="1" dirty="0">
                <a:solidFill>
                  <a:srgbClr val="6B7280"/>
                </a:solidFill>
                <a:latin typeface="Calibri" pitchFamily="34" charset="0"/>
                <a:ea typeface="Calibri" pitchFamily="34" charset="-122"/>
                <a:cs typeface="Calibri" pitchFamily="34" charset="-120"/>
              </a:rPr>
              <a:t>This is literally the difference between rung 1 (few-shot/per-query) and rung 2 (system prompt) on the control ladder: a genuine session-3 teaser.</a:t>
            </a:r>
            <a:endParaRPr lang="en-US" sz="1250" dirty="0"/>
          </a:p>
        </p:txBody>
      </p:sp>
      <p:sp>
        <p:nvSpPr>
          <p:cNvPr id="9" name="Text 7"/>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From Message to Structured Data</a:t>
            </a:r>
            <a:endParaRPr lang="en-US" sz="900" dirty="0"/>
          </a:p>
        </p:txBody>
      </p:sp>
      <p:sp>
        <p:nvSpPr>
          <p:cNvPr id="10" name="Text 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20</a:t>
            </a:r>
            <a:endParaRPr lang="en-US" sz="900" dirty="0"/>
          </a:p>
        </p:txBody>
      </p:sp>
      <p:sp>
        <p:nvSpPr>
          <p:cNvPr id="11" name="Shape 9"/>
          <p:cNvSpPr/>
          <p:nvPr/>
        </p:nvSpPr>
        <p:spPr>
          <a:xfrm>
            <a:off x="11400739" y="201168"/>
            <a:ext cx="192024" cy="192024"/>
          </a:xfrm>
          <a:prstGeom prst="rect">
            <a:avLst/>
          </a:prstGeom>
          <a:solidFill>
            <a:srgbClr val="FFFFFF"/>
          </a:solidFill>
          <a:ln/>
        </p:spPr>
      </p:sp>
      <p:sp>
        <p:nvSpPr>
          <p:cNvPr id="12" name="Shape 10"/>
          <p:cNvSpPr/>
          <p:nvPr/>
        </p:nvSpPr>
        <p:spPr>
          <a:xfrm rot="5400000">
            <a:off x="11544757" y="249174"/>
            <a:ext cx="192024" cy="96012"/>
          </a:xfrm>
          <a:prstGeom prst="triangle">
            <a:avLst/>
          </a:prstGeom>
          <a:solidFill>
            <a:srgbClr val="E52713"/>
          </a:solidFill>
          <a:ln/>
        </p:spPr>
      </p:sp>
      <p:sp>
        <p:nvSpPr>
          <p:cNvPr id="13" name="Shape 11"/>
          <p:cNvSpPr/>
          <p:nvPr/>
        </p:nvSpPr>
        <p:spPr>
          <a:xfrm rot="16200000">
            <a:off x="11256721" y="249174"/>
            <a:ext cx="192024" cy="96012"/>
          </a:xfrm>
          <a:prstGeom prst="triangle">
            <a:avLst/>
          </a:prstGeom>
          <a:solidFill>
            <a:srgbClr val="E52713"/>
          </a:solidFill>
          <a:ln/>
        </p:spPr>
      </p:sp>
      <p:sp>
        <p:nvSpPr>
          <p:cNvPr id="14" name="Shape 12"/>
          <p:cNvSpPr/>
          <p:nvPr/>
        </p:nvSpPr>
        <p:spPr>
          <a:xfrm rot="10800000">
            <a:off x="11400739" y="201168"/>
            <a:ext cx="192024" cy="96012"/>
          </a:xfrm>
          <a:prstGeom prst="triangle">
            <a:avLst/>
          </a:prstGeom>
          <a:solidFill>
            <a:srgbClr val="E52713"/>
          </a:solidFill>
          <a:ln/>
        </p:spPr>
      </p:sp>
      <p:sp>
        <p:nvSpPr>
          <p:cNvPr id="15" name="Shape 13"/>
          <p:cNvSpPr/>
          <p:nvPr/>
        </p:nvSpPr>
        <p:spPr>
          <a:xfrm>
            <a:off x="11400739" y="297180"/>
            <a:ext cx="192024" cy="96012"/>
          </a:xfrm>
          <a:prstGeom prst="triangle">
            <a:avLst/>
          </a:prstGeom>
          <a:solidFill>
            <a:srgbClr val="E52713"/>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2026-08-10T02:57:53Z</dcterms:created>
  <dcterms:modified xsi:type="dcterms:W3CDTF">2026-08-10T02:57:53Z</dcterms:modified>
</cp:coreProperties>
</file>