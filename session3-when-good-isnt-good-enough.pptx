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was about getting the most out of a well-written prompt. Today is about what happens when that's genuinely not enough: when the answer isn't 'write it better,' it's 'you need a different lever entirely.' We're going to walk a ladder of options, from the lightest touch to the most powerful, and (this part matters) be honest about which rungs you can actually reach today versus which ones are more of a 'know it exists' concept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ladder, bottom to top: few-shot prompting, system prompt, LLM steering, fine-tuning, instruction fine-tuning, pre-training. Each rung up gives you more control over the model's behavior, and costs more effort and infrastructure to use. We'll walk each one, but I want to flag now: notice the color shift partway up: that's deliberate, and we'll explain why in a few slides.
Prep: this diagram is the session's anchor visual; worth getting the color-coding/greying-out treatment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are your everyday reality. Few-shot (showing examples in your prompt) you control entirely, every single query. System prompt is different: it's set once, by whoever configured the agent, and it applies to everyone using that agent. If you find yourself wanting an agent to always behave a certain way, the answer usually isn't 'write a better prompt every time': it's 'go talk to whoever owns that agent's system prompt.'
Prep: know who on your team/platform side actually owns agent system-prompt configuration, so you can answer 'who do I talk to' concretely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step more powerful than prompting: steering. Technically, this covers a range of techniques that shift the model's behavior more strongly than words in a prompt alone, without retraining it. Practically, for you, this is most likely to show up as configuration options inside AI Lens: things like tone or response-style settings on an agent. It's a genuine middle ground between 'ask nicely every time' and 'permanently retrain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three rungs. I'll be quick here on purpose, because none of these are available to us today. Fine-tuning permanently changes a model's behavior but needs training data and real infrastructure. Instruction fine-tuning is actually the mechanism that turned base models into the 'chat' style models you're used to talking to, interesting to know, not something you'd do yourself. Pre-training is training from scratch: the realm of the handful of labs that can spend the money that requires. So why cover any of this if you can't use it? Because it completes your mental model.
Prep: resist the urge to over-prepare depth here; the brevity is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out from the ladder for a second: the fork most of you will actually hit isn't 'which of six rungs,' it's this simpler question: RAG or fine-tuning? RAG is for facts and knowledge that change. Fine-tuning is for behavior and style that should stay consistent. And practically, since fine-tuning isn't on the table for us yet, almost everything you'll actually need this year is going to be a RAG question, which is convenient, because that's the one you can act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this into three fast questions. Does the information change often? RAG. Is it about tone or response style? Steering or system prompt. Do you need genuinely different, permanent behavior? Fine-tuning, flagged again, not available today, but that's the honest answer to the question. Screenshot this one too if the checklist from last session wasn't enough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concretely, where does RAG actually happen for you? Not in AI Studio, which is where you ask and consume. It's in AI Lens, where agents actually get built, and where you can attach a knowledge base to one. Good mental shortcut: AI Studio is where you ask; AI Lens is where things get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glance, here's what's actually happening under the hood of an AI Lens RAG setup. You provide a knowledge base: your documents or data. The platform indexes it, so it can be searched efficiently; you don't have to do this part manually. And then, at query time, the agent retrieves the most relevant pieces and uses them to answer. That's the whole pipeline; we're about to see it live.
Prep: confirm the exact indexing/retrieval terminology AI Lens's UI itself uses, so slide language matches what participants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'This is an agent in AI Lens, with a knowledge base already attached, here's roughly what that setup looks like.' Have this agent pre-built and tested; don't build it live unless rehearsed and timing is comfortable.
Step 2: 'Let's ask it something... watch, it's not just generating this from general knowledge, it's pulling from the specific documents we attached.' Test this exact question beforehand to confirm a clearly grounded answer.
Step 3: 'Here's the source it actually pulled from: this is the transparency RAG gives you that a fine-tuned model wouldn't.' If AI Lens doesn't surface source attribution, adjust the narration to describe the mechanism conceptually instead.
Step 4 (optional): 'Same question, no knowledge base, notice the difference.' Only attempt if reliably testable; skip if it risks running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full ladder from few-shot to pre-training, an honest picture of what's usable today versus conceptual for now, the RAG-versus-fine-tuning fork, and where RAG concretely lives for you: AI Lens. Next time, we shift from 'how do I get a better answer' to 'how do I know if I should trust the answer I got,' and again, that session stands entirely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E2761"/>
          </a:solidFill>
          <a:ln/>
        </p:spPr>
      </p:sp>
      <p:sp>
        <p:nvSpPr>
          <p:cNvPr id="3" name="Shape 1"/>
          <p:cNvSpPr/>
          <p:nvPr/>
        </p:nvSpPr>
        <p:spPr>
          <a:xfrm>
            <a:off x="-1463040" y="4663440"/>
            <a:ext cx="3291840" cy="3291840"/>
          </a:xfrm>
          <a:prstGeom prst="ellipse">
            <a:avLst/>
          </a:prstGeom>
          <a:solidFill>
            <a:srgbClr val="1E2761"/>
          </a:solidFill>
          <a:ln/>
        </p:spPr>
      </p:sp>
      <p:sp>
        <p:nvSpPr>
          <p:cNvPr id="4" name="Text 2"/>
          <p:cNvSpPr/>
          <p:nvPr/>
        </p:nvSpPr>
        <p:spPr>
          <a:xfrm>
            <a:off x="502920" y="566928"/>
            <a:ext cx="73152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USE-CASE-DRIVEN SERIES</a:t>
            </a:r>
            <a:endParaRPr lang="en-US" sz="1300" dirty="0"/>
          </a:p>
        </p:txBody>
      </p:sp>
      <p:sp>
        <p:nvSpPr>
          <p:cNvPr id="5" name="Shape 3"/>
          <p:cNvSpPr/>
          <p:nvPr/>
        </p:nvSpPr>
        <p:spPr>
          <a:xfrm>
            <a:off x="822960" y="1965960"/>
            <a:ext cx="1051560" cy="1051560"/>
          </a:xfrm>
          <a:prstGeom prst="ellipse">
            <a:avLst/>
          </a:prstGeom>
          <a:solidFill>
            <a:srgbClr val="E8A33D"/>
          </a:solidFill>
          <a:ln/>
        </p:spPr>
      </p:sp>
      <p:sp>
        <p:nvSpPr>
          <p:cNvPr id="6" name="Text 4"/>
          <p:cNvSpPr/>
          <p:nvPr/>
        </p:nvSpPr>
        <p:spPr>
          <a:xfrm>
            <a:off x="822960" y="1965960"/>
            <a:ext cx="1051560" cy="1051560"/>
          </a:xfrm>
          <a:prstGeom prst="rect">
            <a:avLst/>
          </a:prstGeom>
          <a:noFill/>
          <a:ln/>
        </p:spPr>
        <p:txBody>
          <a:bodyPr wrap="square" lIns="0" tIns="0" rIns="0" bIns="0" rtlCol="0" anchor="ctr"/>
          <a:lstStyle/>
          <a:p>
            <a:pPr algn="ctr" indent="0" marL="0">
              <a:buNone/>
            </a:pPr>
            <a:r>
              <a:rPr lang="en-US" sz="3400" b="1" dirty="0">
                <a:solidFill>
                  <a:srgbClr val="141B45"/>
                </a:solidFill>
                <a:latin typeface="Cambria" pitchFamily="34" charset="0"/>
                <a:ea typeface="Cambria" pitchFamily="34" charset="-122"/>
                <a:cs typeface="Cambria" pitchFamily="34" charset="-120"/>
              </a:rPr>
              <a:t>3</a:t>
            </a:r>
            <a:endParaRPr lang="en-US" sz="3400" dirty="0"/>
          </a:p>
        </p:txBody>
      </p:sp>
      <p:sp>
        <p:nvSpPr>
          <p:cNvPr id="7" name="Text 5"/>
          <p:cNvSpPr/>
          <p:nvPr/>
        </p:nvSpPr>
        <p:spPr>
          <a:xfrm>
            <a:off x="2148840" y="1783080"/>
            <a:ext cx="9509760" cy="173736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When Good Isn't Good Enough</a:t>
            </a:r>
            <a:endParaRPr lang="en-US" sz="4000" dirty="0"/>
          </a:p>
        </p:txBody>
      </p:sp>
      <p:sp>
        <p:nvSpPr>
          <p:cNvPr id="8" name="Text 6"/>
          <p:cNvSpPr/>
          <p:nvPr/>
        </p:nvSpPr>
        <p:spPr>
          <a:xfrm>
            <a:off x="2148840" y="1371600"/>
            <a:ext cx="9509760" cy="36576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Interaction &amp; Control (part 2)</a:t>
            </a:r>
            <a:endParaRPr lang="en-US" sz="1400" dirty="0"/>
          </a:p>
        </p:txBody>
      </p:sp>
      <p:sp>
        <p:nvSpPr>
          <p:cNvPr id="9" name="Text 7"/>
          <p:cNvSpPr/>
          <p:nvPr/>
        </p:nvSpPr>
        <p:spPr>
          <a:xfrm>
            <a:off x="2148840" y="3246120"/>
            <a:ext cx="8961120" cy="822960"/>
          </a:xfrm>
          <a:prstGeom prst="rect">
            <a:avLst/>
          </a:prstGeom>
          <a:noFill/>
          <a:ln/>
        </p:spPr>
        <p:txBody>
          <a:bodyPr wrap="square" lIns="0" tIns="0" rIns="0" bIns="0" rtlCol="0" anchor="ctr"/>
          <a:lstStyle/>
          <a:p>
            <a:pPr algn="l" indent="0" marL="0">
              <a:buNone/>
            </a:pPr>
            <a:r>
              <a:rPr lang="en-US" sz="1700" i="1" dirty="0">
                <a:solidFill>
                  <a:srgbClr val="CADCFC"/>
                </a:solidFill>
                <a:latin typeface="Calibri" pitchFamily="34" charset="0"/>
                <a:ea typeface="Calibri" pitchFamily="34" charset="-122"/>
                <a:cs typeface="Calibri" pitchFamily="34" charset="-120"/>
              </a:rPr>
              <a:t>Knowing when to reach for more power (I6–I7): the control ladder, and RAG vs. fine-tuning.</a:t>
            </a:r>
            <a:endParaRPr lang="en-US" sz="1700" dirty="0"/>
          </a:p>
        </p:txBody>
      </p:sp>
      <p:sp>
        <p:nvSpPr>
          <p:cNvPr id="10" name="Text 8"/>
          <p:cNvSpPr/>
          <p:nvPr/>
        </p:nvSpPr>
        <p:spPr>
          <a:xfrm>
            <a:off x="502920" y="6355080"/>
            <a:ext cx="7315200" cy="274320"/>
          </a:xfrm>
          <a:prstGeom prst="rect">
            <a:avLst/>
          </a:prstGeom>
          <a:noFill/>
          <a:ln/>
        </p:spPr>
        <p:txBody>
          <a:bodyPr wrap="square" lIns="0" tIns="0" rIns="0" bIns="0" rtlCol="0" anchor="ctr"/>
          <a:lstStyle/>
          <a:p>
            <a:pPr indent="0" marL="0">
              <a:buNone/>
            </a:pPr>
            <a:r>
              <a:rPr lang="en-US" sz="1000" dirty="0">
                <a:solidFill>
                  <a:srgbClr val="8895BC"/>
                </a:solidFill>
                <a:latin typeface="Calibri" pitchFamily="34" charset="0"/>
                <a:ea typeface="Calibri" pitchFamily="34" charset="-122"/>
                <a:cs typeface="Calibri" pitchFamily="34" charset="-120"/>
              </a:rPr>
              <a:t>HSBC Global Markets · L&amp;D Series</a:t>
            </a:r>
            <a:endParaRPr lang="en-US" sz="10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You've Tightened the Prompt. Now What?</a:t>
            </a:r>
            <a:endParaRPr lang="en-US" sz="2900" dirty="0"/>
          </a:p>
        </p:txBody>
      </p:sp>
      <p:sp>
        <p:nvSpPr>
          <p:cNvPr id="3" name="Text 1"/>
          <p:cNvSpPr/>
          <p:nvPr/>
        </p:nvSpPr>
        <p:spPr>
          <a:xfrm>
            <a:off x="502920" y="1097280"/>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Hook, framing the session</a:t>
            </a:r>
            <a:endParaRPr lang="en-US" sz="145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5" name="Text 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11400739" y="201168"/>
            <a:ext cx="192024" cy="192024"/>
          </a:xfrm>
          <a:prstGeom prst="rect">
            <a:avLst/>
          </a:prstGeom>
          <a:solidFill>
            <a:srgbClr val="FFFFFF"/>
          </a:solidFill>
          <a:ln/>
        </p:spPr>
      </p:sp>
      <p:sp>
        <p:nvSpPr>
          <p:cNvPr id="7" name="Shape 5"/>
          <p:cNvSpPr/>
          <p:nvPr/>
        </p:nvSpPr>
        <p:spPr>
          <a:xfrm rot="5400000">
            <a:off x="11544757" y="249174"/>
            <a:ext cx="192024" cy="96012"/>
          </a:xfrm>
          <a:prstGeom prst="triangle">
            <a:avLst/>
          </a:prstGeom>
          <a:solidFill>
            <a:srgbClr val="E52713"/>
          </a:solidFill>
          <a:ln/>
        </p:spPr>
      </p:sp>
      <p:sp>
        <p:nvSpPr>
          <p:cNvPr id="8" name="Shape 6"/>
          <p:cNvSpPr/>
          <p:nvPr/>
        </p:nvSpPr>
        <p:spPr>
          <a:xfrm rot="16200000">
            <a:off x="11256721" y="249174"/>
            <a:ext cx="192024" cy="96012"/>
          </a:xfrm>
          <a:prstGeom prst="triangle">
            <a:avLst/>
          </a:prstGeom>
          <a:solidFill>
            <a:srgbClr val="E52713"/>
          </a:solidFill>
          <a:ln/>
        </p:spPr>
      </p:sp>
      <p:sp>
        <p:nvSpPr>
          <p:cNvPr id="9" name="Shape 7"/>
          <p:cNvSpPr/>
          <p:nvPr/>
        </p:nvSpPr>
        <p:spPr>
          <a:xfrm rot="10800000">
            <a:off x="11400739" y="201168"/>
            <a:ext cx="192024" cy="96012"/>
          </a:xfrm>
          <a:prstGeom prst="triangle">
            <a:avLst/>
          </a:prstGeom>
          <a:solidFill>
            <a:srgbClr val="E52713"/>
          </a:solidFill>
          <a:ln/>
        </p:spPr>
      </p:sp>
      <p:sp>
        <p:nvSpPr>
          <p:cNvPr id="10" name="Shape 8"/>
          <p:cNvSpPr/>
          <p:nvPr/>
        </p:nvSpPr>
        <p:spPr>
          <a:xfrm>
            <a:off x="11400739" y="297180"/>
            <a:ext cx="192024" cy="96012"/>
          </a:xfrm>
          <a:prstGeom prst="triangle">
            <a:avLst/>
          </a:prstGeom>
          <a:solidFill>
            <a:srgbClr val="E52713"/>
          </a:solidFill>
          <a:ln/>
        </p:spPr>
      </p:sp>
      <p:sp>
        <p:nvSpPr>
          <p:cNvPr id="11" name="Text 9"/>
          <p:cNvSpPr/>
          <p:nvPr/>
        </p:nvSpPr>
        <p:spPr>
          <a:xfrm>
            <a:off x="502920" y="1984248"/>
            <a:ext cx="6711513" cy="146304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1A1F36"/>
                </a:solidFill>
                <a:latin typeface="Calibri" pitchFamily="34" charset="0"/>
                <a:ea typeface="Calibri" pitchFamily="34" charset="-122"/>
                <a:cs typeface="Calibri" pitchFamily="34" charset="-120"/>
              </a:rPr>
              <a:t>Session 2 got you a great prompt.</a:t>
            </a:r>
            <a:endParaRPr lang="en-US" sz="1450" dirty="0"/>
          </a:p>
          <a:p>
            <a:pPr marL="228600" indent="-228600">
              <a:spcAft>
                <a:spcPts val="1000"/>
              </a:spcAft>
              <a:buSzPct val="100000"/>
              <a:buChar char="•"/>
            </a:pPr>
            <a:r>
              <a:rPr lang="en-US" sz="1450" dirty="0">
                <a:solidFill>
                  <a:srgbClr val="1A1F36"/>
                </a:solidFill>
                <a:latin typeface="Calibri" pitchFamily="34" charset="0"/>
                <a:ea typeface="Calibri" pitchFamily="34" charset="-122"/>
                <a:cs typeface="Calibri" pitchFamily="34" charset="-120"/>
              </a:rPr>
              <a:t>Sometimes even a great prompt isn't enough.</a:t>
            </a:r>
            <a:endParaRPr lang="en-US" sz="1450" dirty="0"/>
          </a:p>
          <a:p>
            <a:pPr marL="228600" indent="-228600">
              <a:spcAft>
                <a:spcPts val="1000"/>
              </a:spcAft>
              <a:buSzPct val="100000"/>
              <a:buChar char="•"/>
            </a:pPr>
            <a:r>
              <a:rPr lang="en-US" sz="1450" b="1" dirty="0">
                <a:solidFill>
                  <a:srgbClr val="1A1F36"/>
                </a:solidFill>
                <a:latin typeface="Calibri" pitchFamily="34" charset="0"/>
                <a:ea typeface="Calibri" pitchFamily="34" charset="-122"/>
                <a:cs typeface="Calibri" pitchFamily="34" charset="-120"/>
              </a:rPr>
              <a:t>Today: what else is available, and just as important, what's actually usable right now.</a:t>
            </a:r>
            <a:endParaRPr lang="en-US" sz="1450" dirty="0"/>
          </a:p>
        </p:txBody>
      </p:sp>
      <p:sp>
        <p:nvSpPr>
          <p:cNvPr id="12" name="Shape 10"/>
          <p:cNvSpPr/>
          <p:nvPr/>
        </p:nvSpPr>
        <p:spPr>
          <a:xfrm>
            <a:off x="8109302" y="2167128"/>
            <a:ext cx="1737360" cy="1737360"/>
          </a:xfrm>
          <a:prstGeom prst="ellipse">
            <a:avLst/>
          </a:prstGeom>
          <a:solidFill>
            <a:srgbClr val="48587A"/>
          </a:solidFill>
          <a:ln/>
        </p:spPr>
      </p:sp>
      <p:pic>
        <p:nvPicPr>
          <p:cNvPr id="13" name="Image 0" descr="/private/tmp/claude-501/-Users-sai-Work-Office-Teaching/ee8695eb-a8ef-409d-a9ba-c09e44dd9ced/scratchpad/pptx-build/assets/icons/FaListOl.png">    </p:cNvPr>
          <p:cNvPicPr>
            <a:picLocks noChangeAspect="1"/>
          </p:cNvPicPr>
          <p:nvPr/>
        </p:nvPicPr>
        <p:blipFill>
          <a:blip r:embed="rId1"/>
          <a:stretch>
            <a:fillRect/>
          </a:stretch>
        </p:blipFill>
        <p:spPr>
          <a:xfrm>
            <a:off x="8526268" y="2584094"/>
            <a:ext cx="903427" cy="9034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I6</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The Control Ladder</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Six rungs, low to high</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640080" y="1709928"/>
            <a:ext cx="0" cy="4160520"/>
          </a:xfrm>
          <a:prstGeom prst="line">
            <a:avLst/>
          </a:prstGeom>
          <a:noFill/>
          <a:ln w="38100">
            <a:solidFill>
              <a:srgbClr val="48587A"/>
            </a:solidFill>
            <a:prstDash val="solid"/>
          </a:ln>
        </p:spPr>
      </p:sp>
      <p:sp>
        <p:nvSpPr>
          <p:cNvPr id="13" name="Shape 11"/>
          <p:cNvSpPr/>
          <p:nvPr/>
        </p:nvSpPr>
        <p:spPr>
          <a:xfrm>
            <a:off x="6095848" y="1709928"/>
            <a:ext cx="0" cy="4160520"/>
          </a:xfrm>
          <a:prstGeom prst="line">
            <a:avLst/>
          </a:prstGeom>
          <a:noFill/>
          <a:ln w="38100">
            <a:solidFill>
              <a:srgbClr val="48587A"/>
            </a:solidFill>
            <a:prstDash val="solid"/>
          </a:ln>
        </p:spPr>
      </p:sp>
      <p:sp>
        <p:nvSpPr>
          <p:cNvPr id="14" name="Shape 12"/>
          <p:cNvSpPr/>
          <p:nvPr/>
        </p:nvSpPr>
        <p:spPr>
          <a:xfrm>
            <a:off x="640080" y="5531358"/>
            <a:ext cx="5455768" cy="0"/>
          </a:xfrm>
          <a:prstGeom prst="line">
            <a:avLst/>
          </a:prstGeom>
          <a:noFill/>
          <a:ln w="63500">
            <a:solidFill>
              <a:srgbClr val="1E2761"/>
            </a:solidFill>
            <a:prstDash val="solid"/>
          </a:ln>
        </p:spPr>
      </p:sp>
      <p:sp>
        <p:nvSpPr>
          <p:cNvPr id="15" name="Shape 13"/>
          <p:cNvSpPr/>
          <p:nvPr/>
        </p:nvSpPr>
        <p:spPr>
          <a:xfrm>
            <a:off x="6297016" y="5311902"/>
            <a:ext cx="438912" cy="438912"/>
          </a:xfrm>
          <a:prstGeom prst="ellipse">
            <a:avLst/>
          </a:prstGeom>
          <a:solidFill>
            <a:srgbClr val="E8A33D"/>
          </a:solidFill>
          <a:ln/>
        </p:spPr>
      </p:sp>
      <p:sp>
        <p:nvSpPr>
          <p:cNvPr id="16" name="Text 14"/>
          <p:cNvSpPr/>
          <p:nvPr/>
        </p:nvSpPr>
        <p:spPr>
          <a:xfrm>
            <a:off x="6297016" y="5311902"/>
            <a:ext cx="438912" cy="438912"/>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1</a:t>
            </a:r>
            <a:endParaRPr lang="en-US" sz="1500" dirty="0"/>
          </a:p>
        </p:txBody>
      </p:sp>
      <p:sp>
        <p:nvSpPr>
          <p:cNvPr id="17" name="Text 15"/>
          <p:cNvSpPr/>
          <p:nvPr/>
        </p:nvSpPr>
        <p:spPr>
          <a:xfrm>
            <a:off x="6873088" y="5293614"/>
            <a:ext cx="4678528" cy="475488"/>
          </a:xfrm>
          <a:prstGeom prst="rect">
            <a:avLst/>
          </a:prstGeom>
          <a:noFill/>
          <a:ln/>
        </p:spPr>
        <p:txBody>
          <a:bodyPr wrap="square" lIns="0" tIns="0" rIns="0" bIns="0" rtlCol="0" anchor="ctr">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Few-shot prompting</a:t>
            </a:r>
            <a:endParaRPr lang="en-US" sz="1300" dirty="0"/>
          </a:p>
        </p:txBody>
      </p:sp>
      <p:sp>
        <p:nvSpPr>
          <p:cNvPr id="18" name="Text 16"/>
          <p:cNvSpPr/>
          <p:nvPr/>
        </p:nvSpPr>
        <p:spPr>
          <a:xfrm>
            <a:off x="10088575" y="5293614"/>
            <a:ext cx="1600200" cy="475488"/>
          </a:xfrm>
          <a:prstGeom prst="rect">
            <a:avLst/>
          </a:prstGeom>
          <a:noFill/>
          <a:ln/>
        </p:spPr>
        <p:txBody>
          <a:bodyPr wrap="square" lIns="0" tIns="0" rIns="0" bIns="0" rtlCol="0" anchor="ctr"/>
          <a:lstStyle/>
          <a:p>
            <a:pPr algn="r" indent="0" marL="0">
              <a:buNone/>
            </a:pPr>
            <a:r>
              <a:rPr lang="en-US" sz="1000" b="1" i="1" dirty="0">
                <a:solidFill>
                  <a:srgbClr val="A6660E"/>
                </a:solidFill>
                <a:latin typeface="Calibri" pitchFamily="34" charset="0"/>
                <a:ea typeface="Calibri" pitchFamily="34" charset="-122"/>
                <a:cs typeface="Calibri" pitchFamily="34" charset="-120"/>
              </a:rPr>
              <a:t>usable today</a:t>
            </a:r>
            <a:endParaRPr lang="en-US" sz="1000" dirty="0"/>
          </a:p>
        </p:txBody>
      </p:sp>
      <p:sp>
        <p:nvSpPr>
          <p:cNvPr id="19" name="Shape 17"/>
          <p:cNvSpPr/>
          <p:nvPr/>
        </p:nvSpPr>
        <p:spPr>
          <a:xfrm>
            <a:off x="640080" y="4853178"/>
            <a:ext cx="5455768" cy="0"/>
          </a:xfrm>
          <a:prstGeom prst="line">
            <a:avLst/>
          </a:prstGeom>
          <a:noFill/>
          <a:ln w="63500">
            <a:solidFill>
              <a:srgbClr val="1E2761"/>
            </a:solidFill>
            <a:prstDash val="solid"/>
          </a:ln>
        </p:spPr>
      </p:sp>
      <p:sp>
        <p:nvSpPr>
          <p:cNvPr id="20" name="Shape 18"/>
          <p:cNvSpPr/>
          <p:nvPr/>
        </p:nvSpPr>
        <p:spPr>
          <a:xfrm>
            <a:off x="6297016" y="4633722"/>
            <a:ext cx="438912" cy="438912"/>
          </a:xfrm>
          <a:prstGeom prst="ellipse">
            <a:avLst/>
          </a:prstGeom>
          <a:solidFill>
            <a:srgbClr val="E8A33D"/>
          </a:solidFill>
          <a:ln/>
        </p:spPr>
      </p:sp>
      <p:sp>
        <p:nvSpPr>
          <p:cNvPr id="21" name="Text 19"/>
          <p:cNvSpPr/>
          <p:nvPr/>
        </p:nvSpPr>
        <p:spPr>
          <a:xfrm>
            <a:off x="6297016" y="4633722"/>
            <a:ext cx="438912" cy="438912"/>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2</a:t>
            </a:r>
            <a:endParaRPr lang="en-US" sz="1500" dirty="0"/>
          </a:p>
        </p:txBody>
      </p:sp>
      <p:sp>
        <p:nvSpPr>
          <p:cNvPr id="22" name="Text 20"/>
          <p:cNvSpPr/>
          <p:nvPr/>
        </p:nvSpPr>
        <p:spPr>
          <a:xfrm>
            <a:off x="6873088" y="4615434"/>
            <a:ext cx="4678528" cy="475488"/>
          </a:xfrm>
          <a:prstGeom prst="rect">
            <a:avLst/>
          </a:prstGeom>
          <a:noFill/>
          <a:ln/>
        </p:spPr>
        <p:txBody>
          <a:bodyPr wrap="square" lIns="0" tIns="0" rIns="0" bIns="0" rtlCol="0" anchor="ctr">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System prompt</a:t>
            </a:r>
            <a:endParaRPr lang="en-US" sz="1300" dirty="0"/>
          </a:p>
        </p:txBody>
      </p:sp>
      <p:sp>
        <p:nvSpPr>
          <p:cNvPr id="23" name="Text 21"/>
          <p:cNvSpPr/>
          <p:nvPr/>
        </p:nvSpPr>
        <p:spPr>
          <a:xfrm>
            <a:off x="10088575" y="4615434"/>
            <a:ext cx="1600200" cy="475488"/>
          </a:xfrm>
          <a:prstGeom prst="rect">
            <a:avLst/>
          </a:prstGeom>
          <a:noFill/>
          <a:ln/>
        </p:spPr>
        <p:txBody>
          <a:bodyPr wrap="square" lIns="0" tIns="0" rIns="0" bIns="0" rtlCol="0" anchor="ctr"/>
          <a:lstStyle/>
          <a:p>
            <a:pPr algn="r" indent="0" marL="0">
              <a:buNone/>
            </a:pPr>
            <a:r>
              <a:rPr lang="en-US" sz="1000" b="1" i="1" dirty="0">
                <a:solidFill>
                  <a:srgbClr val="A6660E"/>
                </a:solidFill>
                <a:latin typeface="Calibri" pitchFamily="34" charset="0"/>
                <a:ea typeface="Calibri" pitchFamily="34" charset="-122"/>
                <a:cs typeface="Calibri" pitchFamily="34" charset="-120"/>
              </a:rPr>
              <a:t>usable today</a:t>
            </a:r>
            <a:endParaRPr lang="en-US" sz="1000" dirty="0"/>
          </a:p>
        </p:txBody>
      </p:sp>
      <p:sp>
        <p:nvSpPr>
          <p:cNvPr id="24" name="Shape 22"/>
          <p:cNvSpPr/>
          <p:nvPr/>
        </p:nvSpPr>
        <p:spPr>
          <a:xfrm>
            <a:off x="640080" y="4174998"/>
            <a:ext cx="5455768" cy="0"/>
          </a:xfrm>
          <a:prstGeom prst="line">
            <a:avLst/>
          </a:prstGeom>
          <a:noFill/>
          <a:ln w="63500">
            <a:solidFill>
              <a:srgbClr val="1E2761"/>
            </a:solidFill>
            <a:prstDash val="solid"/>
          </a:ln>
        </p:spPr>
      </p:sp>
      <p:sp>
        <p:nvSpPr>
          <p:cNvPr id="25" name="Shape 23"/>
          <p:cNvSpPr/>
          <p:nvPr/>
        </p:nvSpPr>
        <p:spPr>
          <a:xfrm>
            <a:off x="6297016" y="3955542"/>
            <a:ext cx="438912" cy="438912"/>
          </a:xfrm>
          <a:prstGeom prst="ellipse">
            <a:avLst/>
          </a:prstGeom>
          <a:solidFill>
            <a:srgbClr val="E8A33D"/>
          </a:solidFill>
          <a:ln/>
        </p:spPr>
      </p:sp>
      <p:sp>
        <p:nvSpPr>
          <p:cNvPr id="26" name="Text 24"/>
          <p:cNvSpPr/>
          <p:nvPr/>
        </p:nvSpPr>
        <p:spPr>
          <a:xfrm>
            <a:off x="6297016" y="3955542"/>
            <a:ext cx="438912" cy="438912"/>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3</a:t>
            </a:r>
            <a:endParaRPr lang="en-US" sz="1500" dirty="0"/>
          </a:p>
        </p:txBody>
      </p:sp>
      <p:sp>
        <p:nvSpPr>
          <p:cNvPr id="27" name="Text 25"/>
          <p:cNvSpPr/>
          <p:nvPr/>
        </p:nvSpPr>
        <p:spPr>
          <a:xfrm>
            <a:off x="6873088" y="3937254"/>
            <a:ext cx="4678528" cy="475488"/>
          </a:xfrm>
          <a:prstGeom prst="rect">
            <a:avLst/>
          </a:prstGeom>
          <a:noFill/>
          <a:ln/>
        </p:spPr>
        <p:txBody>
          <a:bodyPr wrap="square" lIns="0" tIns="0" rIns="0" bIns="0" rtlCol="0" anchor="ctr">
            <a:normAutofit/>
          </a:bodyPr>
          <a:lstStyle/>
          <a:p>
            <a:pPr indent="0" marL="0">
              <a:buNone/>
            </a:pPr>
            <a:r>
              <a:rPr lang="en-US" sz="1300" b="1" dirty="0">
                <a:solidFill>
                  <a:srgbClr val="1A1F36"/>
                </a:solidFill>
                <a:latin typeface="Calibri" pitchFamily="34" charset="0"/>
                <a:ea typeface="Calibri" pitchFamily="34" charset="-122"/>
                <a:cs typeface="Calibri" pitchFamily="34" charset="-120"/>
              </a:rPr>
              <a:t>LLM steering</a:t>
            </a:r>
            <a:endParaRPr lang="en-US" sz="1300" dirty="0"/>
          </a:p>
        </p:txBody>
      </p:sp>
      <p:sp>
        <p:nvSpPr>
          <p:cNvPr id="28" name="Text 26"/>
          <p:cNvSpPr/>
          <p:nvPr/>
        </p:nvSpPr>
        <p:spPr>
          <a:xfrm>
            <a:off x="10088575" y="3937254"/>
            <a:ext cx="1600200" cy="475488"/>
          </a:xfrm>
          <a:prstGeom prst="rect">
            <a:avLst/>
          </a:prstGeom>
          <a:noFill/>
          <a:ln/>
        </p:spPr>
        <p:txBody>
          <a:bodyPr wrap="square" lIns="0" tIns="0" rIns="0" bIns="0" rtlCol="0" anchor="ctr"/>
          <a:lstStyle/>
          <a:p>
            <a:pPr algn="r" indent="0" marL="0">
              <a:buNone/>
            </a:pPr>
            <a:r>
              <a:rPr lang="en-US" sz="1000" b="1" i="1" dirty="0">
                <a:solidFill>
                  <a:srgbClr val="A6660E"/>
                </a:solidFill>
                <a:latin typeface="Calibri" pitchFamily="34" charset="0"/>
                <a:ea typeface="Calibri" pitchFamily="34" charset="-122"/>
                <a:cs typeface="Calibri" pitchFamily="34" charset="-120"/>
              </a:rPr>
              <a:t>partial, via AI Lens</a:t>
            </a:r>
            <a:endParaRPr lang="en-US" sz="1000" dirty="0"/>
          </a:p>
        </p:txBody>
      </p:sp>
      <p:sp>
        <p:nvSpPr>
          <p:cNvPr id="29" name="Shape 27"/>
          <p:cNvSpPr/>
          <p:nvPr/>
        </p:nvSpPr>
        <p:spPr>
          <a:xfrm>
            <a:off x="640080" y="3496818"/>
            <a:ext cx="5455768" cy="0"/>
          </a:xfrm>
          <a:prstGeom prst="line">
            <a:avLst/>
          </a:prstGeom>
          <a:noFill/>
          <a:ln w="63500">
            <a:solidFill>
              <a:srgbClr val="A9AFC3"/>
            </a:solidFill>
            <a:prstDash val="solid"/>
          </a:ln>
        </p:spPr>
      </p:sp>
      <p:sp>
        <p:nvSpPr>
          <p:cNvPr id="30" name="Shape 28"/>
          <p:cNvSpPr/>
          <p:nvPr/>
        </p:nvSpPr>
        <p:spPr>
          <a:xfrm>
            <a:off x="6297016" y="3277362"/>
            <a:ext cx="438912" cy="438912"/>
          </a:xfrm>
          <a:prstGeom prst="ellipse">
            <a:avLst/>
          </a:prstGeom>
          <a:solidFill>
            <a:srgbClr val="A9AFC3"/>
          </a:solidFill>
          <a:ln/>
        </p:spPr>
      </p:sp>
      <p:sp>
        <p:nvSpPr>
          <p:cNvPr id="31" name="Text 29"/>
          <p:cNvSpPr/>
          <p:nvPr/>
        </p:nvSpPr>
        <p:spPr>
          <a:xfrm>
            <a:off x="6297016" y="3277362"/>
            <a:ext cx="438912" cy="438912"/>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4</a:t>
            </a:r>
            <a:endParaRPr lang="en-US" sz="1500" dirty="0"/>
          </a:p>
        </p:txBody>
      </p:sp>
      <p:sp>
        <p:nvSpPr>
          <p:cNvPr id="32" name="Text 30"/>
          <p:cNvSpPr/>
          <p:nvPr/>
        </p:nvSpPr>
        <p:spPr>
          <a:xfrm>
            <a:off x="6873088" y="3259074"/>
            <a:ext cx="4678528" cy="475488"/>
          </a:xfrm>
          <a:prstGeom prst="rect">
            <a:avLst/>
          </a:prstGeom>
          <a:noFill/>
          <a:ln/>
        </p:spPr>
        <p:txBody>
          <a:bodyPr wrap="square" lIns="0" tIns="0" rIns="0" bIns="0" rtlCol="0" anchor="ctr">
            <a:normAutofit/>
          </a:bodyPr>
          <a:lstStyle/>
          <a:p>
            <a:pPr indent="0" marL="0">
              <a:buNone/>
            </a:pPr>
            <a:r>
              <a:rPr lang="en-US" sz="1300" b="1" dirty="0">
                <a:solidFill>
                  <a:srgbClr val="6B7280"/>
                </a:solidFill>
                <a:latin typeface="Calibri" pitchFamily="34" charset="0"/>
                <a:ea typeface="Calibri" pitchFamily="34" charset="-122"/>
                <a:cs typeface="Calibri" pitchFamily="34" charset="-120"/>
              </a:rPr>
              <a:t>Fine-tuning</a:t>
            </a:r>
            <a:endParaRPr lang="en-US" sz="1300" dirty="0"/>
          </a:p>
        </p:txBody>
      </p:sp>
      <p:sp>
        <p:nvSpPr>
          <p:cNvPr id="33" name="Text 31"/>
          <p:cNvSpPr/>
          <p:nvPr/>
        </p:nvSpPr>
        <p:spPr>
          <a:xfrm>
            <a:off x="10088575" y="3259074"/>
            <a:ext cx="1600200" cy="475488"/>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not yet</a:t>
            </a:r>
            <a:endParaRPr lang="en-US" sz="1000" dirty="0"/>
          </a:p>
        </p:txBody>
      </p:sp>
      <p:sp>
        <p:nvSpPr>
          <p:cNvPr id="34" name="Shape 32"/>
          <p:cNvSpPr/>
          <p:nvPr/>
        </p:nvSpPr>
        <p:spPr>
          <a:xfrm>
            <a:off x="640080" y="2818638"/>
            <a:ext cx="5455768" cy="0"/>
          </a:xfrm>
          <a:prstGeom prst="line">
            <a:avLst/>
          </a:prstGeom>
          <a:noFill/>
          <a:ln w="63500">
            <a:solidFill>
              <a:srgbClr val="A9AFC3"/>
            </a:solidFill>
            <a:prstDash val="solid"/>
          </a:ln>
        </p:spPr>
      </p:sp>
      <p:sp>
        <p:nvSpPr>
          <p:cNvPr id="35" name="Shape 33"/>
          <p:cNvSpPr/>
          <p:nvPr/>
        </p:nvSpPr>
        <p:spPr>
          <a:xfrm>
            <a:off x="6297016" y="2599182"/>
            <a:ext cx="438912" cy="438912"/>
          </a:xfrm>
          <a:prstGeom prst="ellipse">
            <a:avLst/>
          </a:prstGeom>
          <a:solidFill>
            <a:srgbClr val="A9AFC3"/>
          </a:solidFill>
          <a:ln/>
        </p:spPr>
      </p:sp>
      <p:sp>
        <p:nvSpPr>
          <p:cNvPr id="36" name="Text 34"/>
          <p:cNvSpPr/>
          <p:nvPr/>
        </p:nvSpPr>
        <p:spPr>
          <a:xfrm>
            <a:off x="6297016" y="2599182"/>
            <a:ext cx="438912" cy="438912"/>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5</a:t>
            </a:r>
            <a:endParaRPr lang="en-US" sz="1500" dirty="0"/>
          </a:p>
        </p:txBody>
      </p:sp>
      <p:sp>
        <p:nvSpPr>
          <p:cNvPr id="37" name="Text 35"/>
          <p:cNvSpPr/>
          <p:nvPr/>
        </p:nvSpPr>
        <p:spPr>
          <a:xfrm>
            <a:off x="6873088" y="2580894"/>
            <a:ext cx="4678528" cy="475488"/>
          </a:xfrm>
          <a:prstGeom prst="rect">
            <a:avLst/>
          </a:prstGeom>
          <a:noFill/>
          <a:ln/>
        </p:spPr>
        <p:txBody>
          <a:bodyPr wrap="square" lIns="0" tIns="0" rIns="0" bIns="0" rtlCol="0" anchor="ctr">
            <a:normAutofit/>
          </a:bodyPr>
          <a:lstStyle/>
          <a:p>
            <a:pPr indent="0" marL="0">
              <a:buNone/>
            </a:pPr>
            <a:r>
              <a:rPr lang="en-US" sz="1300" b="1" dirty="0">
                <a:solidFill>
                  <a:srgbClr val="6B7280"/>
                </a:solidFill>
                <a:latin typeface="Calibri" pitchFamily="34" charset="0"/>
                <a:ea typeface="Calibri" pitchFamily="34" charset="-122"/>
                <a:cs typeface="Calibri" pitchFamily="34" charset="-120"/>
              </a:rPr>
              <a:t>Instruction fine-tuning</a:t>
            </a:r>
            <a:endParaRPr lang="en-US" sz="1300" dirty="0"/>
          </a:p>
        </p:txBody>
      </p:sp>
      <p:sp>
        <p:nvSpPr>
          <p:cNvPr id="38" name="Text 36"/>
          <p:cNvSpPr/>
          <p:nvPr/>
        </p:nvSpPr>
        <p:spPr>
          <a:xfrm>
            <a:off x="10088575" y="2580894"/>
            <a:ext cx="1600200" cy="475488"/>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not yet</a:t>
            </a:r>
            <a:endParaRPr lang="en-US" sz="1000" dirty="0"/>
          </a:p>
        </p:txBody>
      </p:sp>
      <p:sp>
        <p:nvSpPr>
          <p:cNvPr id="39" name="Shape 37"/>
          <p:cNvSpPr/>
          <p:nvPr/>
        </p:nvSpPr>
        <p:spPr>
          <a:xfrm>
            <a:off x="640080" y="2140458"/>
            <a:ext cx="5455768" cy="0"/>
          </a:xfrm>
          <a:prstGeom prst="line">
            <a:avLst/>
          </a:prstGeom>
          <a:noFill/>
          <a:ln w="63500">
            <a:solidFill>
              <a:srgbClr val="A9AFC3"/>
            </a:solidFill>
            <a:prstDash val="solid"/>
          </a:ln>
        </p:spPr>
      </p:sp>
      <p:sp>
        <p:nvSpPr>
          <p:cNvPr id="40" name="Shape 38"/>
          <p:cNvSpPr/>
          <p:nvPr/>
        </p:nvSpPr>
        <p:spPr>
          <a:xfrm>
            <a:off x="6297016" y="1921002"/>
            <a:ext cx="438912" cy="438912"/>
          </a:xfrm>
          <a:prstGeom prst="ellipse">
            <a:avLst/>
          </a:prstGeom>
          <a:solidFill>
            <a:srgbClr val="A9AFC3"/>
          </a:solidFill>
          <a:ln/>
        </p:spPr>
      </p:sp>
      <p:sp>
        <p:nvSpPr>
          <p:cNvPr id="41" name="Text 39"/>
          <p:cNvSpPr/>
          <p:nvPr/>
        </p:nvSpPr>
        <p:spPr>
          <a:xfrm>
            <a:off x="6297016" y="1921002"/>
            <a:ext cx="438912" cy="438912"/>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6</a:t>
            </a:r>
            <a:endParaRPr lang="en-US" sz="1500" dirty="0"/>
          </a:p>
        </p:txBody>
      </p:sp>
      <p:sp>
        <p:nvSpPr>
          <p:cNvPr id="42" name="Text 40"/>
          <p:cNvSpPr/>
          <p:nvPr/>
        </p:nvSpPr>
        <p:spPr>
          <a:xfrm>
            <a:off x="6873088" y="1902714"/>
            <a:ext cx="4678528" cy="475488"/>
          </a:xfrm>
          <a:prstGeom prst="rect">
            <a:avLst/>
          </a:prstGeom>
          <a:noFill/>
          <a:ln/>
        </p:spPr>
        <p:txBody>
          <a:bodyPr wrap="square" lIns="0" tIns="0" rIns="0" bIns="0" rtlCol="0" anchor="ctr">
            <a:normAutofit/>
          </a:bodyPr>
          <a:lstStyle/>
          <a:p>
            <a:pPr indent="0" marL="0">
              <a:buNone/>
            </a:pPr>
            <a:r>
              <a:rPr lang="en-US" sz="1300" b="1" dirty="0">
                <a:solidFill>
                  <a:srgbClr val="6B7280"/>
                </a:solidFill>
                <a:latin typeface="Calibri" pitchFamily="34" charset="0"/>
                <a:ea typeface="Calibri" pitchFamily="34" charset="-122"/>
                <a:cs typeface="Calibri" pitchFamily="34" charset="-120"/>
              </a:rPr>
              <a:t>Pre-training</a:t>
            </a:r>
            <a:endParaRPr lang="en-US" sz="1300" dirty="0"/>
          </a:p>
        </p:txBody>
      </p:sp>
      <p:sp>
        <p:nvSpPr>
          <p:cNvPr id="43" name="Text 41"/>
          <p:cNvSpPr/>
          <p:nvPr/>
        </p:nvSpPr>
        <p:spPr>
          <a:xfrm>
            <a:off x="10088575" y="1902714"/>
            <a:ext cx="1600200" cy="475488"/>
          </a:xfrm>
          <a:prstGeom prst="rect">
            <a:avLst/>
          </a:prstGeom>
          <a:noFill/>
          <a:ln/>
        </p:spPr>
        <p:txBody>
          <a:bodyPr wrap="square" lIns="0" tIns="0" rIns="0" bIns="0" rtlCol="0" anchor="ctr"/>
          <a:lstStyle/>
          <a:p>
            <a:pPr algn="r" indent="0" marL="0">
              <a:buNone/>
            </a:pPr>
            <a:r>
              <a:rPr lang="en-US" sz="1000" i="1" dirty="0">
                <a:solidFill>
                  <a:srgbClr val="6B7280"/>
                </a:solidFill>
                <a:latin typeface="Calibri" pitchFamily="34" charset="0"/>
                <a:ea typeface="Calibri" pitchFamily="34" charset="-122"/>
                <a:cs typeface="Calibri" pitchFamily="34" charset="-120"/>
              </a:rPr>
              <a:t>not yet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I6</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Rungs 1–2 in Practice</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What's actually usable in AI Studio today</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5364328" cy="4160520"/>
          </a:xfrm>
          <a:prstGeom prst="roundRect">
            <a:avLst>
              <a:gd name="adj" fmla="val 1978"/>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502920" y="1709928"/>
            <a:ext cx="5364328" cy="457200"/>
          </a:xfrm>
          <a:prstGeom prst="roundRect">
            <a:avLst>
              <a:gd name="adj" fmla="val 18000"/>
            </a:avLst>
          </a:prstGeom>
          <a:solidFill>
            <a:srgbClr val="1E2761"/>
          </a:solidFill>
          <a:ln/>
        </p:spPr>
      </p:sp>
      <p:sp>
        <p:nvSpPr>
          <p:cNvPr id="14" name="Shape 12"/>
          <p:cNvSpPr/>
          <p:nvPr/>
        </p:nvSpPr>
        <p:spPr>
          <a:xfrm>
            <a:off x="502920" y="1965960"/>
            <a:ext cx="5364328" cy="201168"/>
          </a:xfrm>
          <a:prstGeom prst="rect">
            <a:avLst/>
          </a:prstGeom>
          <a:solidFill>
            <a:srgbClr val="1E2761"/>
          </a:solidFill>
          <a:ln/>
        </p:spPr>
      </p:sp>
      <p:sp>
        <p:nvSpPr>
          <p:cNvPr id="15" name="Text 13"/>
          <p:cNvSpPr/>
          <p:nvPr/>
        </p:nvSpPr>
        <p:spPr>
          <a:xfrm>
            <a:off x="640080"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Few-shot</a:t>
            </a:r>
            <a:endParaRPr lang="en-US" sz="1450" dirty="0"/>
          </a:p>
        </p:txBody>
      </p:sp>
      <p:sp>
        <p:nvSpPr>
          <p:cNvPr id="16" name="Text 14"/>
          <p:cNvSpPr/>
          <p:nvPr/>
        </p:nvSpPr>
        <p:spPr>
          <a:xfrm>
            <a:off x="704088" y="2313432"/>
            <a:ext cx="4961992" cy="342900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You control this, per query, every time.</a:t>
            </a:r>
            <a:endParaRPr lang="en-US" sz="1450" dirty="0"/>
          </a:p>
        </p:txBody>
      </p:sp>
      <p:sp>
        <p:nvSpPr>
          <p:cNvPr id="17" name="Shape 15"/>
          <p:cNvSpPr/>
          <p:nvPr/>
        </p:nvSpPr>
        <p:spPr>
          <a:xfrm>
            <a:off x="6324448" y="1709928"/>
            <a:ext cx="5364328" cy="4160520"/>
          </a:xfrm>
          <a:prstGeom prst="roundRect">
            <a:avLst>
              <a:gd name="adj" fmla="val 1978"/>
            </a:avLst>
          </a:prstGeom>
          <a:solidFill>
            <a:srgbClr val="F4F6FB"/>
          </a:solidFill>
          <a:ln/>
          <a:effectLst>
            <a:outerShdw sx="100000" sy="100000" kx="0" ky="0" algn="bl" rotWithShape="0" blurRad="76200" dist="25400" dir="5400000">
              <a:srgbClr val="1E2761">
                <a:alpha val="16000"/>
              </a:srgbClr>
            </a:outerShdw>
          </a:effectLst>
        </p:spPr>
      </p:sp>
      <p:sp>
        <p:nvSpPr>
          <p:cNvPr id="18" name="Shape 16"/>
          <p:cNvSpPr/>
          <p:nvPr/>
        </p:nvSpPr>
        <p:spPr>
          <a:xfrm>
            <a:off x="6324448" y="1709928"/>
            <a:ext cx="5364328" cy="457200"/>
          </a:xfrm>
          <a:prstGeom prst="roundRect">
            <a:avLst>
              <a:gd name="adj" fmla="val 18000"/>
            </a:avLst>
          </a:prstGeom>
          <a:solidFill>
            <a:srgbClr val="48587A"/>
          </a:solidFill>
          <a:ln/>
        </p:spPr>
      </p:sp>
      <p:sp>
        <p:nvSpPr>
          <p:cNvPr id="19" name="Shape 17"/>
          <p:cNvSpPr/>
          <p:nvPr/>
        </p:nvSpPr>
        <p:spPr>
          <a:xfrm>
            <a:off x="6324448" y="1965960"/>
            <a:ext cx="5364328" cy="201168"/>
          </a:xfrm>
          <a:prstGeom prst="rect">
            <a:avLst/>
          </a:prstGeom>
          <a:solidFill>
            <a:srgbClr val="48587A"/>
          </a:solidFill>
          <a:ln/>
        </p:spPr>
      </p:sp>
      <p:sp>
        <p:nvSpPr>
          <p:cNvPr id="20" name="Text 18"/>
          <p:cNvSpPr/>
          <p:nvPr/>
        </p:nvSpPr>
        <p:spPr>
          <a:xfrm>
            <a:off x="6461608"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System prompt</a:t>
            </a:r>
            <a:endParaRPr lang="en-US" sz="1450" dirty="0"/>
          </a:p>
        </p:txBody>
      </p:sp>
      <p:sp>
        <p:nvSpPr>
          <p:cNvPr id="21" name="Text 19"/>
          <p:cNvSpPr/>
          <p:nvPr/>
        </p:nvSpPr>
        <p:spPr>
          <a:xfrm>
            <a:off x="6525616" y="2313432"/>
            <a:ext cx="4961992" cy="342900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Set once by whoever builds the agent.</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Ask them if you need it changed.</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I6</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Rung 3: LLM Steering</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What it adds beyond prompting alone</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Text 10"/>
          <p:cNvSpPr/>
          <p:nvPr/>
        </p:nvSpPr>
        <p:spPr>
          <a:xfrm>
            <a:off x="502920" y="1801368"/>
            <a:ext cx="11185855" cy="118872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1A1F36"/>
                </a:solidFill>
                <a:latin typeface="Calibri" pitchFamily="34" charset="0"/>
                <a:ea typeface="Calibri" pitchFamily="34" charset="-122"/>
                <a:cs typeface="Calibri" pitchFamily="34" charset="-120"/>
              </a:rPr>
              <a:t>Shifts behavior more strongly than prompting, without changing the model's weights.</a:t>
            </a:r>
            <a:endParaRPr lang="en-US" sz="1450" dirty="0"/>
          </a:p>
          <a:p>
            <a:pPr marL="228600" indent="-228600">
              <a:spcAft>
                <a:spcPts val="1000"/>
              </a:spcAft>
              <a:buSzPct val="100000"/>
              <a:buChar char="•"/>
            </a:pPr>
            <a:r>
              <a:rPr lang="en-US" sz="1450" dirty="0">
                <a:solidFill>
                  <a:srgbClr val="1A1F36"/>
                </a:solidFill>
                <a:latin typeface="Calibri" pitchFamily="34" charset="0"/>
                <a:ea typeface="Calibri" pitchFamily="34" charset="-122"/>
                <a:cs typeface="Calibri" pitchFamily="34" charset="-120"/>
              </a:rPr>
              <a:t>For you, practically: tone/response-style settings inside AI Lens.</a:t>
            </a:r>
            <a:endParaRPr lang="en-US" sz="1450" dirty="0"/>
          </a:p>
        </p:txBody>
      </p:sp>
      <p:sp>
        <p:nvSpPr>
          <p:cNvPr id="13" name="Shape 11"/>
          <p:cNvSpPr/>
          <p:nvPr/>
        </p:nvSpPr>
        <p:spPr>
          <a:xfrm>
            <a:off x="502920" y="5093208"/>
            <a:ext cx="11185855" cy="777240"/>
          </a:xfrm>
          <a:prstGeom prst="roundRect">
            <a:avLst>
              <a:gd name="adj" fmla="val 10588"/>
            </a:avLst>
          </a:prstGeom>
          <a:solidFill>
            <a:srgbClr val="FFF4E0"/>
          </a:solidFill>
          <a:ln/>
        </p:spPr>
      </p:sp>
      <p:sp>
        <p:nvSpPr>
          <p:cNvPr id="14" name="Shape 12"/>
          <p:cNvSpPr/>
          <p:nvPr/>
        </p:nvSpPr>
        <p:spPr>
          <a:xfrm>
            <a:off x="502920" y="5093208"/>
            <a:ext cx="82296" cy="777240"/>
          </a:xfrm>
          <a:prstGeom prst="roundRect">
            <a:avLst/>
          </a:prstGeom>
          <a:solidFill>
            <a:srgbClr val="E8A33D"/>
          </a:solidFill>
          <a:ln/>
        </p:spPr>
      </p:sp>
      <p:sp>
        <p:nvSpPr>
          <p:cNvPr id="15" name="Text 13"/>
          <p:cNvSpPr/>
          <p:nvPr/>
        </p:nvSpPr>
        <p:spPr>
          <a:xfrm>
            <a:off x="758952" y="5184648"/>
            <a:ext cx="10728655" cy="59436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confirm the exact AI Lens steering options available, if any, with your platform team before finalizing this slide; don't guess at capabilities that may not exist yet.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I6</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Rungs 4–6: Know They Exist, Not Available Today</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Fine-tuning · Instruction fine-tuning · Pre-training</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801368"/>
            <a:ext cx="3484778" cy="2286000"/>
          </a:xfrm>
          <a:prstGeom prst="roundRect">
            <a:avLst>
              <a:gd name="adj" fmla="val 3600"/>
            </a:avLst>
          </a:prstGeom>
          <a:solidFill>
            <a:srgbClr val="F4F6FB"/>
          </a:solidFill>
          <a:ln/>
        </p:spPr>
      </p:sp>
      <p:sp>
        <p:nvSpPr>
          <p:cNvPr id="13" name="Text 11"/>
          <p:cNvSpPr/>
          <p:nvPr/>
        </p:nvSpPr>
        <p:spPr>
          <a:xfrm>
            <a:off x="685800" y="1984248"/>
            <a:ext cx="3119018" cy="457200"/>
          </a:xfrm>
          <a:prstGeom prst="rect">
            <a:avLst/>
          </a:prstGeom>
          <a:noFill/>
          <a:ln/>
        </p:spPr>
        <p:txBody>
          <a:bodyPr wrap="square" lIns="0" tIns="0" rIns="0" bIns="0" rtlCol="0" anchor="ctr">
            <a:normAutofit/>
          </a:bodyPr>
          <a:lstStyle/>
          <a:p>
            <a:pPr indent="0" marL="0">
              <a:buNone/>
            </a:pPr>
            <a:r>
              <a:rPr lang="en-US" sz="1350" b="1" dirty="0">
                <a:solidFill>
                  <a:srgbClr val="6B7280"/>
                </a:solidFill>
                <a:latin typeface="Calibri" pitchFamily="34" charset="0"/>
                <a:ea typeface="Calibri" pitchFamily="34" charset="-122"/>
                <a:cs typeface="Calibri" pitchFamily="34" charset="-120"/>
              </a:rPr>
              <a:t>Fine-tuning</a:t>
            </a:r>
            <a:endParaRPr lang="en-US" sz="1350" dirty="0"/>
          </a:p>
        </p:txBody>
      </p:sp>
      <p:sp>
        <p:nvSpPr>
          <p:cNvPr id="14" name="Text 12"/>
          <p:cNvSpPr/>
          <p:nvPr/>
        </p:nvSpPr>
        <p:spPr>
          <a:xfrm>
            <a:off x="685800" y="2487168"/>
            <a:ext cx="3119018" cy="1417320"/>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Permanently changes model behavior; needs training data + infra.</a:t>
            </a:r>
            <a:endParaRPr lang="en-US" sz="1100" dirty="0"/>
          </a:p>
        </p:txBody>
      </p:sp>
      <p:sp>
        <p:nvSpPr>
          <p:cNvPr id="15" name="Shape 13"/>
          <p:cNvSpPr/>
          <p:nvPr/>
        </p:nvSpPr>
        <p:spPr>
          <a:xfrm>
            <a:off x="4353458" y="1801368"/>
            <a:ext cx="3484778" cy="2286000"/>
          </a:xfrm>
          <a:prstGeom prst="roundRect">
            <a:avLst>
              <a:gd name="adj" fmla="val 3600"/>
            </a:avLst>
          </a:prstGeom>
          <a:solidFill>
            <a:srgbClr val="F4F6FB"/>
          </a:solidFill>
          <a:ln/>
        </p:spPr>
      </p:sp>
      <p:sp>
        <p:nvSpPr>
          <p:cNvPr id="16" name="Text 14"/>
          <p:cNvSpPr/>
          <p:nvPr/>
        </p:nvSpPr>
        <p:spPr>
          <a:xfrm>
            <a:off x="4536338" y="1984248"/>
            <a:ext cx="3119018" cy="457200"/>
          </a:xfrm>
          <a:prstGeom prst="rect">
            <a:avLst/>
          </a:prstGeom>
          <a:noFill/>
          <a:ln/>
        </p:spPr>
        <p:txBody>
          <a:bodyPr wrap="square" lIns="0" tIns="0" rIns="0" bIns="0" rtlCol="0" anchor="ctr">
            <a:normAutofit/>
          </a:bodyPr>
          <a:lstStyle/>
          <a:p>
            <a:pPr indent="0" marL="0">
              <a:buNone/>
            </a:pPr>
            <a:r>
              <a:rPr lang="en-US" sz="1350" b="1" dirty="0">
                <a:solidFill>
                  <a:srgbClr val="6B7280"/>
                </a:solidFill>
                <a:latin typeface="Calibri" pitchFamily="34" charset="0"/>
                <a:ea typeface="Calibri" pitchFamily="34" charset="-122"/>
                <a:cs typeface="Calibri" pitchFamily="34" charset="-120"/>
              </a:rPr>
              <a:t>Instruction fine-tuning</a:t>
            </a:r>
            <a:endParaRPr lang="en-US" sz="1350" dirty="0"/>
          </a:p>
        </p:txBody>
      </p:sp>
      <p:sp>
        <p:nvSpPr>
          <p:cNvPr id="17" name="Text 15"/>
          <p:cNvSpPr/>
          <p:nvPr/>
        </p:nvSpPr>
        <p:spPr>
          <a:xfrm>
            <a:off x="4536338" y="2487168"/>
            <a:ext cx="3119018" cy="1417320"/>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Teaches a model to follow instructions/format well: how base models become 'chat' models.</a:t>
            </a:r>
            <a:endParaRPr lang="en-US" sz="1100" dirty="0"/>
          </a:p>
        </p:txBody>
      </p:sp>
      <p:sp>
        <p:nvSpPr>
          <p:cNvPr id="18" name="Shape 16"/>
          <p:cNvSpPr/>
          <p:nvPr/>
        </p:nvSpPr>
        <p:spPr>
          <a:xfrm>
            <a:off x="8203997" y="1801368"/>
            <a:ext cx="3484778" cy="2286000"/>
          </a:xfrm>
          <a:prstGeom prst="roundRect">
            <a:avLst>
              <a:gd name="adj" fmla="val 3600"/>
            </a:avLst>
          </a:prstGeom>
          <a:solidFill>
            <a:srgbClr val="F4F6FB"/>
          </a:solidFill>
          <a:ln/>
        </p:spPr>
      </p:sp>
      <p:sp>
        <p:nvSpPr>
          <p:cNvPr id="19" name="Text 17"/>
          <p:cNvSpPr/>
          <p:nvPr/>
        </p:nvSpPr>
        <p:spPr>
          <a:xfrm>
            <a:off x="8386877" y="1984248"/>
            <a:ext cx="3119018" cy="457200"/>
          </a:xfrm>
          <a:prstGeom prst="rect">
            <a:avLst/>
          </a:prstGeom>
          <a:noFill/>
          <a:ln/>
        </p:spPr>
        <p:txBody>
          <a:bodyPr wrap="square" lIns="0" tIns="0" rIns="0" bIns="0" rtlCol="0" anchor="ctr">
            <a:normAutofit/>
          </a:bodyPr>
          <a:lstStyle/>
          <a:p>
            <a:pPr indent="0" marL="0">
              <a:buNone/>
            </a:pPr>
            <a:r>
              <a:rPr lang="en-US" sz="1350" b="1" dirty="0">
                <a:solidFill>
                  <a:srgbClr val="6B7280"/>
                </a:solidFill>
                <a:latin typeface="Calibri" pitchFamily="34" charset="0"/>
                <a:ea typeface="Calibri" pitchFamily="34" charset="-122"/>
                <a:cs typeface="Calibri" pitchFamily="34" charset="-120"/>
              </a:rPr>
              <a:t>Pre-training</a:t>
            </a:r>
            <a:endParaRPr lang="en-US" sz="1350" dirty="0"/>
          </a:p>
        </p:txBody>
      </p:sp>
      <p:sp>
        <p:nvSpPr>
          <p:cNvPr id="20" name="Text 18"/>
          <p:cNvSpPr/>
          <p:nvPr/>
        </p:nvSpPr>
        <p:spPr>
          <a:xfrm>
            <a:off x="8386877" y="2487168"/>
            <a:ext cx="3119018" cy="1417320"/>
          </a:xfrm>
          <a:prstGeom prst="rect">
            <a:avLst/>
          </a:prstGeom>
          <a:noFill/>
          <a:ln/>
        </p:spPr>
        <p:txBody>
          <a:bodyPr wrap="square" lIns="0" tIns="0" rIns="0" bIns="0" rtlCol="0" anchor="t">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Training from scratch; frontier-lab scale only.</a:t>
            </a:r>
            <a:endParaRPr lang="en-US" sz="1100" dirty="0"/>
          </a:p>
        </p:txBody>
      </p:sp>
      <p:sp>
        <p:nvSpPr>
          <p:cNvPr id="21" name="Text 19"/>
          <p:cNvSpPr/>
          <p:nvPr/>
        </p:nvSpPr>
        <p:spPr>
          <a:xfrm>
            <a:off x="502920" y="5349240"/>
            <a:ext cx="11185855" cy="54864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Why cover this if we can't use it? So you can reason correctly about what you actually need, even before it's available.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I7</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The Real Fork You'll Actually Face</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RAG vs. Fine-tuning</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5364328" cy="3200400"/>
          </a:xfrm>
          <a:prstGeom prst="roundRect">
            <a:avLst>
              <a:gd name="adj" fmla="val 2571"/>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502920" y="1709928"/>
            <a:ext cx="5364328" cy="457200"/>
          </a:xfrm>
          <a:prstGeom prst="roundRect">
            <a:avLst>
              <a:gd name="adj" fmla="val 18000"/>
            </a:avLst>
          </a:prstGeom>
          <a:solidFill>
            <a:srgbClr val="1E2761"/>
          </a:solidFill>
          <a:ln/>
        </p:spPr>
      </p:sp>
      <p:sp>
        <p:nvSpPr>
          <p:cNvPr id="14" name="Shape 12"/>
          <p:cNvSpPr/>
          <p:nvPr/>
        </p:nvSpPr>
        <p:spPr>
          <a:xfrm>
            <a:off x="502920" y="1965960"/>
            <a:ext cx="5364328" cy="201168"/>
          </a:xfrm>
          <a:prstGeom prst="rect">
            <a:avLst/>
          </a:prstGeom>
          <a:solidFill>
            <a:srgbClr val="1E2761"/>
          </a:solidFill>
          <a:ln/>
        </p:spPr>
      </p:sp>
      <p:sp>
        <p:nvSpPr>
          <p:cNvPr id="15" name="Text 13"/>
          <p:cNvSpPr/>
          <p:nvPr/>
        </p:nvSpPr>
        <p:spPr>
          <a:xfrm>
            <a:off x="640080"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RAG</a:t>
            </a:r>
            <a:endParaRPr lang="en-US" sz="1450" dirty="0"/>
          </a:p>
        </p:txBody>
      </p:sp>
      <p:sp>
        <p:nvSpPr>
          <p:cNvPr id="16" name="Text 14"/>
          <p:cNvSpPr/>
          <p:nvPr/>
        </p:nvSpPr>
        <p:spPr>
          <a:xfrm>
            <a:off x="704088" y="2313432"/>
            <a:ext cx="4961992" cy="246888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Facts / knowledge that changes</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Update the knowledge base, no retraining</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Transparent: you can see the source</a:t>
            </a:r>
            <a:endParaRPr lang="en-US" sz="1450" dirty="0"/>
          </a:p>
        </p:txBody>
      </p:sp>
      <p:sp>
        <p:nvSpPr>
          <p:cNvPr id="17" name="Shape 15"/>
          <p:cNvSpPr/>
          <p:nvPr/>
        </p:nvSpPr>
        <p:spPr>
          <a:xfrm>
            <a:off x="6324448" y="1709928"/>
            <a:ext cx="5364328" cy="3200400"/>
          </a:xfrm>
          <a:prstGeom prst="roundRect">
            <a:avLst>
              <a:gd name="adj" fmla="val 2571"/>
            </a:avLst>
          </a:prstGeom>
          <a:solidFill>
            <a:srgbClr val="F4F6FB"/>
          </a:solidFill>
          <a:ln/>
          <a:effectLst>
            <a:outerShdw sx="100000" sy="100000" kx="0" ky="0" algn="bl" rotWithShape="0" blurRad="76200" dist="25400" dir="5400000">
              <a:srgbClr val="1E2761">
                <a:alpha val="16000"/>
              </a:srgbClr>
            </a:outerShdw>
          </a:effectLst>
        </p:spPr>
      </p:sp>
      <p:sp>
        <p:nvSpPr>
          <p:cNvPr id="18" name="Shape 16"/>
          <p:cNvSpPr/>
          <p:nvPr/>
        </p:nvSpPr>
        <p:spPr>
          <a:xfrm>
            <a:off x="6324448" y="1709928"/>
            <a:ext cx="5364328" cy="457200"/>
          </a:xfrm>
          <a:prstGeom prst="roundRect">
            <a:avLst>
              <a:gd name="adj" fmla="val 18000"/>
            </a:avLst>
          </a:prstGeom>
          <a:solidFill>
            <a:srgbClr val="48587A"/>
          </a:solidFill>
          <a:ln/>
        </p:spPr>
      </p:sp>
      <p:sp>
        <p:nvSpPr>
          <p:cNvPr id="19" name="Shape 17"/>
          <p:cNvSpPr/>
          <p:nvPr/>
        </p:nvSpPr>
        <p:spPr>
          <a:xfrm>
            <a:off x="6324448" y="1965960"/>
            <a:ext cx="5364328" cy="201168"/>
          </a:xfrm>
          <a:prstGeom prst="rect">
            <a:avLst/>
          </a:prstGeom>
          <a:solidFill>
            <a:srgbClr val="48587A"/>
          </a:solidFill>
          <a:ln/>
        </p:spPr>
      </p:sp>
      <p:sp>
        <p:nvSpPr>
          <p:cNvPr id="20" name="Text 18"/>
          <p:cNvSpPr/>
          <p:nvPr/>
        </p:nvSpPr>
        <p:spPr>
          <a:xfrm>
            <a:off x="6461608"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Fine-tuning (not available today)</a:t>
            </a:r>
            <a:endParaRPr lang="en-US" sz="1450" dirty="0"/>
          </a:p>
        </p:txBody>
      </p:sp>
      <p:sp>
        <p:nvSpPr>
          <p:cNvPr id="21" name="Text 19"/>
          <p:cNvSpPr/>
          <p:nvPr/>
        </p:nvSpPr>
        <p:spPr>
          <a:xfrm>
            <a:off x="6525616" y="2313432"/>
            <a:ext cx="4961992" cy="246888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Behavior / style that should be consistent</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Needs training data + infrastructure</a:t>
            </a:r>
            <a:endParaRPr lang="en-US" sz="1450" dirty="0"/>
          </a:p>
        </p:txBody>
      </p:sp>
      <p:sp>
        <p:nvSpPr>
          <p:cNvPr id="22" name="Text 20"/>
          <p:cNvSpPr/>
          <p:nvPr/>
        </p:nvSpPr>
        <p:spPr>
          <a:xfrm>
            <a:off x="502920" y="5440680"/>
            <a:ext cx="11185855"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In practice, almost everything you'll actually need this year is a RAG question.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I7</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 Simple Decision Guide</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Three questions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11185855" cy="938784"/>
          </a:xfrm>
          <a:prstGeom prst="roundRect">
            <a:avLst>
              <a:gd name="adj" fmla="val 8766"/>
            </a:avLst>
          </a:prstGeom>
          <a:solidFill>
            <a:srgbClr val="48587A"/>
          </a:solidFill>
          <a:ln/>
          <a:effectLst>
            <a:outerShdw sx="100000" sy="100000" kx="0" ky="0" algn="bl" rotWithShape="0" blurRad="76200" dist="25400" dir="5400000">
              <a:srgbClr val="1E2761">
                <a:alpha val="16000"/>
              </a:srgbClr>
            </a:outerShdw>
          </a:effectLst>
        </p:spPr>
      </p:sp>
      <p:sp>
        <p:nvSpPr>
          <p:cNvPr id="13" name="Text 11"/>
          <p:cNvSpPr/>
          <p:nvPr/>
        </p:nvSpPr>
        <p:spPr>
          <a:xfrm>
            <a:off x="685800" y="1709928"/>
            <a:ext cx="10820095" cy="93878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Info changes often?</a:t>
            </a:r>
            <a:endParaRPr lang="en-US" sz="1250" dirty="0"/>
          </a:p>
        </p:txBody>
      </p:sp>
      <p:sp>
        <p:nvSpPr>
          <p:cNvPr id="14" name="Shape 12"/>
          <p:cNvSpPr/>
          <p:nvPr/>
        </p:nvSpPr>
        <p:spPr>
          <a:xfrm>
            <a:off x="1285930" y="2776728"/>
            <a:ext cx="9619835" cy="938784"/>
          </a:xfrm>
          <a:prstGeom prst="roundRect">
            <a:avLst>
              <a:gd name="adj" fmla="val 8766"/>
            </a:avLst>
          </a:prstGeom>
          <a:solidFill>
            <a:srgbClr val="5D6E96"/>
          </a:solidFill>
          <a:ln/>
          <a:effectLst>
            <a:outerShdw sx="100000" sy="100000" kx="0" ky="0" algn="bl" rotWithShape="0" blurRad="76200" dist="25400" dir="5400000">
              <a:srgbClr val="1E2761">
                <a:alpha val="16000"/>
              </a:srgbClr>
            </a:outerShdw>
          </a:effectLst>
        </p:spPr>
      </p:sp>
      <p:sp>
        <p:nvSpPr>
          <p:cNvPr id="15" name="Text 13"/>
          <p:cNvSpPr/>
          <p:nvPr/>
        </p:nvSpPr>
        <p:spPr>
          <a:xfrm>
            <a:off x="1468810" y="2776728"/>
            <a:ext cx="9254075" cy="93878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About tone / response style?</a:t>
            </a:r>
            <a:endParaRPr lang="en-US" sz="1250" dirty="0"/>
          </a:p>
        </p:txBody>
      </p:sp>
      <p:sp>
        <p:nvSpPr>
          <p:cNvPr id="16" name="Shape 14"/>
          <p:cNvSpPr/>
          <p:nvPr/>
        </p:nvSpPr>
        <p:spPr>
          <a:xfrm>
            <a:off x="2068940" y="3843528"/>
            <a:ext cx="8053816" cy="938784"/>
          </a:xfrm>
          <a:prstGeom prst="roundRect">
            <a:avLst>
              <a:gd name="adj" fmla="val 8766"/>
            </a:avLst>
          </a:prstGeom>
          <a:solidFill>
            <a:srgbClr val="48587A"/>
          </a:solidFill>
          <a:ln/>
          <a:effectLst>
            <a:outerShdw sx="100000" sy="100000" kx="0" ky="0" algn="bl" rotWithShape="0" blurRad="76200" dist="25400" dir="5400000">
              <a:srgbClr val="1E2761">
                <a:alpha val="16000"/>
              </a:srgbClr>
            </a:outerShdw>
          </a:effectLst>
        </p:spPr>
      </p:sp>
      <p:sp>
        <p:nvSpPr>
          <p:cNvPr id="17" name="Text 15"/>
          <p:cNvSpPr/>
          <p:nvPr/>
        </p:nvSpPr>
        <p:spPr>
          <a:xfrm>
            <a:off x="2251820" y="3843528"/>
            <a:ext cx="7688056" cy="93878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Need permanently different behavior?</a:t>
            </a:r>
            <a:endParaRPr lang="en-US" sz="1250" dirty="0"/>
          </a:p>
        </p:txBody>
      </p:sp>
      <p:sp>
        <p:nvSpPr>
          <p:cNvPr id="18" name="Shape 16"/>
          <p:cNvSpPr/>
          <p:nvPr/>
        </p:nvSpPr>
        <p:spPr>
          <a:xfrm>
            <a:off x="3299384" y="5001768"/>
            <a:ext cx="5592928" cy="685800"/>
          </a:xfrm>
          <a:prstGeom prst="roundRect">
            <a:avLst>
              <a:gd name="adj" fmla="val 12000"/>
            </a:avLst>
          </a:prstGeom>
          <a:solidFill>
            <a:srgbClr val="E8A33D"/>
          </a:solidFill>
          <a:ln/>
          <a:effectLst>
            <a:outerShdw sx="100000" sy="100000" kx="0" ky="0" algn="bl" rotWithShape="0" blurRad="76200" dist="25400" dir="5400000">
              <a:srgbClr val="1E2761">
                <a:alpha val="16000"/>
              </a:srgbClr>
            </a:outerShdw>
          </a:effectLst>
        </p:spPr>
      </p:sp>
      <p:sp>
        <p:nvSpPr>
          <p:cNvPr id="19" name="Text 17"/>
          <p:cNvSpPr/>
          <p:nvPr/>
        </p:nvSpPr>
        <p:spPr>
          <a:xfrm>
            <a:off x="3436544" y="5001768"/>
            <a:ext cx="5318608" cy="685800"/>
          </a:xfrm>
          <a:prstGeom prst="rect">
            <a:avLst/>
          </a:prstGeom>
          <a:noFill/>
          <a:ln/>
        </p:spPr>
        <p:txBody>
          <a:bodyPr wrap="square" lIns="0" tIns="0" rIns="0" bIns="0" rtlCol="0" anchor="ctr">
            <a:normAutofit/>
          </a:bodyPr>
          <a:lstStyle/>
          <a:p>
            <a:pPr algn="ctr" indent="0" marL="0">
              <a:buNone/>
            </a:pPr>
            <a:r>
              <a:rPr lang="en-US" sz="1350" b="1" dirty="0">
                <a:solidFill>
                  <a:srgbClr val="141B45"/>
                </a:solidFill>
                <a:latin typeface="Calibri" pitchFamily="34" charset="0"/>
                <a:ea typeface="Calibri" pitchFamily="34" charset="-122"/>
                <a:cs typeface="Calibri" pitchFamily="34" charset="-120"/>
              </a:rPr>
              <a:t>RAG  ·  Steering / system prompt  ·  Fine-tuning (not available yet)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I7</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Where RAG Actually Lives for You</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AI Lens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2830754" y="1984248"/>
            <a:ext cx="777240" cy="777240"/>
          </a:xfrm>
          <a:prstGeom prst="ellipse">
            <a:avLst/>
          </a:prstGeom>
          <a:solidFill>
            <a:srgbClr val="48587A"/>
          </a:solidFill>
          <a:ln/>
        </p:spPr>
      </p:sp>
      <p:pic>
        <p:nvPicPr>
          <p:cNvPr id="13" name="Image 0" descr="/private/tmp/claude-501/-Users-sai-Work-Office-Teaching/ee8695eb-a8ef-409d-a9ba-c09e44dd9ced/scratchpad/pptx-build/assets/icons/FaComments.png">    </p:cNvPr>
          <p:cNvPicPr>
            <a:picLocks noChangeAspect="1"/>
          </p:cNvPicPr>
          <p:nvPr/>
        </p:nvPicPr>
        <p:blipFill>
          <a:blip r:embed="rId1"/>
          <a:stretch>
            <a:fillRect/>
          </a:stretch>
        </p:blipFill>
        <p:spPr>
          <a:xfrm>
            <a:off x="3017291" y="2170786"/>
            <a:ext cx="404165" cy="404165"/>
          </a:xfrm>
          <a:prstGeom prst="rect">
            <a:avLst/>
          </a:prstGeom>
        </p:spPr>
      </p:pic>
      <p:sp>
        <p:nvSpPr>
          <p:cNvPr id="14" name="Text 11"/>
          <p:cNvSpPr/>
          <p:nvPr/>
        </p:nvSpPr>
        <p:spPr>
          <a:xfrm>
            <a:off x="502920" y="2889504"/>
            <a:ext cx="543290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AI Studio</a:t>
            </a:r>
            <a:endParaRPr lang="en-US" sz="1250" dirty="0"/>
          </a:p>
        </p:txBody>
      </p:sp>
      <p:sp>
        <p:nvSpPr>
          <p:cNvPr id="15" name="Text 12"/>
          <p:cNvSpPr/>
          <p:nvPr/>
        </p:nvSpPr>
        <p:spPr>
          <a:xfrm>
            <a:off x="502920" y="3273552"/>
            <a:ext cx="543290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Where you ask and consume</a:t>
            </a:r>
            <a:endParaRPr lang="en-US" sz="1050" dirty="0"/>
          </a:p>
        </p:txBody>
      </p:sp>
      <p:sp>
        <p:nvSpPr>
          <p:cNvPr id="16" name="Shape 13"/>
          <p:cNvSpPr/>
          <p:nvPr/>
        </p:nvSpPr>
        <p:spPr>
          <a:xfrm>
            <a:off x="8583701" y="1984248"/>
            <a:ext cx="777240" cy="777240"/>
          </a:xfrm>
          <a:prstGeom prst="ellipse">
            <a:avLst/>
          </a:prstGeom>
          <a:solidFill>
            <a:srgbClr val="E8A33D"/>
          </a:solidFill>
          <a:ln/>
        </p:spPr>
      </p:sp>
      <p:pic>
        <p:nvPicPr>
          <p:cNvPr id="17" name="Image 1" descr="/private/tmp/claude-501/-Users-sai-Work-Office-Teaching/ee8695eb-a8ef-409d-a9ba-c09e44dd9ced/scratchpad/pptx-build/assets/icons-dark/FaTools.png">    </p:cNvPr>
          <p:cNvPicPr>
            <a:picLocks noChangeAspect="1"/>
          </p:cNvPicPr>
          <p:nvPr/>
        </p:nvPicPr>
        <p:blipFill>
          <a:blip r:embed="rId2"/>
          <a:stretch>
            <a:fillRect/>
          </a:stretch>
        </p:blipFill>
        <p:spPr>
          <a:xfrm>
            <a:off x="8770239" y="2170786"/>
            <a:ext cx="404165" cy="404165"/>
          </a:xfrm>
          <a:prstGeom prst="rect">
            <a:avLst/>
          </a:prstGeom>
        </p:spPr>
      </p:pic>
      <p:sp>
        <p:nvSpPr>
          <p:cNvPr id="18" name="Text 14"/>
          <p:cNvSpPr/>
          <p:nvPr/>
        </p:nvSpPr>
        <p:spPr>
          <a:xfrm>
            <a:off x="6255868" y="2889504"/>
            <a:ext cx="543290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AI Lens</a:t>
            </a:r>
            <a:endParaRPr lang="en-US" sz="1250" dirty="0"/>
          </a:p>
        </p:txBody>
      </p:sp>
      <p:sp>
        <p:nvSpPr>
          <p:cNvPr id="19" name="Text 15"/>
          <p:cNvSpPr/>
          <p:nvPr/>
        </p:nvSpPr>
        <p:spPr>
          <a:xfrm>
            <a:off x="6255868" y="3273552"/>
            <a:ext cx="543290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Where agents get built: attach a knowledge base, configure retrieval</a:t>
            </a:r>
            <a:endParaRPr lang="en-US" sz="1050" dirty="0"/>
          </a:p>
        </p:txBody>
      </p:sp>
      <p:sp>
        <p:nvSpPr>
          <p:cNvPr id="20" name="Text 16"/>
          <p:cNvSpPr/>
          <p:nvPr/>
        </p:nvSpPr>
        <p:spPr>
          <a:xfrm>
            <a:off x="502920" y="5440680"/>
            <a:ext cx="11185855" cy="457200"/>
          </a:xfrm>
          <a:prstGeom prst="rect">
            <a:avLst/>
          </a:prstGeom>
          <a:noFill/>
          <a:ln/>
        </p:spPr>
        <p:txBody>
          <a:bodyPr wrap="square" lIns="0" tIns="0" rIns="0" bIns="0" rtlCol="0" anchor="ctr"/>
          <a:lstStyle/>
          <a:p>
            <a:pPr algn="ctr" indent="0" marL="0">
              <a:buNone/>
            </a:pPr>
            <a:r>
              <a:rPr lang="en-US" sz="1350" i="1" dirty="0">
                <a:solidFill>
                  <a:srgbClr val="6B7280"/>
                </a:solidFill>
                <a:latin typeface="Calibri" pitchFamily="34" charset="0"/>
                <a:ea typeface="Calibri" pitchFamily="34" charset="-122"/>
                <a:cs typeface="Calibri" pitchFamily="34" charset="-120"/>
              </a:rPr>
              <a:t>Good mental shortcut: AI Studio = ask. AI Lens = build. RAG happens in AI Lens.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I7</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What's Involved in a RAG Setup</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Knowledge base · Retrieval · Agent</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916125" y="2990088"/>
            <a:ext cx="658368" cy="658368"/>
          </a:xfrm>
          <a:prstGeom prst="ellipse">
            <a:avLst/>
          </a:prstGeom>
          <a:solidFill>
            <a:srgbClr val="1E2761"/>
          </a:solidFill>
          <a:ln/>
        </p:spPr>
      </p:sp>
      <p:pic>
        <p:nvPicPr>
          <p:cNvPr id="13" name="Image 0" descr="/private/tmp/claude-501/-Users-sai-Work-Office-Teaching/ee8695eb-a8ef-409d-a9ba-c09e44dd9ced/scratchpad/pptx-build/assets/icons/FaFolderOpen.png">    </p:cNvPr>
          <p:cNvPicPr>
            <a:picLocks noChangeAspect="1"/>
          </p:cNvPicPr>
          <p:nvPr/>
        </p:nvPicPr>
        <p:blipFill>
          <a:blip r:embed="rId1"/>
          <a:stretch>
            <a:fillRect/>
          </a:stretch>
        </p:blipFill>
        <p:spPr>
          <a:xfrm>
            <a:off x="2074134" y="3148096"/>
            <a:ext cx="342351" cy="342351"/>
          </a:xfrm>
          <a:prstGeom prst="rect">
            <a:avLst/>
          </a:prstGeom>
        </p:spPr>
      </p:pic>
      <p:sp>
        <p:nvSpPr>
          <p:cNvPr id="14" name="Text 11"/>
          <p:cNvSpPr/>
          <p:nvPr/>
        </p:nvSpPr>
        <p:spPr>
          <a:xfrm>
            <a:off x="502920" y="3776472"/>
            <a:ext cx="3484778"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Knowledge base</a:t>
            </a:r>
            <a:endParaRPr lang="en-US" sz="1250" dirty="0"/>
          </a:p>
        </p:txBody>
      </p:sp>
      <p:sp>
        <p:nvSpPr>
          <p:cNvPr id="15" name="Text 12"/>
          <p:cNvSpPr/>
          <p:nvPr/>
        </p:nvSpPr>
        <p:spPr>
          <a:xfrm>
            <a:off x="502920" y="4215384"/>
            <a:ext cx="3484778" cy="69494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Your documents / data</a:t>
            </a:r>
            <a:endParaRPr lang="en-US" sz="1000" dirty="0"/>
          </a:p>
        </p:txBody>
      </p:sp>
      <p:sp>
        <p:nvSpPr>
          <p:cNvPr id="16" name="Shape 13"/>
          <p:cNvSpPr/>
          <p:nvPr/>
        </p:nvSpPr>
        <p:spPr>
          <a:xfrm>
            <a:off x="4024274" y="3246120"/>
            <a:ext cx="292608" cy="146304"/>
          </a:xfrm>
          <a:prstGeom prst="rightArrow">
            <a:avLst/>
          </a:prstGeom>
          <a:solidFill>
            <a:srgbClr val="48587A"/>
          </a:solidFill>
          <a:ln/>
        </p:spPr>
      </p:sp>
      <p:sp>
        <p:nvSpPr>
          <p:cNvPr id="17" name="Shape 14"/>
          <p:cNvSpPr/>
          <p:nvPr/>
        </p:nvSpPr>
        <p:spPr>
          <a:xfrm>
            <a:off x="5766664" y="2990088"/>
            <a:ext cx="658368" cy="658368"/>
          </a:xfrm>
          <a:prstGeom prst="ellipse">
            <a:avLst/>
          </a:prstGeom>
          <a:solidFill>
            <a:srgbClr val="1E2761"/>
          </a:solidFill>
          <a:ln/>
        </p:spPr>
      </p:sp>
      <p:pic>
        <p:nvPicPr>
          <p:cNvPr id="18" name="Image 1" descr="/private/tmp/claude-501/-Users-sai-Work-Office-Teaching/ee8695eb-a8ef-409d-a9ba-c09e44dd9ced/scratchpad/pptx-build/assets/icons/FaCogs.png">    </p:cNvPr>
          <p:cNvPicPr>
            <a:picLocks noChangeAspect="1"/>
          </p:cNvPicPr>
          <p:nvPr/>
        </p:nvPicPr>
        <p:blipFill>
          <a:blip r:embed="rId2"/>
          <a:stretch>
            <a:fillRect/>
          </a:stretch>
        </p:blipFill>
        <p:spPr>
          <a:xfrm>
            <a:off x="5924672" y="3148096"/>
            <a:ext cx="342351" cy="342351"/>
          </a:xfrm>
          <a:prstGeom prst="rect">
            <a:avLst/>
          </a:prstGeom>
        </p:spPr>
      </p:pic>
      <p:sp>
        <p:nvSpPr>
          <p:cNvPr id="19" name="Text 15"/>
          <p:cNvSpPr/>
          <p:nvPr/>
        </p:nvSpPr>
        <p:spPr>
          <a:xfrm>
            <a:off x="4353458" y="3776472"/>
            <a:ext cx="3484778"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Indexing</a:t>
            </a:r>
            <a:endParaRPr lang="en-US" sz="1250" dirty="0"/>
          </a:p>
        </p:txBody>
      </p:sp>
      <p:sp>
        <p:nvSpPr>
          <p:cNvPr id="20" name="Text 16"/>
          <p:cNvSpPr/>
          <p:nvPr/>
        </p:nvSpPr>
        <p:spPr>
          <a:xfrm>
            <a:off x="4353458" y="4215384"/>
            <a:ext cx="3484778" cy="69494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Handled by the platform</a:t>
            </a:r>
            <a:endParaRPr lang="en-US" sz="1000" dirty="0"/>
          </a:p>
        </p:txBody>
      </p:sp>
      <p:sp>
        <p:nvSpPr>
          <p:cNvPr id="21" name="Shape 17"/>
          <p:cNvSpPr/>
          <p:nvPr/>
        </p:nvSpPr>
        <p:spPr>
          <a:xfrm>
            <a:off x="7874813" y="3246120"/>
            <a:ext cx="292608" cy="146304"/>
          </a:xfrm>
          <a:prstGeom prst="rightArrow">
            <a:avLst/>
          </a:prstGeom>
          <a:solidFill>
            <a:srgbClr val="48587A"/>
          </a:solidFill>
          <a:ln/>
        </p:spPr>
      </p:sp>
      <p:sp>
        <p:nvSpPr>
          <p:cNvPr id="22" name="Shape 18"/>
          <p:cNvSpPr/>
          <p:nvPr/>
        </p:nvSpPr>
        <p:spPr>
          <a:xfrm>
            <a:off x="9617202" y="2990088"/>
            <a:ext cx="658368" cy="658368"/>
          </a:xfrm>
          <a:prstGeom prst="ellipse">
            <a:avLst/>
          </a:prstGeom>
          <a:solidFill>
            <a:srgbClr val="E8A33D"/>
          </a:solidFill>
          <a:ln/>
        </p:spPr>
      </p:sp>
      <p:pic>
        <p:nvPicPr>
          <p:cNvPr id="23" name="Image 2" descr="/private/tmp/claude-501/-Users-sai-Work-Office-Teaching/ee8695eb-a8ef-409d-a9ba-c09e44dd9ced/scratchpad/pptx-build/assets/icons-dark/FaRobot.png">    </p:cNvPr>
          <p:cNvPicPr>
            <a:picLocks noChangeAspect="1"/>
          </p:cNvPicPr>
          <p:nvPr/>
        </p:nvPicPr>
        <p:blipFill>
          <a:blip r:embed="rId3"/>
          <a:stretch>
            <a:fillRect/>
          </a:stretch>
        </p:blipFill>
        <p:spPr>
          <a:xfrm>
            <a:off x="9775210" y="3148096"/>
            <a:ext cx="342351" cy="342351"/>
          </a:xfrm>
          <a:prstGeom prst="rect">
            <a:avLst/>
          </a:prstGeom>
        </p:spPr>
      </p:pic>
      <p:sp>
        <p:nvSpPr>
          <p:cNvPr id="24" name="Text 19"/>
          <p:cNvSpPr/>
          <p:nvPr/>
        </p:nvSpPr>
        <p:spPr>
          <a:xfrm>
            <a:off x="8203997" y="3776472"/>
            <a:ext cx="3484778" cy="502920"/>
          </a:xfrm>
          <a:prstGeom prst="rect">
            <a:avLst/>
          </a:prstGeom>
          <a:noFill/>
          <a:ln/>
        </p:spPr>
        <p:txBody>
          <a:bodyPr wrap="square" lIns="0" tIns="0" rIns="0" bIns="0" rtlCol="0" anchor="t">
            <a:normAutofit/>
          </a:bodyPr>
          <a:lstStyle/>
          <a:p>
            <a:pPr algn="ctr" indent="0" marL="0">
              <a:buNone/>
            </a:pPr>
            <a:r>
              <a:rPr lang="en-US" sz="1350" b="1" dirty="0">
                <a:solidFill>
                  <a:srgbClr val="A6660E"/>
                </a:solidFill>
                <a:latin typeface="Calibri" pitchFamily="34" charset="0"/>
                <a:ea typeface="Calibri" pitchFamily="34" charset="-122"/>
                <a:cs typeface="Calibri" pitchFamily="34" charset="-120"/>
              </a:rPr>
              <a:t>Retrieval + agent</a:t>
            </a:r>
            <a:endParaRPr lang="en-US" sz="1350" dirty="0"/>
          </a:p>
        </p:txBody>
      </p:sp>
      <p:sp>
        <p:nvSpPr>
          <p:cNvPr id="25" name="Text 20"/>
          <p:cNvSpPr/>
          <p:nvPr/>
        </p:nvSpPr>
        <p:spPr>
          <a:xfrm>
            <a:off x="8203997" y="4215384"/>
            <a:ext cx="3484778" cy="69494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Pulls the right chunks, answers using them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966960" y="-1371600"/>
            <a:ext cx="3840480" cy="3840480"/>
          </a:xfrm>
          <a:prstGeom prst="ellipse">
            <a:avLst/>
          </a:prstGeom>
          <a:solidFill>
            <a:srgbClr val="1E2761"/>
          </a:solidFill>
          <a:ln/>
        </p:spPr>
      </p:sp>
      <p:sp>
        <p:nvSpPr>
          <p:cNvPr id="3" name="Text 1"/>
          <p:cNvSpPr/>
          <p:nvPr/>
        </p:nvSpPr>
        <p:spPr>
          <a:xfrm>
            <a:off x="502920" y="502920"/>
            <a:ext cx="91440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502920" y="841248"/>
            <a:ext cx="11185855" cy="65836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AI Lens: RAG Agent With a Finance Knowledge Base</a:t>
            </a:r>
            <a:endParaRPr lang="en-US" sz="2700" dirty="0"/>
          </a:p>
        </p:txBody>
      </p:sp>
      <p:sp>
        <p:nvSpPr>
          <p:cNvPr id="5" name="Text 3"/>
          <p:cNvSpPr/>
          <p:nvPr/>
        </p:nvSpPr>
        <p:spPr>
          <a:xfrm>
            <a:off x="502920" y="1444752"/>
            <a:ext cx="11185855" cy="365760"/>
          </a:xfrm>
          <a:prstGeom prst="rect">
            <a:avLst/>
          </a:prstGeom>
          <a:noFill/>
          <a:ln/>
        </p:spPr>
        <p:txBody>
          <a:bodyPr wrap="square" lIns="0" tIns="0" rIns="0" bIns="0"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~10–15 min · a pre-attached knowledge base is a safer fallback than attaching live</a:t>
            </a:r>
            <a:endParaRPr lang="en-US" sz="1350" dirty="0"/>
          </a:p>
        </p:txBody>
      </p:sp>
      <p:sp>
        <p:nvSpPr>
          <p:cNvPr id="6" name="Shape 4"/>
          <p:cNvSpPr/>
          <p:nvPr/>
        </p:nvSpPr>
        <p:spPr>
          <a:xfrm>
            <a:off x="502920" y="2020824"/>
            <a:ext cx="457200" cy="457200"/>
          </a:xfrm>
          <a:prstGeom prst="ellipse">
            <a:avLst/>
          </a:prstGeom>
          <a:solidFill>
            <a:srgbClr val="E8A33D"/>
          </a:solidFill>
          <a:ln/>
        </p:spPr>
      </p:sp>
      <p:sp>
        <p:nvSpPr>
          <p:cNvPr id="7" name="Text 5"/>
          <p:cNvSpPr/>
          <p:nvPr/>
        </p:nvSpPr>
        <p:spPr>
          <a:xfrm>
            <a:off x="502920" y="202082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161288" y="196596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Show the agent and its attached knowledge base</a:t>
            </a:r>
            <a:endParaRPr lang="en-US" sz="1500" dirty="0"/>
          </a:p>
        </p:txBody>
      </p:sp>
      <p:sp>
        <p:nvSpPr>
          <p:cNvPr id="9" name="Text 7"/>
          <p:cNvSpPr/>
          <p:nvPr/>
        </p:nvSpPr>
        <p:spPr>
          <a:xfrm>
            <a:off x="1161288" y="249174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Point out the knowledge base and retrieval settings if visible.</a:t>
            </a:r>
            <a:endParaRPr lang="en-US" sz="1150" dirty="0"/>
          </a:p>
        </p:txBody>
      </p:sp>
      <p:sp>
        <p:nvSpPr>
          <p:cNvPr id="10" name="Shape 8"/>
          <p:cNvSpPr/>
          <p:nvPr/>
        </p:nvSpPr>
        <p:spPr>
          <a:xfrm>
            <a:off x="502920" y="3072384"/>
            <a:ext cx="457200" cy="457200"/>
          </a:xfrm>
          <a:prstGeom prst="ellipse">
            <a:avLst/>
          </a:prstGeom>
          <a:solidFill>
            <a:srgbClr val="E8A33D"/>
          </a:solidFill>
          <a:ln/>
        </p:spPr>
      </p:sp>
      <p:sp>
        <p:nvSpPr>
          <p:cNvPr id="11" name="Text 9"/>
          <p:cNvSpPr/>
          <p:nvPr/>
        </p:nvSpPr>
        <p:spPr>
          <a:xfrm>
            <a:off x="502920" y="307238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161288" y="301752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Ask a question the knowledge base can answer</a:t>
            </a:r>
            <a:endParaRPr lang="en-US" sz="1500" dirty="0"/>
          </a:p>
        </p:txBody>
      </p:sp>
      <p:sp>
        <p:nvSpPr>
          <p:cNvPr id="13" name="Text 11"/>
          <p:cNvSpPr/>
          <p:nvPr/>
        </p:nvSpPr>
        <p:spPr>
          <a:xfrm>
            <a:off x="1161288" y="354330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It's not generating from general knowledge: it's pulling from the attached documents.</a:t>
            </a:r>
            <a:endParaRPr lang="en-US" sz="1150" dirty="0"/>
          </a:p>
        </p:txBody>
      </p:sp>
      <p:sp>
        <p:nvSpPr>
          <p:cNvPr id="14" name="Shape 12"/>
          <p:cNvSpPr/>
          <p:nvPr/>
        </p:nvSpPr>
        <p:spPr>
          <a:xfrm>
            <a:off x="502920" y="4123944"/>
            <a:ext cx="457200" cy="457200"/>
          </a:xfrm>
          <a:prstGeom prst="ellipse">
            <a:avLst/>
          </a:prstGeom>
          <a:solidFill>
            <a:srgbClr val="E8A33D"/>
          </a:solidFill>
          <a:ln/>
        </p:spPr>
      </p:sp>
      <p:sp>
        <p:nvSpPr>
          <p:cNvPr id="15" name="Text 13"/>
          <p:cNvSpPr/>
          <p:nvPr/>
        </p:nvSpPr>
        <p:spPr>
          <a:xfrm>
            <a:off x="502920" y="412394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161288" y="406908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Point to the source</a:t>
            </a:r>
            <a:endParaRPr lang="en-US" sz="1500" dirty="0"/>
          </a:p>
        </p:txBody>
      </p:sp>
      <p:sp>
        <p:nvSpPr>
          <p:cNvPr id="17" name="Text 15"/>
          <p:cNvSpPr/>
          <p:nvPr/>
        </p:nvSpPr>
        <p:spPr>
          <a:xfrm>
            <a:off x="1161288" y="459486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The transparency RAG gives you: trace the answer back. Confirm AI Lens actually surfaces this before promising it live.</a:t>
            </a:r>
            <a:endParaRPr lang="en-US" sz="1150" dirty="0"/>
          </a:p>
        </p:txBody>
      </p:sp>
      <p:sp>
        <p:nvSpPr>
          <p:cNvPr id="18" name="Shape 16"/>
          <p:cNvSpPr/>
          <p:nvPr/>
        </p:nvSpPr>
        <p:spPr>
          <a:xfrm>
            <a:off x="502920" y="5175504"/>
            <a:ext cx="457200" cy="457200"/>
          </a:xfrm>
          <a:prstGeom prst="ellipse">
            <a:avLst/>
          </a:prstGeom>
          <a:solidFill>
            <a:srgbClr val="E8A33D"/>
          </a:solidFill>
          <a:ln/>
        </p:spPr>
      </p:sp>
      <p:sp>
        <p:nvSpPr>
          <p:cNvPr id="19" name="Text 17"/>
          <p:cNvSpPr/>
          <p:nvPr/>
        </p:nvSpPr>
        <p:spPr>
          <a:xfrm>
            <a:off x="502920" y="517550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4</a:t>
            </a:r>
            <a:endParaRPr lang="en-US" sz="1600" dirty="0"/>
          </a:p>
        </p:txBody>
      </p:sp>
      <p:sp>
        <p:nvSpPr>
          <p:cNvPr id="20" name="Text 18"/>
          <p:cNvSpPr/>
          <p:nvPr/>
        </p:nvSpPr>
        <p:spPr>
          <a:xfrm>
            <a:off x="1161288" y="512064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(Optional) Contrast without the knowledge base</a:t>
            </a:r>
            <a:endParaRPr lang="en-US" sz="1500" dirty="0"/>
          </a:p>
        </p:txBody>
      </p:sp>
      <p:sp>
        <p:nvSpPr>
          <p:cNvPr id="21" name="Text 19"/>
          <p:cNvSpPr/>
          <p:nvPr/>
        </p:nvSpPr>
        <p:spPr>
          <a:xfrm>
            <a:off x="1161288" y="564642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Same question, no knowledge base attached, only if reliably tested beforehand.</a:t>
            </a:r>
            <a:endParaRPr lang="en-US" sz="1150" dirty="0"/>
          </a:p>
        </p:txBody>
      </p:sp>
      <p:sp>
        <p:nvSpPr>
          <p:cNvPr id="22" name="Text 20"/>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When Good Isn't Good Enough</a:t>
            </a:r>
            <a:endParaRPr lang="en-US" sz="900" dirty="0"/>
          </a:p>
        </p:txBody>
      </p:sp>
      <p:sp>
        <p:nvSpPr>
          <p:cNvPr id="23"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11</a:t>
            </a:r>
            <a:endParaRPr lang="en-US" sz="900" dirty="0"/>
          </a:p>
        </p:txBody>
      </p:sp>
      <p:sp>
        <p:nvSpPr>
          <p:cNvPr id="24" name="Shape 22"/>
          <p:cNvSpPr/>
          <p:nvPr/>
        </p:nvSpPr>
        <p:spPr>
          <a:xfrm>
            <a:off x="11400739" y="201168"/>
            <a:ext cx="192024" cy="192024"/>
          </a:xfrm>
          <a:prstGeom prst="rect">
            <a:avLst/>
          </a:prstGeom>
          <a:solidFill>
            <a:srgbClr val="FFFFFF"/>
          </a:solidFill>
          <a:ln/>
        </p:spPr>
      </p:sp>
      <p:sp>
        <p:nvSpPr>
          <p:cNvPr id="25" name="Shape 23"/>
          <p:cNvSpPr/>
          <p:nvPr/>
        </p:nvSpPr>
        <p:spPr>
          <a:xfrm rot="5400000">
            <a:off x="11544757" y="249174"/>
            <a:ext cx="192024" cy="96012"/>
          </a:xfrm>
          <a:prstGeom prst="triangle">
            <a:avLst/>
          </a:prstGeom>
          <a:solidFill>
            <a:srgbClr val="E52713"/>
          </a:solidFill>
          <a:ln/>
        </p:spPr>
      </p:sp>
      <p:sp>
        <p:nvSpPr>
          <p:cNvPr id="26" name="Shape 24"/>
          <p:cNvSpPr/>
          <p:nvPr/>
        </p:nvSpPr>
        <p:spPr>
          <a:xfrm rot="16200000">
            <a:off x="11256721" y="249174"/>
            <a:ext cx="192024" cy="96012"/>
          </a:xfrm>
          <a:prstGeom prst="triangle">
            <a:avLst/>
          </a:prstGeom>
          <a:solidFill>
            <a:srgbClr val="E52713"/>
          </a:solidFill>
          <a:ln/>
        </p:spPr>
      </p:sp>
      <p:sp>
        <p:nvSpPr>
          <p:cNvPr id="27" name="Shape 25"/>
          <p:cNvSpPr/>
          <p:nvPr/>
        </p:nvSpPr>
        <p:spPr>
          <a:xfrm rot="10800000">
            <a:off x="11400739" y="201168"/>
            <a:ext cx="192024" cy="96012"/>
          </a:xfrm>
          <a:prstGeom prst="triangle">
            <a:avLst/>
          </a:prstGeom>
          <a:solidFill>
            <a:srgbClr val="E52713"/>
          </a:solidFill>
          <a:ln/>
        </p:spPr>
      </p:sp>
      <p:sp>
        <p:nvSpPr>
          <p:cNvPr id="28" name="Shape 26"/>
          <p:cNvSpPr/>
          <p:nvPr/>
        </p:nvSpPr>
        <p:spPr>
          <a:xfrm>
            <a:off x="11400739" y="297180"/>
            <a:ext cx="192024" cy="96012"/>
          </a:xfrm>
          <a:prstGeom prst="triangle">
            <a:avLst/>
          </a:prstGeom>
          <a:solidFill>
            <a:srgbClr val="E52713"/>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Recap + What's Next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One line on today, one line ahead</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392517" y="1709928"/>
            <a:ext cx="777240" cy="777240"/>
          </a:xfrm>
          <a:prstGeom prst="ellipse">
            <a:avLst/>
          </a:prstGeom>
          <a:solidFill>
            <a:srgbClr val="1E2761"/>
          </a:solidFill>
          <a:ln/>
        </p:spPr>
      </p:sp>
      <p:pic>
        <p:nvPicPr>
          <p:cNvPr id="13" name="Image 0" descr="/private/tmp/claude-501/-Users-sai-Work-Office-Teaching/ee8695eb-a8ef-409d-a9ba-c09e44dd9ced/scratchpad/pptx-build/assets/icons/FaListOl.png">    </p:cNvPr>
          <p:cNvPicPr>
            <a:picLocks noChangeAspect="1"/>
          </p:cNvPicPr>
          <p:nvPr/>
        </p:nvPicPr>
        <p:blipFill>
          <a:blip r:embed="rId1"/>
          <a:stretch>
            <a:fillRect/>
          </a:stretch>
        </p:blipFill>
        <p:spPr>
          <a:xfrm>
            <a:off x="1579055" y="1896466"/>
            <a:ext cx="404165" cy="404165"/>
          </a:xfrm>
          <a:prstGeom prst="rect">
            <a:avLst/>
          </a:prstGeom>
        </p:spPr>
      </p:pic>
      <p:sp>
        <p:nvSpPr>
          <p:cNvPr id="14" name="Text 11"/>
          <p:cNvSpPr/>
          <p:nvPr/>
        </p:nvSpPr>
        <p:spPr>
          <a:xfrm>
            <a:off x="502920"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The ladder</a:t>
            </a:r>
            <a:endParaRPr lang="en-US" sz="1250" dirty="0"/>
          </a:p>
        </p:txBody>
      </p:sp>
      <p:sp>
        <p:nvSpPr>
          <p:cNvPr id="15" name="Shape 12"/>
          <p:cNvSpPr/>
          <p:nvPr/>
        </p:nvSpPr>
        <p:spPr>
          <a:xfrm>
            <a:off x="4268991" y="1709928"/>
            <a:ext cx="777240" cy="777240"/>
          </a:xfrm>
          <a:prstGeom prst="ellipse">
            <a:avLst/>
          </a:prstGeom>
          <a:solidFill>
            <a:srgbClr val="1E2761"/>
          </a:solidFill>
          <a:ln/>
        </p:spPr>
      </p:sp>
      <p:pic>
        <p:nvPicPr>
          <p:cNvPr id="16" name="Image 1" descr="/private/tmp/claude-501/-Users-sai-Work-Office-Teaching/ee8695eb-a8ef-409d-a9ba-c09e44dd9ced/scratchpad/pptx-build/assets/icons/FaCheckCircle.png">    </p:cNvPr>
          <p:cNvPicPr>
            <a:picLocks noChangeAspect="1"/>
          </p:cNvPicPr>
          <p:nvPr/>
        </p:nvPicPr>
        <p:blipFill>
          <a:blip r:embed="rId2"/>
          <a:stretch>
            <a:fillRect/>
          </a:stretch>
        </p:blipFill>
        <p:spPr>
          <a:xfrm>
            <a:off x="4455528" y="1896466"/>
            <a:ext cx="404165" cy="404165"/>
          </a:xfrm>
          <a:prstGeom prst="rect">
            <a:avLst/>
          </a:prstGeom>
        </p:spPr>
      </p:pic>
      <p:sp>
        <p:nvSpPr>
          <p:cNvPr id="17" name="Text 13"/>
          <p:cNvSpPr/>
          <p:nvPr/>
        </p:nvSpPr>
        <p:spPr>
          <a:xfrm>
            <a:off x="3379394"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Usable today</a:t>
            </a:r>
            <a:endParaRPr lang="en-US" sz="1250" dirty="0"/>
          </a:p>
        </p:txBody>
      </p:sp>
      <p:sp>
        <p:nvSpPr>
          <p:cNvPr id="18" name="Shape 14"/>
          <p:cNvSpPr/>
          <p:nvPr/>
        </p:nvSpPr>
        <p:spPr>
          <a:xfrm>
            <a:off x="7145465" y="1709928"/>
            <a:ext cx="777240" cy="777240"/>
          </a:xfrm>
          <a:prstGeom prst="ellipse">
            <a:avLst/>
          </a:prstGeom>
          <a:solidFill>
            <a:srgbClr val="1E2761"/>
          </a:solidFill>
          <a:ln/>
        </p:spPr>
      </p:sp>
      <p:pic>
        <p:nvPicPr>
          <p:cNvPr id="19" name="Image 2" descr="/private/tmp/claude-501/-Users-sai-Work-Office-Teaching/ee8695eb-a8ef-409d-a9ba-c09e44dd9ced/scratchpad/pptx-build/assets/icons/FaDatabase.png">    </p:cNvPr>
          <p:cNvPicPr>
            <a:picLocks noChangeAspect="1"/>
          </p:cNvPicPr>
          <p:nvPr/>
        </p:nvPicPr>
        <p:blipFill>
          <a:blip r:embed="rId3"/>
          <a:stretch>
            <a:fillRect/>
          </a:stretch>
        </p:blipFill>
        <p:spPr>
          <a:xfrm>
            <a:off x="7332002" y="1896466"/>
            <a:ext cx="404165" cy="404165"/>
          </a:xfrm>
          <a:prstGeom prst="rect">
            <a:avLst/>
          </a:prstGeom>
        </p:spPr>
      </p:pic>
      <p:sp>
        <p:nvSpPr>
          <p:cNvPr id="20" name="Text 15"/>
          <p:cNvSpPr/>
          <p:nvPr/>
        </p:nvSpPr>
        <p:spPr>
          <a:xfrm>
            <a:off x="6255868"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RAG</a:t>
            </a:r>
            <a:endParaRPr lang="en-US" sz="1250" dirty="0"/>
          </a:p>
        </p:txBody>
      </p:sp>
      <p:sp>
        <p:nvSpPr>
          <p:cNvPr id="21" name="Shape 16"/>
          <p:cNvSpPr/>
          <p:nvPr/>
        </p:nvSpPr>
        <p:spPr>
          <a:xfrm>
            <a:off x="10021938" y="1709928"/>
            <a:ext cx="777240" cy="777240"/>
          </a:xfrm>
          <a:prstGeom prst="ellipse">
            <a:avLst/>
          </a:prstGeom>
          <a:solidFill>
            <a:srgbClr val="1E2761"/>
          </a:solidFill>
          <a:ln/>
        </p:spPr>
      </p:sp>
      <p:pic>
        <p:nvPicPr>
          <p:cNvPr id="22" name="Image 3" descr="/private/tmp/claude-501/-Users-sai-Work-Office-Teaching/ee8695eb-a8ef-409d-a9ba-c09e44dd9ced/scratchpad/pptx-build/assets/icons/FaTools.png">    </p:cNvPr>
          <p:cNvPicPr>
            <a:picLocks noChangeAspect="1"/>
          </p:cNvPicPr>
          <p:nvPr/>
        </p:nvPicPr>
        <p:blipFill>
          <a:blip r:embed="rId4"/>
          <a:stretch>
            <a:fillRect/>
          </a:stretch>
        </p:blipFill>
        <p:spPr>
          <a:xfrm>
            <a:off x="10208476" y="1896466"/>
            <a:ext cx="404165" cy="404165"/>
          </a:xfrm>
          <a:prstGeom prst="rect">
            <a:avLst/>
          </a:prstGeom>
        </p:spPr>
      </p:pic>
      <p:sp>
        <p:nvSpPr>
          <p:cNvPr id="23" name="Text 17"/>
          <p:cNvSpPr/>
          <p:nvPr/>
        </p:nvSpPr>
        <p:spPr>
          <a:xfrm>
            <a:off x="9132341"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AI Lens</a:t>
            </a:r>
            <a:endParaRPr lang="en-US" sz="1250" dirty="0"/>
          </a:p>
        </p:txBody>
      </p:sp>
      <p:sp>
        <p:nvSpPr>
          <p:cNvPr id="24" name="Shape 18"/>
          <p:cNvSpPr/>
          <p:nvPr/>
        </p:nvSpPr>
        <p:spPr>
          <a:xfrm>
            <a:off x="502920" y="3310128"/>
            <a:ext cx="11185855" cy="2606040"/>
          </a:xfrm>
          <a:prstGeom prst="roundRect">
            <a:avLst>
              <a:gd name="adj" fmla="val 3158"/>
            </a:avLst>
          </a:prstGeom>
          <a:solidFill>
            <a:srgbClr val="F4F6FB"/>
          </a:solidFill>
          <a:ln/>
          <a:effectLst>
            <a:outerShdw sx="100000" sy="100000" kx="0" ky="0" algn="bl" rotWithShape="0" blurRad="76200" dist="25400" dir="5400000">
              <a:srgbClr val="1E2761">
                <a:alpha val="16000"/>
              </a:srgbClr>
            </a:outerShdw>
          </a:effectLst>
        </p:spPr>
      </p:sp>
      <p:sp>
        <p:nvSpPr>
          <p:cNvPr id="25" name="Text 19"/>
          <p:cNvSpPr/>
          <p:nvPr/>
        </p:nvSpPr>
        <p:spPr>
          <a:xfrm>
            <a:off x="914400" y="3310128"/>
            <a:ext cx="10362895" cy="2606040"/>
          </a:xfrm>
          <a:prstGeom prst="rect">
            <a:avLst/>
          </a:prstGeom>
          <a:noFill/>
          <a:ln/>
        </p:spPr>
        <p:txBody>
          <a:bodyPr wrap="square" lIns="0" tIns="0" rIns="0" bIns="0" rtlCol="0" anchor="ctr"/>
          <a:lstStyle/>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Today: the full control ladder → what's usable now vs. later → RAG vs. fine-tuning → where RAG lives (AI Lens).</a:t>
            </a:r>
            <a:endParaRPr lang="en-US" sz="1600" dirty="0"/>
          </a:p>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Next time: can you trust what comes back; session 4 is fully self-contained.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1645920" y="-1645920"/>
            <a:ext cx="3840480" cy="3840480"/>
          </a:xfrm>
          <a:prstGeom prst="ellipse">
            <a:avLst/>
          </a:prstGeom>
          <a:solidFill>
            <a:srgbClr val="1E2761"/>
          </a:solidFill>
          <a:ln/>
        </p:spPr>
      </p:sp>
      <p:sp>
        <p:nvSpPr>
          <p:cNvPr id="3" name="Text 1"/>
          <p:cNvSpPr/>
          <p:nvPr/>
        </p:nvSpPr>
        <p:spPr>
          <a:xfrm>
            <a:off x="914400" y="2514600"/>
            <a:ext cx="1033272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APPENDIX</a:t>
            </a:r>
            <a:endParaRPr lang="en-US" sz="1300" dirty="0"/>
          </a:p>
        </p:txBody>
      </p:sp>
      <p:sp>
        <p:nvSpPr>
          <p:cNvPr id="4" name="Text 2"/>
          <p:cNvSpPr/>
          <p:nvPr/>
        </p:nvSpPr>
        <p:spPr>
          <a:xfrm>
            <a:off x="914400" y="2880360"/>
            <a:ext cx="1033272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Anticipated Q&amp;A</a:t>
            </a:r>
            <a:endParaRPr lang="en-US" sz="3400" dirty="0"/>
          </a:p>
        </p:txBody>
      </p:sp>
      <p:sp>
        <p:nvSpPr>
          <p:cNvPr id="5" name="Text 3"/>
          <p:cNvSpPr/>
          <p:nvPr/>
        </p:nvSpPr>
        <p:spPr>
          <a:xfrm>
            <a:off x="914400" y="3794760"/>
            <a:ext cx="1033272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Likely questions with model answers, for reference during live Q&amp;A</a:t>
            </a:r>
            <a:endParaRPr lang="en-US" sz="1500" dirty="0"/>
          </a:p>
        </p:txBody>
      </p:sp>
      <p:sp>
        <p:nvSpPr>
          <p:cNvPr id="6" name="Text 4"/>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When Good Isn't Good Enough</a:t>
            </a:r>
            <a:endParaRPr lang="en-US" sz="900" dirty="0"/>
          </a:p>
        </p:txBody>
      </p:sp>
      <p:sp>
        <p:nvSpPr>
          <p:cNvPr id="7" name="Text 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13</a:t>
            </a:r>
            <a:endParaRPr lang="en-US" sz="900" dirty="0"/>
          </a:p>
        </p:txBody>
      </p:sp>
      <p:sp>
        <p:nvSpPr>
          <p:cNvPr id="8" name="Shape 6"/>
          <p:cNvSpPr/>
          <p:nvPr/>
        </p:nvSpPr>
        <p:spPr>
          <a:xfrm>
            <a:off x="11400739" y="201168"/>
            <a:ext cx="192024" cy="192024"/>
          </a:xfrm>
          <a:prstGeom prst="rect">
            <a:avLst/>
          </a:prstGeom>
          <a:solidFill>
            <a:srgbClr val="FFFFFF"/>
          </a:solidFill>
          <a:ln/>
        </p:spPr>
      </p:sp>
      <p:sp>
        <p:nvSpPr>
          <p:cNvPr id="9" name="Shape 7"/>
          <p:cNvSpPr/>
          <p:nvPr/>
        </p:nvSpPr>
        <p:spPr>
          <a:xfrm rot="5400000">
            <a:off x="11544757" y="249174"/>
            <a:ext cx="192024" cy="96012"/>
          </a:xfrm>
          <a:prstGeom prst="triangle">
            <a:avLst/>
          </a:prstGeom>
          <a:solidFill>
            <a:srgbClr val="E52713"/>
          </a:solidFill>
          <a:ln/>
        </p:spPr>
      </p:sp>
      <p:sp>
        <p:nvSpPr>
          <p:cNvPr id="10" name="Shape 8"/>
          <p:cNvSpPr/>
          <p:nvPr/>
        </p:nvSpPr>
        <p:spPr>
          <a:xfrm rot="16200000">
            <a:off x="11256721" y="249174"/>
            <a:ext cx="192024" cy="96012"/>
          </a:xfrm>
          <a:prstGeom prst="triangle">
            <a:avLst/>
          </a:prstGeom>
          <a:solidFill>
            <a:srgbClr val="E52713"/>
          </a:solidFill>
          <a:ln/>
        </p:spPr>
      </p:sp>
      <p:sp>
        <p:nvSpPr>
          <p:cNvPr id="11" name="Shape 9"/>
          <p:cNvSpPr/>
          <p:nvPr/>
        </p:nvSpPr>
        <p:spPr>
          <a:xfrm rot="10800000">
            <a:off x="11400739" y="201168"/>
            <a:ext cx="192024" cy="96012"/>
          </a:xfrm>
          <a:prstGeom prst="triangle">
            <a:avLst/>
          </a:prstGeom>
          <a:solidFill>
            <a:srgbClr val="E52713"/>
          </a:solidFill>
          <a:ln/>
        </p:spPr>
      </p:sp>
      <p:sp>
        <p:nvSpPr>
          <p:cNvPr id="12" name="Shape 10"/>
          <p:cNvSpPr/>
          <p:nvPr/>
        </p:nvSpPr>
        <p:spPr>
          <a:xfrm>
            <a:off x="11400739" y="297180"/>
            <a:ext cx="192024" cy="96012"/>
          </a:xfrm>
          <a:prstGeom prst="triangle">
            <a:avLst/>
          </a:prstGeom>
          <a:solidFill>
            <a:srgbClr val="E52713"/>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Q1</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Why can't we just fine-tune a model on our own documents instead of setting up RAG?</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Two reasons: fine-tuning isn't available in the current stack, and even where available elsewhere, RAG usually fits better for frequently-changing information, since fine-tuning is about changing behavior/style, not keeping up with today's data.</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Fine-tuning sounds more powerful/permanent, so people naturally reach for it as "the real solution."</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Even in organizations where fine-tuning is available, most of what people think they need it for turns out to actually be a RAG problem once you look closely.</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Q2</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Who sets the system prompt, and can I change it myself?</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Typically whoever builds/configures the agent; most AI Studio users influence rung 1 (few-shot, per query) more directly than rung 2.</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A natural question once people realize per-query prompting has a ceiling.</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Name the actual internal owner/contact if you have one, so this isn't a dead end for the room.</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Q3</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If fine-tuning isn't available, why are we even covering it?</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So you have the full mental model of what's possible and can reason correctly about "is this a RAG problem or a fine-tuning problem" even before the latter becomes available, and so you know what to ask for if/when it does.</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Reasonable efficiency-minded pushback: "why teach something we can't use."</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A good moment to reinforce the T-shaped learning philosophy explicitly: breadth now, depth when it's actually needed.</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Q4</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Can RAG retrieve the wrong information?</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Yes: if the knowledge base is poorly organized or the query is ambiguous, retrieval can miss the right chunk or pull in noise.</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A healthy skepticism check, especially from anyone who's used a search tool that returned irrelevant results before.</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This is exactly why the troubleshooting checklist (session 4) includes 'context' as a distinct failure point: a bad RAG retrieval is a context problem, not a prompt problem.</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When Good Isn't Good Enough</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2026-08-10T02:57:53Z</dcterms:created>
  <dcterms:modified xsi:type="dcterms:W3CDTF">2026-08-10T02:57:53Z</dcterms:modified>
</cp:coreProperties>
</file>