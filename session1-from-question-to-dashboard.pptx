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into any theory, I want to start with something you already do. Show of hands: who's asked AI Studio a question this week and gotten a dashboard or an answer back? [pause for hands] Right, most of you. What I want to do in this session is open up what's actually happening in that box in the middle. Not the theory of AI in the abstract, but specifically what's happening when you ask AI Studio a question and it comes back with something useful. By the end of the hour, you'll know why it behaves the way it does, what's genuinely new about it, and what an 'agent' actually is, because that word is going to come up a lot, including in your own tool.
Prep: this is a framing slide, not a concept slide, so have a real, specific memory of something you personally asked AI Studio recently, in case you want to swap the generic 'show of hands' for a concrete anecdote.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mindset I want you to carry through this entire series, not just today. AI is not the answer to every problem; it's one tool in a toolbox. The actual skill (and this is a genuine skill, not just common sense once you've done it a few times) is matching the right tool to the problem in front of you. Sometimes that's a simple rule. Sometimes it's AI. Most interesting problems, it's a mix of both. We're going to build a simple framework for making that call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get you to the right tool almost every time. First: is the task well-defined and repeatable, or does it need judgment? Second: is the input and output structured, like a form or a database record, or unstructured, like a paragraph or a conversation? Put those together and you get four zones. Well-defined and structured: that's a rule. Ambiguous and unstructured: that's GenAI's home turf, because there's no rule for 'unusual,' that requires synthesizing context and judgment. The middle two zones are where it gets interesting and where most hybrid systems live.
PREP (HIGHEST PRIORITY IN THE SESSION): replace the [DRAFT] quadrant examples with real, checked Global Markets examples before delivery; this is the anchor example the rest of the session's framing leans on. Cross-check with a colleague on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really the whole idea in one sentence: frame the problem before you pick the tool. Keep that in your head as we go through the rest of the series: every topic from here on is really just adding detail to 'how do I use AI well once I've decided it's the right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technical shift to understand, and I promise this is the only slide in the whole series that gets close to 'how the model actually works.' Traditional AI and ML (think a fraud-detection model) has a fixed decision boundary once it's trained. Same input, same output, every time; narrow, trained to answer one kind of question. GenAI works differently: under the hood it's predicting the next word by sampling from a probability distribution, so the same question can come back with a slightly different, though usually similar, answer each time. That's not a bug: that's the mechanism. It's why GenAI can handle open-ended requests like 'explain this' that a traditional model simply can't.
Prep: rehearse explaining 'sampling from a probability distribution' out loud at least once. Backup analogy: 'like predicting the next word in a sentence one word at a time, picking from the most likely options rather than a single fixed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anchor, genuinely 60 seconds, because I know most of you already work with these tools daily. AI broadly means software doing tasks that would normally need human intelligence: recognizing patterns, predicting, generating. Under that umbrella: rule-based systems came first, then machine learning that learns patterns from data, then deep learning with neural networks for things like image and speech recognition, and now generative AI, which is what powers AI Studio, producing new content: text, code, even images. That's the whole family tree. Moving on.
Prep: none beyond this script; the entire point of this slide is that it requires no additional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did this happen now, and not ten years ago? In short: bigger models, trained on much more data, with much more compute, turned out to generalize in ways smaller models didn't: they stopped just being narrow predictors and started being able to generate and reason across almost any topic phrased in natural language. That's the shift that takes us from 'classify this email' to 'explain why this trade looks unusual': the same underlying idea, but at a scale that changes what's possible.
Prep: keep this deliberately high-level, and avoid a deep scaling-laws tangent if asked; deflect with 'great rabbit hole, happy to go deeper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functional concepts worth actually knowing, not because you need the math, but because they explain behavior you'll see. Context window: how much text the model can 'see' at once: your instructions, the conversation so far, anything you've attached. Too much irrelevant text in there dilutes what the model pays attention to; too little starves it of what it needs; we'll come back to this hard in session two. Tokens: the unit models process text in, roughly four characters or three-quarters of a word each, which is why there are limits on how much you can paste in. Multi-modality: modern models increasingly handle text, images, and structured data together, not just text, part of why AI Studio can take a document and turn it into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deliberately not going to give you a tour of AI news; that's not useful to your day job. There's exactly one advancement from the last year or two worth knowing, because it's the reason your own tool works the way it does: models can now call tools, chain together multiple steps, and orchestrate other agents, instead of just answering a question with a block of text. That's the shift from 'prompt in, text out' to what we're about to define as an agent. This is recent: genuinely only a year or two mature at the level you're using it.
Resource: Anthropic's 'Building Effective Agents' engineering blog post is a strong, citable public reference for this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definition. An agent is a model wrapped with the ability to do five things: reason about what it needs, pick a tool or data source, call it, look at what came back, and then either answer you or go around the loop again if it needs something else first. That loop (reason, act, observe, repeat) is the entire idea. It's the difference between a plain prompt, which is just one question and one answer, and an agent, which can take several steps to get you a good answer, deciding those steps itself.
Prep: this is the conceptual heart of the session, so rehearse walking the loop out loud at least once. Concrete example if the room looks lost: 'it decided it needed today's market data, so it called a data tool, got the numbers back, then decided it had what it needed to build you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three boxes from the very start of this session, question in, AI Studio, dashboard out? Here's what's actually happening in that middle box: it's the exact loop we just walked through. When you select one or more agents or tools in AI Studio and ask a question, you're handing it a toolbox and letting it reason its way through that loop: deciding what it needs, going and getting it, and coming back with an answer. Everything we've covered today (the mindset, the shift to probabilistic generation, what's new) lands here, in something you already do every day.
Prep: consider transitioning directly from this slide into the live demo rather than finishing the deck first, if pacing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'Let's make this concrete. I'm going to ask AI Studio a real question, live, the same way you would.' Type the question, watch what happens. Backup: if the live result is slow or errors, switch to a pre-captured screenshot and say so plainly.
Step 2: 'Notice it decided, on its own, to pull data and generate a chart rather than just give me a paragraph. That decision is the agent reasoning we just covered on slide 11.' If the output format differs from expected: 'interesting, it chose a different format this time, a good example of the probabilistic behavior from slide 6.'
Step 3: 'Now watch: I'm not starting over, I'm following up in the same conversation.' Type follow-up, wait for update. 'It updated based on what I already asked, without me repeating myself, that's multi-turn context, which session two goes deep on.'
Step 4: 'If I asked that exact same first question again right now, I might get a slightly different phrasing or chart layout. That's the probabilistic part from slide six, live, not a bug, the mechanism.' If challenged to re-run it live, do it, it's a good engagement sign.
Prep needed: test the exact query and follow-up at least once beforehand; capture a backup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we framed the problem-solving mindset, we covered why GenAI feels different because it's probabilistic rather than deterministic, we named the one advancement that actually matters to you (agentic, tool-using models), and we defined what an agent is and tied it directly to your own AI Studio experience. Next session is about talking to AI well, and to be clear, that session stands completely on its own, so if you know someone who couldn't make today, they won't be lost next time. Let's move into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E2761"/>
          </a:solidFill>
          <a:ln/>
        </p:spPr>
      </p:sp>
      <p:sp>
        <p:nvSpPr>
          <p:cNvPr id="3" name="Shape 1"/>
          <p:cNvSpPr/>
          <p:nvPr/>
        </p:nvSpPr>
        <p:spPr>
          <a:xfrm>
            <a:off x="-1463040" y="4663440"/>
            <a:ext cx="3291840" cy="3291840"/>
          </a:xfrm>
          <a:prstGeom prst="ellipse">
            <a:avLst/>
          </a:prstGeom>
          <a:solidFill>
            <a:srgbClr val="1E2761"/>
          </a:solidFill>
          <a:ln/>
        </p:spPr>
      </p:sp>
      <p:sp>
        <p:nvSpPr>
          <p:cNvPr id="4" name="Text 2"/>
          <p:cNvSpPr/>
          <p:nvPr/>
        </p:nvSpPr>
        <p:spPr>
          <a:xfrm>
            <a:off x="502920" y="566928"/>
            <a:ext cx="73152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USE-CASE-DRIVEN SERIES</a:t>
            </a:r>
            <a:endParaRPr lang="en-US" sz="1300" dirty="0"/>
          </a:p>
        </p:txBody>
      </p:sp>
      <p:sp>
        <p:nvSpPr>
          <p:cNvPr id="5" name="Shape 3"/>
          <p:cNvSpPr/>
          <p:nvPr/>
        </p:nvSpPr>
        <p:spPr>
          <a:xfrm>
            <a:off x="822960" y="1965960"/>
            <a:ext cx="1051560" cy="1051560"/>
          </a:xfrm>
          <a:prstGeom prst="ellipse">
            <a:avLst/>
          </a:prstGeom>
          <a:solidFill>
            <a:srgbClr val="E8A33D"/>
          </a:solidFill>
          <a:ln/>
        </p:spPr>
      </p:sp>
      <p:sp>
        <p:nvSpPr>
          <p:cNvPr id="6" name="Text 4"/>
          <p:cNvSpPr/>
          <p:nvPr/>
        </p:nvSpPr>
        <p:spPr>
          <a:xfrm>
            <a:off x="822960" y="1965960"/>
            <a:ext cx="1051560" cy="1051560"/>
          </a:xfrm>
          <a:prstGeom prst="rect">
            <a:avLst/>
          </a:prstGeom>
          <a:noFill/>
          <a:ln/>
        </p:spPr>
        <p:txBody>
          <a:bodyPr wrap="square" lIns="0" tIns="0" rIns="0" bIns="0" rtlCol="0" anchor="ctr"/>
          <a:lstStyle/>
          <a:p>
            <a:pPr algn="ctr" indent="0" marL="0">
              <a:buNone/>
            </a:pPr>
            <a:r>
              <a:rPr lang="en-US" sz="3400" b="1" dirty="0">
                <a:solidFill>
                  <a:srgbClr val="141B45"/>
                </a:solidFill>
                <a:latin typeface="Cambria" pitchFamily="34" charset="0"/>
                <a:ea typeface="Cambria" pitchFamily="34" charset="-122"/>
                <a:cs typeface="Cambria" pitchFamily="34" charset="-120"/>
              </a:rPr>
              <a:t>1</a:t>
            </a:r>
            <a:endParaRPr lang="en-US" sz="3400" dirty="0"/>
          </a:p>
        </p:txBody>
      </p:sp>
      <p:sp>
        <p:nvSpPr>
          <p:cNvPr id="7" name="Text 5"/>
          <p:cNvSpPr/>
          <p:nvPr/>
        </p:nvSpPr>
        <p:spPr>
          <a:xfrm>
            <a:off x="2148840" y="1783080"/>
            <a:ext cx="9509760" cy="173736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Cambria" pitchFamily="34" charset="0"/>
                <a:ea typeface="Cambria" pitchFamily="34" charset="-122"/>
                <a:cs typeface="Cambria" pitchFamily="34" charset="-120"/>
              </a:rPr>
              <a:t>From Question to Dashboard</a:t>
            </a:r>
            <a:endParaRPr lang="en-US" sz="4000" dirty="0"/>
          </a:p>
        </p:txBody>
      </p:sp>
      <p:sp>
        <p:nvSpPr>
          <p:cNvPr id="8" name="Text 6"/>
          <p:cNvSpPr/>
          <p:nvPr/>
        </p:nvSpPr>
        <p:spPr>
          <a:xfrm>
            <a:off x="2148840" y="1371600"/>
            <a:ext cx="9509760" cy="365760"/>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Foundations</a:t>
            </a:r>
            <a:endParaRPr lang="en-US" sz="1400" dirty="0"/>
          </a:p>
        </p:txBody>
      </p:sp>
      <p:sp>
        <p:nvSpPr>
          <p:cNvPr id="9" name="Text 7"/>
          <p:cNvSpPr/>
          <p:nvPr/>
        </p:nvSpPr>
        <p:spPr>
          <a:xfrm>
            <a:off x="2148840" y="3246120"/>
            <a:ext cx="8961120" cy="822960"/>
          </a:xfrm>
          <a:prstGeom prst="rect">
            <a:avLst/>
          </a:prstGeom>
          <a:noFill/>
          <a:ln/>
        </p:spPr>
        <p:txBody>
          <a:bodyPr wrap="square" lIns="0" tIns="0" rIns="0" bIns="0" rtlCol="0" anchor="ctr"/>
          <a:lstStyle/>
          <a:p>
            <a:pPr algn="l" indent="0" marL="0">
              <a:buNone/>
            </a:pPr>
            <a:r>
              <a:rPr lang="en-US" sz="1700" i="1" dirty="0">
                <a:solidFill>
                  <a:srgbClr val="CADCFC"/>
                </a:solidFill>
                <a:latin typeface="Calibri" pitchFamily="34" charset="0"/>
                <a:ea typeface="Calibri" pitchFamily="34" charset="-122"/>
                <a:cs typeface="Calibri" pitchFamily="34" charset="-120"/>
              </a:rPr>
              <a:t>Getting a good first result (F1–F4): problem-solving mindset, the GenAI journey, fundamentals, and what an agent is.</a:t>
            </a:r>
            <a:endParaRPr lang="en-US" sz="1700" dirty="0"/>
          </a:p>
        </p:txBody>
      </p:sp>
      <p:sp>
        <p:nvSpPr>
          <p:cNvPr id="10" name="Text 8"/>
          <p:cNvSpPr/>
          <p:nvPr/>
        </p:nvSpPr>
        <p:spPr>
          <a:xfrm>
            <a:off x="502920" y="6355080"/>
            <a:ext cx="7315200" cy="274320"/>
          </a:xfrm>
          <a:prstGeom prst="rect">
            <a:avLst/>
          </a:prstGeom>
          <a:noFill/>
          <a:ln/>
        </p:spPr>
        <p:txBody>
          <a:bodyPr wrap="square" lIns="0" tIns="0" rIns="0" bIns="0" rtlCol="0" anchor="ctr"/>
          <a:lstStyle/>
          <a:p>
            <a:pPr indent="0" marL="0">
              <a:buNone/>
            </a:pPr>
            <a:r>
              <a:rPr lang="en-US" sz="1000" dirty="0">
                <a:solidFill>
                  <a:srgbClr val="8895BC"/>
                </a:solidFill>
                <a:latin typeface="Calibri" pitchFamily="34" charset="0"/>
                <a:ea typeface="Calibri" pitchFamily="34" charset="-122"/>
                <a:cs typeface="Calibri" pitchFamily="34" charset="-120"/>
              </a:rPr>
              <a:t>HSBC Global Markets · L&amp;D Series</a:t>
            </a:r>
            <a:endParaRPr lang="en-US" sz="10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You Already Do This Every Day</a:t>
            </a:r>
            <a:endParaRPr lang="en-US" sz="2900" dirty="0"/>
          </a:p>
        </p:txBody>
      </p:sp>
      <p:sp>
        <p:nvSpPr>
          <p:cNvPr id="3" name="Text 1"/>
          <p:cNvSpPr/>
          <p:nvPr/>
        </p:nvSpPr>
        <p:spPr>
          <a:xfrm>
            <a:off x="502920" y="1097280"/>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actually happens when you ask AI Studio a question</a:t>
            </a:r>
            <a:endParaRPr lang="en-US" sz="1450" dirty="0"/>
          </a:p>
        </p:txBody>
      </p:sp>
      <p:sp>
        <p:nvSpPr>
          <p:cNvPr id="4" name="Text 2"/>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5"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00739" y="201168"/>
            <a:ext cx="192024" cy="192024"/>
          </a:xfrm>
          <a:prstGeom prst="rect">
            <a:avLst/>
          </a:prstGeom>
          <a:solidFill>
            <a:srgbClr val="FFFFFF"/>
          </a:solidFill>
          <a:ln/>
        </p:spPr>
      </p:sp>
      <p:sp>
        <p:nvSpPr>
          <p:cNvPr id="7" name="Shape 5"/>
          <p:cNvSpPr/>
          <p:nvPr/>
        </p:nvSpPr>
        <p:spPr>
          <a:xfrm rot="5400000">
            <a:off x="11544757" y="249174"/>
            <a:ext cx="192024" cy="96012"/>
          </a:xfrm>
          <a:prstGeom prst="triangle">
            <a:avLst/>
          </a:prstGeom>
          <a:solidFill>
            <a:srgbClr val="E52713"/>
          </a:solidFill>
          <a:ln/>
        </p:spPr>
      </p:sp>
      <p:sp>
        <p:nvSpPr>
          <p:cNvPr id="8" name="Shape 6"/>
          <p:cNvSpPr/>
          <p:nvPr/>
        </p:nvSpPr>
        <p:spPr>
          <a:xfrm rot="16200000">
            <a:off x="11256721" y="249174"/>
            <a:ext cx="192024" cy="96012"/>
          </a:xfrm>
          <a:prstGeom prst="triangle">
            <a:avLst/>
          </a:prstGeom>
          <a:solidFill>
            <a:srgbClr val="E52713"/>
          </a:solidFill>
          <a:ln/>
        </p:spPr>
      </p:sp>
      <p:sp>
        <p:nvSpPr>
          <p:cNvPr id="9" name="Shape 7"/>
          <p:cNvSpPr/>
          <p:nvPr/>
        </p:nvSpPr>
        <p:spPr>
          <a:xfrm rot="10800000">
            <a:off x="11400739" y="201168"/>
            <a:ext cx="192024" cy="96012"/>
          </a:xfrm>
          <a:prstGeom prst="triangle">
            <a:avLst/>
          </a:prstGeom>
          <a:solidFill>
            <a:srgbClr val="E52713"/>
          </a:solidFill>
          <a:ln/>
        </p:spPr>
      </p:sp>
      <p:sp>
        <p:nvSpPr>
          <p:cNvPr id="10" name="Shape 8"/>
          <p:cNvSpPr/>
          <p:nvPr/>
        </p:nvSpPr>
        <p:spPr>
          <a:xfrm>
            <a:off x="11400739" y="297180"/>
            <a:ext cx="192024" cy="96012"/>
          </a:xfrm>
          <a:prstGeom prst="triangle">
            <a:avLst/>
          </a:prstGeom>
          <a:solidFill>
            <a:srgbClr val="E52713"/>
          </a:solidFill>
          <a:ln/>
        </p:spPr>
      </p:sp>
      <p:sp>
        <p:nvSpPr>
          <p:cNvPr id="11" name="Shape 9"/>
          <p:cNvSpPr/>
          <p:nvPr/>
        </p:nvSpPr>
        <p:spPr>
          <a:xfrm>
            <a:off x="502920" y="2148840"/>
            <a:ext cx="3393338" cy="1554480"/>
          </a:xfrm>
          <a:prstGeom prst="roundRect">
            <a:avLst>
              <a:gd name="adj" fmla="val 5294"/>
            </a:avLst>
          </a:prstGeom>
          <a:solidFill>
            <a:srgbClr val="1E2761"/>
          </a:solidFill>
          <a:ln/>
          <a:effectLst>
            <a:outerShdw sx="100000" sy="100000" kx="0" ky="0" algn="bl" rotWithShape="0" blurRad="76200" dist="25400" dir="5400000">
              <a:srgbClr val="1E2761">
                <a:alpha val="16000"/>
              </a:srgbClr>
            </a:outerShdw>
          </a:effectLst>
        </p:spPr>
      </p:sp>
      <p:sp>
        <p:nvSpPr>
          <p:cNvPr id="12" name="Shape 10"/>
          <p:cNvSpPr/>
          <p:nvPr/>
        </p:nvSpPr>
        <p:spPr>
          <a:xfrm>
            <a:off x="1888693" y="2366467"/>
            <a:ext cx="621792" cy="621792"/>
          </a:xfrm>
          <a:prstGeom prst="ellipse">
            <a:avLst/>
          </a:prstGeom>
          <a:solidFill>
            <a:srgbClr val="E8A33D"/>
          </a:solidFill>
          <a:ln/>
        </p:spPr>
      </p:sp>
      <p:pic>
        <p:nvPicPr>
          <p:cNvPr id="13" name="Image 0" descr="/private/tmp/claude-501/-Users-sai-Work-Office-Teaching/ee8695eb-a8ef-409d-a9ba-c09e44dd9ced/scratchpad/pptx-build/assets/icons-dark/FaComments.png">    </p:cNvPr>
          <p:cNvPicPr>
            <a:picLocks noChangeAspect="1"/>
          </p:cNvPicPr>
          <p:nvPr/>
        </p:nvPicPr>
        <p:blipFill>
          <a:blip r:embed="rId1"/>
          <a:stretch>
            <a:fillRect/>
          </a:stretch>
        </p:blipFill>
        <p:spPr>
          <a:xfrm>
            <a:off x="2037923" y="2515697"/>
            <a:ext cx="323332" cy="323332"/>
          </a:xfrm>
          <a:prstGeom prst="rect">
            <a:avLst/>
          </a:prstGeom>
        </p:spPr>
      </p:pic>
      <p:sp>
        <p:nvSpPr>
          <p:cNvPr id="14" name="Text 11"/>
          <p:cNvSpPr/>
          <p:nvPr/>
        </p:nvSpPr>
        <p:spPr>
          <a:xfrm>
            <a:off x="612648" y="3081528"/>
            <a:ext cx="3173882" cy="528523"/>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Your question</a:t>
            </a:r>
            <a:endParaRPr lang="en-US" sz="1400" dirty="0"/>
          </a:p>
        </p:txBody>
      </p:sp>
      <p:sp>
        <p:nvSpPr>
          <p:cNvPr id="15" name="Shape 12"/>
          <p:cNvSpPr/>
          <p:nvPr/>
        </p:nvSpPr>
        <p:spPr>
          <a:xfrm>
            <a:off x="3951122" y="2852928"/>
            <a:ext cx="393192" cy="146304"/>
          </a:xfrm>
          <a:prstGeom prst="rightArrow">
            <a:avLst/>
          </a:prstGeom>
          <a:solidFill>
            <a:srgbClr val="48587A"/>
          </a:solidFill>
          <a:ln/>
        </p:spPr>
      </p:sp>
      <p:sp>
        <p:nvSpPr>
          <p:cNvPr id="16" name="Shape 13"/>
          <p:cNvSpPr/>
          <p:nvPr/>
        </p:nvSpPr>
        <p:spPr>
          <a:xfrm>
            <a:off x="4399178" y="2148840"/>
            <a:ext cx="3393338" cy="1554480"/>
          </a:xfrm>
          <a:prstGeom prst="roundRect">
            <a:avLst>
              <a:gd name="adj" fmla="val 5294"/>
            </a:avLst>
          </a:prstGeom>
          <a:solidFill>
            <a:srgbClr val="1E2761"/>
          </a:solidFill>
          <a:ln/>
          <a:effectLst>
            <a:outerShdw sx="100000" sy="100000" kx="0" ky="0" algn="bl" rotWithShape="0" blurRad="76200" dist="25400" dir="5400000">
              <a:srgbClr val="1E2761">
                <a:alpha val="16000"/>
              </a:srgbClr>
            </a:outerShdw>
          </a:effectLst>
        </p:spPr>
      </p:sp>
      <p:sp>
        <p:nvSpPr>
          <p:cNvPr id="17" name="Shape 14"/>
          <p:cNvSpPr/>
          <p:nvPr/>
        </p:nvSpPr>
        <p:spPr>
          <a:xfrm>
            <a:off x="5784952" y="2366467"/>
            <a:ext cx="621792" cy="621792"/>
          </a:xfrm>
          <a:prstGeom prst="ellipse">
            <a:avLst/>
          </a:prstGeom>
          <a:solidFill>
            <a:srgbClr val="E8A33D"/>
          </a:solidFill>
          <a:ln/>
        </p:spPr>
      </p:sp>
      <p:pic>
        <p:nvPicPr>
          <p:cNvPr id="18" name="Image 1" descr="/private/tmp/claude-501/-Users-sai-Work-Office-Teaching/ee8695eb-a8ef-409d-a9ba-c09e44dd9ced/scratchpad/pptx-build/assets/icons-dark/FaCogs.png">    </p:cNvPr>
          <p:cNvPicPr>
            <a:picLocks noChangeAspect="1"/>
          </p:cNvPicPr>
          <p:nvPr/>
        </p:nvPicPr>
        <p:blipFill>
          <a:blip r:embed="rId2"/>
          <a:stretch>
            <a:fillRect/>
          </a:stretch>
        </p:blipFill>
        <p:spPr>
          <a:xfrm>
            <a:off x="5934182" y="2515697"/>
            <a:ext cx="323332" cy="323332"/>
          </a:xfrm>
          <a:prstGeom prst="rect">
            <a:avLst/>
          </a:prstGeom>
        </p:spPr>
      </p:pic>
      <p:sp>
        <p:nvSpPr>
          <p:cNvPr id="19" name="Text 15"/>
          <p:cNvSpPr/>
          <p:nvPr/>
        </p:nvSpPr>
        <p:spPr>
          <a:xfrm>
            <a:off x="4508906" y="3081528"/>
            <a:ext cx="3173882" cy="528523"/>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AI Studio</a:t>
            </a:r>
            <a:endParaRPr lang="en-US" sz="1400" dirty="0"/>
          </a:p>
        </p:txBody>
      </p:sp>
      <p:sp>
        <p:nvSpPr>
          <p:cNvPr id="20" name="Shape 16"/>
          <p:cNvSpPr/>
          <p:nvPr/>
        </p:nvSpPr>
        <p:spPr>
          <a:xfrm>
            <a:off x="7847381" y="2852928"/>
            <a:ext cx="393192" cy="146304"/>
          </a:xfrm>
          <a:prstGeom prst="rightArrow">
            <a:avLst/>
          </a:prstGeom>
          <a:solidFill>
            <a:srgbClr val="48587A"/>
          </a:solidFill>
          <a:ln/>
        </p:spPr>
      </p:sp>
      <p:sp>
        <p:nvSpPr>
          <p:cNvPr id="21" name="Shape 17"/>
          <p:cNvSpPr/>
          <p:nvPr/>
        </p:nvSpPr>
        <p:spPr>
          <a:xfrm>
            <a:off x="8295437" y="2148840"/>
            <a:ext cx="3393338" cy="1554480"/>
          </a:xfrm>
          <a:prstGeom prst="roundRect">
            <a:avLst>
              <a:gd name="adj" fmla="val 5294"/>
            </a:avLst>
          </a:prstGeom>
          <a:solidFill>
            <a:srgbClr val="1E2761"/>
          </a:solidFill>
          <a:ln/>
          <a:effectLst>
            <a:outerShdw sx="100000" sy="100000" kx="0" ky="0" algn="bl" rotWithShape="0" blurRad="76200" dist="25400" dir="5400000">
              <a:srgbClr val="1E2761">
                <a:alpha val="16000"/>
              </a:srgbClr>
            </a:outerShdw>
          </a:effectLst>
        </p:spPr>
      </p:sp>
      <p:sp>
        <p:nvSpPr>
          <p:cNvPr id="22" name="Shape 18"/>
          <p:cNvSpPr/>
          <p:nvPr/>
        </p:nvSpPr>
        <p:spPr>
          <a:xfrm>
            <a:off x="9681210" y="2366467"/>
            <a:ext cx="621792" cy="621792"/>
          </a:xfrm>
          <a:prstGeom prst="ellipse">
            <a:avLst/>
          </a:prstGeom>
          <a:solidFill>
            <a:srgbClr val="E8A33D"/>
          </a:solidFill>
          <a:ln/>
        </p:spPr>
      </p:sp>
      <p:pic>
        <p:nvPicPr>
          <p:cNvPr id="23" name="Image 2" descr="/private/tmp/claude-501/-Users-sai-Work-Office-Teaching/ee8695eb-a8ef-409d-a9ba-c09e44dd9ced/scratchpad/pptx-build/assets/icons-dark/FaChartBar.png">    </p:cNvPr>
          <p:cNvPicPr>
            <a:picLocks noChangeAspect="1"/>
          </p:cNvPicPr>
          <p:nvPr/>
        </p:nvPicPr>
        <p:blipFill>
          <a:blip r:embed="rId3"/>
          <a:stretch>
            <a:fillRect/>
          </a:stretch>
        </p:blipFill>
        <p:spPr>
          <a:xfrm>
            <a:off x="9830440" y="2515697"/>
            <a:ext cx="323332" cy="323332"/>
          </a:xfrm>
          <a:prstGeom prst="rect">
            <a:avLst/>
          </a:prstGeom>
        </p:spPr>
      </p:pic>
      <p:sp>
        <p:nvSpPr>
          <p:cNvPr id="24" name="Text 19"/>
          <p:cNvSpPr/>
          <p:nvPr/>
        </p:nvSpPr>
        <p:spPr>
          <a:xfrm>
            <a:off x="8405165" y="3081528"/>
            <a:ext cx="3173882" cy="528523"/>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Dashboard / answer</a:t>
            </a:r>
            <a:endParaRPr lang="en-US" sz="1400" dirty="0"/>
          </a:p>
        </p:txBody>
      </p:sp>
      <p:sp>
        <p:nvSpPr>
          <p:cNvPr id="25" name="Text 20"/>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Ask yourself, live: how many times did you ask AI Studio something this week?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Real Question Isn't 'AI or Not'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It's 'which tool for this problem': problem-solving mindset, not tool worship</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502920" y="1709928"/>
            <a:ext cx="11185855" cy="868680"/>
          </a:xfrm>
          <a:prstGeom prst="rect">
            <a:avLst/>
          </a:prstGeom>
          <a:noFill/>
          <a:ln/>
        </p:spPr>
        <p:txBody>
          <a:bodyPr wrap="square" lIns="0" tIns="0" rIns="0" bIns="0" rtlCol="0" anchor="t"/>
          <a:lstStyle/>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AI is one tool among many, not the default answer to everything.</a:t>
            </a:r>
            <a:endParaRPr lang="en-US" sz="1450" dirty="0"/>
          </a:p>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The real skill: matching the tool to the problem.</a:t>
            </a:r>
            <a:endParaRPr lang="en-US" sz="1450" dirty="0"/>
          </a:p>
        </p:txBody>
      </p:sp>
      <p:sp>
        <p:nvSpPr>
          <p:cNvPr id="13" name="Shape 11"/>
          <p:cNvSpPr/>
          <p:nvPr/>
        </p:nvSpPr>
        <p:spPr>
          <a:xfrm>
            <a:off x="1871929" y="2761488"/>
            <a:ext cx="777240" cy="777240"/>
          </a:xfrm>
          <a:prstGeom prst="ellipse">
            <a:avLst/>
          </a:prstGeom>
          <a:solidFill>
            <a:srgbClr val="1E2761"/>
          </a:solidFill>
          <a:ln/>
        </p:spPr>
      </p:sp>
      <p:pic>
        <p:nvPicPr>
          <p:cNvPr id="14" name="Image 0" descr="/private/tmp/claude-501/-Users-sai-Work-Office-Teaching/ee8695eb-a8ef-409d-a9ba-c09e44dd9ced/scratchpad/pptx-build/assets/icons/FaWrench.png">    </p:cNvPr>
          <p:cNvPicPr>
            <a:picLocks noChangeAspect="1"/>
          </p:cNvPicPr>
          <p:nvPr/>
        </p:nvPicPr>
        <p:blipFill>
          <a:blip r:embed="rId1"/>
          <a:stretch>
            <a:fillRect/>
          </a:stretch>
        </p:blipFill>
        <p:spPr>
          <a:xfrm>
            <a:off x="2058467" y="2948026"/>
            <a:ext cx="404165" cy="404165"/>
          </a:xfrm>
          <a:prstGeom prst="rect">
            <a:avLst/>
          </a:prstGeom>
        </p:spPr>
      </p:pic>
      <p:sp>
        <p:nvSpPr>
          <p:cNvPr id="15" name="Text 12"/>
          <p:cNvSpPr/>
          <p:nvPr/>
        </p:nvSpPr>
        <p:spPr>
          <a:xfrm>
            <a:off x="502920" y="36667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Rules / scripts</a:t>
            </a:r>
            <a:endParaRPr lang="en-US" sz="1250" dirty="0"/>
          </a:p>
        </p:txBody>
      </p:sp>
      <p:sp>
        <p:nvSpPr>
          <p:cNvPr id="16" name="Text 13"/>
          <p:cNvSpPr/>
          <p:nvPr/>
        </p:nvSpPr>
        <p:spPr>
          <a:xfrm>
            <a:off x="502920" y="4050792"/>
            <a:ext cx="3515258" cy="17373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Deterministic automation</a:t>
            </a:r>
            <a:endParaRPr lang="en-US" sz="1050" dirty="0"/>
          </a:p>
        </p:txBody>
      </p:sp>
      <p:sp>
        <p:nvSpPr>
          <p:cNvPr id="17" name="Shape 14"/>
          <p:cNvSpPr/>
          <p:nvPr/>
        </p:nvSpPr>
        <p:spPr>
          <a:xfrm>
            <a:off x="5707228" y="2761488"/>
            <a:ext cx="777240" cy="777240"/>
          </a:xfrm>
          <a:prstGeom prst="ellipse">
            <a:avLst/>
          </a:prstGeom>
          <a:solidFill>
            <a:srgbClr val="48587A"/>
          </a:solidFill>
          <a:ln/>
        </p:spPr>
      </p:sp>
      <p:pic>
        <p:nvPicPr>
          <p:cNvPr id="18" name="Image 1" descr="/private/tmp/claude-501/-Users-sai-Work-Office-Teaching/ee8695eb-a8ef-409d-a9ba-c09e44dd9ced/scratchpad/pptx-build/assets/icons/FaCogs.png">    </p:cNvPr>
          <p:cNvPicPr>
            <a:picLocks noChangeAspect="1"/>
          </p:cNvPicPr>
          <p:nvPr/>
        </p:nvPicPr>
        <p:blipFill>
          <a:blip r:embed="rId2"/>
          <a:stretch>
            <a:fillRect/>
          </a:stretch>
        </p:blipFill>
        <p:spPr>
          <a:xfrm>
            <a:off x="5893765" y="2948026"/>
            <a:ext cx="404165" cy="404165"/>
          </a:xfrm>
          <a:prstGeom prst="rect">
            <a:avLst/>
          </a:prstGeom>
        </p:spPr>
      </p:pic>
      <p:sp>
        <p:nvSpPr>
          <p:cNvPr id="19" name="Text 15"/>
          <p:cNvSpPr/>
          <p:nvPr/>
        </p:nvSpPr>
        <p:spPr>
          <a:xfrm>
            <a:off x="4338218" y="36667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ML</a:t>
            </a:r>
            <a:endParaRPr lang="en-US" sz="1250" dirty="0"/>
          </a:p>
        </p:txBody>
      </p:sp>
      <p:sp>
        <p:nvSpPr>
          <p:cNvPr id="20" name="Text 16"/>
          <p:cNvSpPr/>
          <p:nvPr/>
        </p:nvSpPr>
        <p:spPr>
          <a:xfrm>
            <a:off x="4338218" y="4050792"/>
            <a:ext cx="3515258" cy="17373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Statistical / learned models</a:t>
            </a:r>
            <a:endParaRPr lang="en-US" sz="1050" dirty="0"/>
          </a:p>
        </p:txBody>
      </p:sp>
      <p:sp>
        <p:nvSpPr>
          <p:cNvPr id="21" name="Shape 17"/>
          <p:cNvSpPr/>
          <p:nvPr/>
        </p:nvSpPr>
        <p:spPr>
          <a:xfrm>
            <a:off x="9542526" y="2761488"/>
            <a:ext cx="777240" cy="777240"/>
          </a:xfrm>
          <a:prstGeom prst="ellipse">
            <a:avLst/>
          </a:prstGeom>
          <a:solidFill>
            <a:srgbClr val="E8A33D"/>
          </a:solidFill>
          <a:ln/>
        </p:spPr>
      </p:sp>
      <p:pic>
        <p:nvPicPr>
          <p:cNvPr id="22" name="Image 2" descr="/private/tmp/claude-501/-Users-sai-Work-Office-Teaching/ee8695eb-a8ef-409d-a9ba-c09e44dd9ced/scratchpad/pptx-build/assets/icons-dark/FaBolt.png">    </p:cNvPr>
          <p:cNvPicPr>
            <a:picLocks noChangeAspect="1"/>
          </p:cNvPicPr>
          <p:nvPr/>
        </p:nvPicPr>
        <p:blipFill>
          <a:blip r:embed="rId3"/>
          <a:stretch>
            <a:fillRect/>
          </a:stretch>
        </p:blipFill>
        <p:spPr>
          <a:xfrm>
            <a:off x="9729064" y="2948026"/>
            <a:ext cx="404165" cy="404165"/>
          </a:xfrm>
          <a:prstGeom prst="rect">
            <a:avLst/>
          </a:prstGeom>
        </p:spPr>
      </p:pic>
      <p:sp>
        <p:nvSpPr>
          <p:cNvPr id="23" name="Text 18"/>
          <p:cNvSpPr/>
          <p:nvPr/>
        </p:nvSpPr>
        <p:spPr>
          <a:xfrm>
            <a:off x="8173517" y="366674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GenAI</a:t>
            </a:r>
            <a:endParaRPr lang="en-US" sz="1250" dirty="0"/>
          </a:p>
        </p:txBody>
      </p:sp>
      <p:sp>
        <p:nvSpPr>
          <p:cNvPr id="24" name="Text 19"/>
          <p:cNvSpPr/>
          <p:nvPr/>
        </p:nvSpPr>
        <p:spPr>
          <a:xfrm>
            <a:off x="8173517" y="4050792"/>
            <a:ext cx="3515258" cy="17373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Judgment over unstructured input</a:t>
            </a:r>
            <a:endParaRPr lang="en-US" sz="1050" dirty="0"/>
          </a:p>
        </p:txBody>
      </p:sp>
      <p:sp>
        <p:nvSpPr>
          <p:cNvPr id="25" name="Shape 20"/>
          <p:cNvSpPr/>
          <p:nvPr/>
        </p:nvSpPr>
        <p:spPr>
          <a:xfrm>
            <a:off x="502920" y="5276088"/>
            <a:ext cx="11185855" cy="594360"/>
          </a:xfrm>
          <a:prstGeom prst="roundRect">
            <a:avLst>
              <a:gd name="adj" fmla="val 13846"/>
            </a:avLst>
          </a:prstGeom>
          <a:solidFill>
            <a:srgbClr val="FFF4E0"/>
          </a:solidFill>
          <a:ln/>
        </p:spPr>
      </p:sp>
      <p:sp>
        <p:nvSpPr>
          <p:cNvPr id="26" name="Shape 21"/>
          <p:cNvSpPr/>
          <p:nvPr/>
        </p:nvSpPr>
        <p:spPr>
          <a:xfrm>
            <a:off x="502920" y="5276088"/>
            <a:ext cx="82296" cy="594360"/>
          </a:xfrm>
          <a:prstGeom prst="roundRect">
            <a:avLst/>
          </a:prstGeom>
          <a:solidFill>
            <a:srgbClr val="E8A33D"/>
          </a:solidFill>
          <a:ln/>
        </p:spPr>
      </p:sp>
      <p:sp>
        <p:nvSpPr>
          <p:cNvPr id="27" name="Text 22"/>
          <p:cNvSpPr/>
          <p:nvPr/>
        </p:nvSpPr>
        <p:spPr>
          <a:xfrm>
            <a:off x="758952" y="5367528"/>
            <a:ext cx="10728655" cy="41148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none: original framing; if asked live, a spreadsheet-formulas example makes a good second "tool in the kit" analogy.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F1</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A Simple 2×2 for Deciding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Well-defined vs. ambiguous · Structured vs. unstructured I/O</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1920240" y="1709928"/>
            <a:ext cx="4884268"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Structured I/O</a:t>
            </a:r>
            <a:endParaRPr lang="en-US" sz="1200" dirty="0"/>
          </a:p>
        </p:txBody>
      </p:sp>
      <p:sp>
        <p:nvSpPr>
          <p:cNvPr id="13" name="Text 11"/>
          <p:cNvSpPr/>
          <p:nvPr/>
        </p:nvSpPr>
        <p:spPr>
          <a:xfrm>
            <a:off x="6804508" y="1709928"/>
            <a:ext cx="4884268" cy="457200"/>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Unstructured I/O</a:t>
            </a:r>
            <a:endParaRPr lang="en-US" sz="1200" dirty="0"/>
          </a:p>
        </p:txBody>
      </p:sp>
      <p:sp>
        <p:nvSpPr>
          <p:cNvPr id="14" name="Text 12"/>
          <p:cNvSpPr/>
          <p:nvPr/>
        </p:nvSpPr>
        <p:spPr>
          <a:xfrm>
            <a:off x="502920" y="2167128"/>
            <a:ext cx="1325880" cy="1851660"/>
          </a:xfrm>
          <a:prstGeom prst="rect">
            <a:avLst/>
          </a:prstGeom>
          <a:noFill/>
          <a:ln/>
        </p:spPr>
        <p:txBody>
          <a:bodyPr wrap="square" lIns="0" tIns="0" rIns="0" bIns="0" rtlCol="0" anchor="ctr">
            <a:normAutofit/>
          </a:bodyPr>
          <a:lstStyle/>
          <a:p>
            <a:pPr algn="r" indent="0" marL="0">
              <a:buNone/>
            </a:pPr>
            <a:r>
              <a:rPr lang="en-US" sz="1150" b="1" dirty="0">
                <a:solidFill>
                  <a:srgbClr val="1E2761"/>
                </a:solidFill>
                <a:latin typeface="Calibri" pitchFamily="34" charset="0"/>
                <a:ea typeface="Calibri" pitchFamily="34" charset="-122"/>
                <a:cs typeface="Calibri" pitchFamily="34" charset="-120"/>
              </a:rPr>
              <a:t>Well-defined,</a:t>
            </a:r>
            <a:endParaRPr lang="en-US" sz="1150" dirty="0"/>
          </a:p>
          <a:p>
            <a:pPr algn="r" indent="0" marL="0">
              <a:buNone/>
            </a:pPr>
            <a:r>
              <a:rPr lang="en-US" sz="1150" b="1" dirty="0">
                <a:solidFill>
                  <a:srgbClr val="1E2761"/>
                </a:solidFill>
                <a:latin typeface="Calibri" pitchFamily="34" charset="0"/>
                <a:ea typeface="Calibri" pitchFamily="34" charset="-122"/>
                <a:cs typeface="Calibri" pitchFamily="34" charset="-120"/>
              </a:rPr>
              <a:t>repeatable</a:t>
            </a:r>
            <a:endParaRPr lang="en-US" sz="1150" dirty="0"/>
          </a:p>
        </p:txBody>
      </p:sp>
      <p:sp>
        <p:nvSpPr>
          <p:cNvPr id="15" name="Text 13"/>
          <p:cNvSpPr/>
          <p:nvPr/>
        </p:nvSpPr>
        <p:spPr>
          <a:xfrm>
            <a:off x="502920" y="4018788"/>
            <a:ext cx="1325880" cy="1851660"/>
          </a:xfrm>
          <a:prstGeom prst="rect">
            <a:avLst/>
          </a:prstGeom>
          <a:noFill/>
          <a:ln/>
        </p:spPr>
        <p:txBody>
          <a:bodyPr wrap="square" lIns="0" tIns="0" rIns="0" bIns="0" rtlCol="0" anchor="ctr">
            <a:normAutofit/>
          </a:bodyPr>
          <a:lstStyle/>
          <a:p>
            <a:pPr algn="r" indent="0" marL="0">
              <a:buNone/>
            </a:pPr>
            <a:r>
              <a:rPr lang="en-US" sz="1150" b="1" dirty="0">
                <a:solidFill>
                  <a:srgbClr val="1E2761"/>
                </a:solidFill>
                <a:latin typeface="Calibri" pitchFamily="34" charset="0"/>
                <a:ea typeface="Calibri" pitchFamily="34" charset="-122"/>
                <a:cs typeface="Calibri" pitchFamily="34" charset="-120"/>
              </a:rPr>
              <a:t>Ambiguous,</a:t>
            </a:r>
            <a:endParaRPr lang="en-US" sz="1150" dirty="0"/>
          </a:p>
          <a:p>
            <a:pPr algn="r" indent="0" marL="0">
              <a:buNone/>
            </a:pPr>
            <a:r>
              <a:rPr lang="en-US" sz="1150" b="1" dirty="0">
                <a:solidFill>
                  <a:srgbClr val="1E2761"/>
                </a:solidFill>
                <a:latin typeface="Calibri" pitchFamily="34" charset="0"/>
                <a:ea typeface="Calibri" pitchFamily="34" charset="-122"/>
                <a:cs typeface="Calibri" pitchFamily="34" charset="-120"/>
              </a:rPr>
              <a:t>judgment-</a:t>
            </a:r>
            <a:endParaRPr lang="en-US" sz="1150" dirty="0"/>
          </a:p>
          <a:p>
            <a:pPr algn="r" indent="0" marL="0">
              <a:buNone/>
            </a:pPr>
            <a:r>
              <a:rPr lang="en-US" sz="1150" b="1" dirty="0">
                <a:solidFill>
                  <a:srgbClr val="1E2761"/>
                </a:solidFill>
                <a:latin typeface="Calibri" pitchFamily="34" charset="0"/>
                <a:ea typeface="Calibri" pitchFamily="34" charset="-122"/>
                <a:cs typeface="Calibri" pitchFamily="34" charset="-120"/>
              </a:rPr>
              <a:t>dependent</a:t>
            </a:r>
            <a:endParaRPr lang="en-US" sz="1150" dirty="0"/>
          </a:p>
        </p:txBody>
      </p:sp>
      <p:sp>
        <p:nvSpPr>
          <p:cNvPr id="16" name="Shape 14"/>
          <p:cNvSpPr/>
          <p:nvPr/>
        </p:nvSpPr>
        <p:spPr>
          <a:xfrm>
            <a:off x="2002536" y="2249424"/>
            <a:ext cx="4719676" cy="1687068"/>
          </a:xfrm>
          <a:prstGeom prst="roundRect">
            <a:avLst>
              <a:gd name="adj" fmla="val 4878"/>
            </a:avLst>
          </a:prstGeom>
          <a:solidFill>
            <a:srgbClr val="1E2761"/>
          </a:solidFill>
          <a:ln/>
        </p:spPr>
      </p:sp>
      <p:sp>
        <p:nvSpPr>
          <p:cNvPr id="17" name="Text 15"/>
          <p:cNvSpPr/>
          <p:nvPr/>
        </p:nvSpPr>
        <p:spPr>
          <a:xfrm>
            <a:off x="2148840" y="2359152"/>
            <a:ext cx="4427068" cy="1467612"/>
          </a:xfrm>
          <a:prstGeom prst="rect">
            <a:avLst/>
          </a:prstGeom>
          <a:noFill/>
          <a:ln/>
        </p:spPr>
        <p:txBody>
          <a:bodyPr wrap="square" lIns="0" tIns="0" rIns="0" bIns="0" rtlCol="0" anchor="ctr">
            <a:normAutofit/>
          </a:bodyP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Deterministic rule / script</a:t>
            </a:r>
            <a:endParaRPr lang="en-US" sz="15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[DRAFT: real, checked finance example; highest-priority draft in the deck]</a:t>
            </a:r>
            <a:endParaRPr lang="en-US" sz="1500" dirty="0"/>
          </a:p>
        </p:txBody>
      </p:sp>
      <p:sp>
        <p:nvSpPr>
          <p:cNvPr id="18" name="Shape 16"/>
          <p:cNvSpPr/>
          <p:nvPr/>
        </p:nvSpPr>
        <p:spPr>
          <a:xfrm>
            <a:off x="6886804" y="2249424"/>
            <a:ext cx="4719676" cy="1687068"/>
          </a:xfrm>
          <a:prstGeom prst="roundRect">
            <a:avLst>
              <a:gd name="adj" fmla="val 4878"/>
            </a:avLst>
          </a:prstGeom>
          <a:solidFill>
            <a:srgbClr val="48587A"/>
          </a:solidFill>
          <a:ln/>
        </p:spPr>
      </p:sp>
      <p:sp>
        <p:nvSpPr>
          <p:cNvPr id="19" name="Text 17"/>
          <p:cNvSpPr/>
          <p:nvPr/>
        </p:nvSpPr>
        <p:spPr>
          <a:xfrm>
            <a:off x="7033108" y="2359152"/>
            <a:ext cx="4427068" cy="1467612"/>
          </a:xfrm>
          <a:prstGeom prst="rect">
            <a:avLst/>
          </a:prstGeom>
          <a:noFill/>
          <a:ln/>
        </p:spPr>
        <p:txBody>
          <a:bodyPr wrap="square" lIns="0" tIns="0" rIns="0" bIns="0" rtlCol="0" anchor="ctr">
            <a:normAutofit/>
          </a:bodyP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Classic NLP / ML classification</a:t>
            </a:r>
            <a:endParaRPr lang="en-US" sz="15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[DRAFT: real, checked finance example]</a:t>
            </a:r>
            <a:endParaRPr lang="en-US" sz="1500" dirty="0"/>
          </a:p>
        </p:txBody>
      </p:sp>
      <p:sp>
        <p:nvSpPr>
          <p:cNvPr id="20" name="Shape 18"/>
          <p:cNvSpPr/>
          <p:nvPr/>
        </p:nvSpPr>
        <p:spPr>
          <a:xfrm>
            <a:off x="2002536" y="4101084"/>
            <a:ext cx="4719676" cy="1687068"/>
          </a:xfrm>
          <a:prstGeom prst="roundRect">
            <a:avLst>
              <a:gd name="adj" fmla="val 4878"/>
            </a:avLst>
          </a:prstGeom>
          <a:solidFill>
            <a:srgbClr val="48587A"/>
          </a:solidFill>
          <a:ln/>
        </p:spPr>
      </p:sp>
      <p:sp>
        <p:nvSpPr>
          <p:cNvPr id="21" name="Text 19"/>
          <p:cNvSpPr/>
          <p:nvPr/>
        </p:nvSpPr>
        <p:spPr>
          <a:xfrm>
            <a:off x="2148840" y="4210812"/>
            <a:ext cx="4427068" cy="1467612"/>
          </a:xfrm>
          <a:prstGeom prst="rect">
            <a:avLst/>
          </a:prstGeom>
          <a:noFill/>
          <a:ln/>
        </p:spPr>
        <p:txBody>
          <a:bodyPr wrap="square" lIns="0" tIns="0" rIns="0" bIns="0" rtlCol="0" anchor="ctr">
            <a:normAutofit/>
          </a:bodyPr>
          <a:lstStyle/>
          <a:p>
            <a:pPr indent="0" marL="0">
              <a:spcAft>
                <a:spcPts val="600"/>
              </a:spcAft>
              <a:buNone/>
            </a:pPr>
            <a:r>
              <a:rPr lang="en-US" sz="1500" b="1" dirty="0">
                <a:solidFill>
                  <a:srgbClr val="FFFFFF"/>
                </a:solidFill>
                <a:latin typeface="Calibri" pitchFamily="34" charset="0"/>
                <a:ea typeface="Calibri" pitchFamily="34" charset="-122"/>
                <a:cs typeface="Calibri" pitchFamily="34" charset="-120"/>
              </a:rPr>
              <a:t>Statistical model + human review</a:t>
            </a:r>
            <a:endParaRPr lang="en-US" sz="1500" dirty="0"/>
          </a:p>
          <a:p>
            <a:pPr indent="0" marL="0">
              <a:spcAft>
                <a:spcPts val="600"/>
              </a:spcAft>
              <a:buNone/>
            </a:pPr>
            <a:r>
              <a:rPr lang="en-US" sz="1200" dirty="0">
                <a:solidFill>
                  <a:srgbClr val="FFFFFF"/>
                </a:solidFill>
                <a:latin typeface="Calibri" pitchFamily="34" charset="0"/>
                <a:ea typeface="Calibri" pitchFamily="34" charset="-122"/>
                <a:cs typeface="Calibri" pitchFamily="34" charset="-120"/>
              </a:rPr>
              <a:t>[DRAFT: real, checked finance example]</a:t>
            </a:r>
            <a:endParaRPr lang="en-US" sz="1500" dirty="0"/>
          </a:p>
        </p:txBody>
      </p:sp>
      <p:sp>
        <p:nvSpPr>
          <p:cNvPr id="22" name="Shape 20"/>
          <p:cNvSpPr/>
          <p:nvPr/>
        </p:nvSpPr>
        <p:spPr>
          <a:xfrm>
            <a:off x="6886804" y="4101084"/>
            <a:ext cx="4719676" cy="1687068"/>
          </a:xfrm>
          <a:prstGeom prst="roundRect">
            <a:avLst>
              <a:gd name="adj" fmla="val 4878"/>
            </a:avLst>
          </a:prstGeom>
          <a:solidFill>
            <a:srgbClr val="E8A33D"/>
          </a:solidFill>
          <a:ln/>
          <a:effectLst>
            <a:outerShdw sx="100000" sy="100000" kx="0" ky="0" algn="bl" rotWithShape="0" blurRad="76200" dist="25400" dir="5400000">
              <a:srgbClr val="1E2761">
                <a:alpha val="16000"/>
              </a:srgbClr>
            </a:outerShdw>
          </a:effectLst>
        </p:spPr>
      </p:sp>
      <p:sp>
        <p:nvSpPr>
          <p:cNvPr id="23" name="Text 21"/>
          <p:cNvSpPr/>
          <p:nvPr/>
        </p:nvSpPr>
        <p:spPr>
          <a:xfrm>
            <a:off x="7033108" y="4210812"/>
            <a:ext cx="4427068" cy="1467612"/>
          </a:xfrm>
          <a:prstGeom prst="rect">
            <a:avLst/>
          </a:prstGeom>
          <a:noFill/>
          <a:ln/>
        </p:spPr>
        <p:txBody>
          <a:bodyPr wrap="square" lIns="0" tIns="0" rIns="0" bIns="0" rtlCol="0" anchor="ctr">
            <a:normAutofit/>
          </a:bodyPr>
          <a:lstStyle/>
          <a:p>
            <a:pPr indent="0" marL="0">
              <a:spcAft>
                <a:spcPts val="600"/>
              </a:spcAft>
              <a:buNone/>
            </a:pPr>
            <a:r>
              <a:rPr lang="en-US" sz="1500" b="1" dirty="0">
                <a:solidFill>
                  <a:srgbClr val="141B45"/>
                </a:solidFill>
                <a:latin typeface="Calibri" pitchFamily="34" charset="0"/>
                <a:ea typeface="Calibri" pitchFamily="34" charset="-122"/>
                <a:cs typeface="Calibri" pitchFamily="34" charset="-120"/>
              </a:rPr>
              <a:t>GenAI</a:t>
            </a:r>
            <a:endParaRPr lang="en-US" sz="1500" dirty="0"/>
          </a:p>
          <a:p>
            <a:pPr indent="0" marL="0">
              <a:spcAft>
                <a:spcPts val="600"/>
              </a:spcAft>
              <a:buNone/>
            </a:pPr>
            <a:r>
              <a:rPr lang="en-US" sz="1200" dirty="0">
                <a:solidFill>
                  <a:srgbClr val="141B45"/>
                </a:solidFill>
                <a:latin typeface="Calibri" pitchFamily="34" charset="0"/>
                <a:ea typeface="Calibri" pitchFamily="34" charset="-122"/>
                <a:cs typeface="Calibri" pitchFamily="34" charset="-120"/>
              </a:rPr>
              <a:t>[DRAFT: real, checked finance example]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0241280" y="5120640"/>
            <a:ext cx="3291840" cy="3291840"/>
          </a:xfrm>
          <a:prstGeom prst="ellipse">
            <a:avLst/>
          </a:prstGeom>
          <a:solidFill>
            <a:srgbClr val="1E2761"/>
          </a:solidFill>
          <a:ln/>
        </p:spPr>
      </p:sp>
      <p:sp>
        <p:nvSpPr>
          <p:cNvPr id="3" name="Text 1"/>
          <p:cNvSpPr/>
          <p:nvPr/>
        </p:nvSpPr>
        <p:spPr>
          <a:xfrm>
            <a:off x="1097280" y="2331720"/>
            <a:ext cx="9997135"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Frame the problem before you pick the tool.</a:t>
            </a:r>
            <a:endParaRPr lang="en-US" sz="3400" dirty="0"/>
          </a:p>
        </p:txBody>
      </p:sp>
      <p:sp>
        <p:nvSpPr>
          <p:cNvPr id="4" name="Text 2"/>
          <p:cNvSpPr/>
          <p:nvPr/>
        </p:nvSpPr>
        <p:spPr>
          <a:xfrm>
            <a:off x="1463040" y="3794760"/>
            <a:ext cx="9265615" cy="731520"/>
          </a:xfrm>
          <a:prstGeom prst="rect">
            <a:avLst/>
          </a:prstGeom>
          <a:noFill/>
          <a:ln/>
        </p:spPr>
        <p:txBody>
          <a:bodyPr wrap="square" lIns="0" tIns="0" rIns="0" bIns="0" rtlCol="0" anchor="t"/>
          <a:lstStyle/>
          <a:p>
            <a:pPr algn="ctr" indent="0" marL="0">
              <a:buNone/>
            </a:pPr>
            <a:r>
              <a:rPr lang="en-US" sz="1500" i="1" dirty="0">
                <a:solidFill>
                  <a:srgbClr val="CADCFC"/>
                </a:solidFill>
                <a:latin typeface="Calibri" pitchFamily="34" charset="0"/>
                <a:ea typeface="Calibri" pitchFamily="34" charset="-122"/>
                <a:cs typeface="Calibri" pitchFamily="34" charset="-120"/>
              </a:rPr>
              <a:t>Keep this in your head through the rest of the series.</a:t>
            </a:r>
            <a:endParaRPr lang="en-US" sz="150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From Rules to Probabilities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actually changed between traditional AI/ML and GenAI</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4160520"/>
          </a:xfrm>
          <a:prstGeom prst="roundRect">
            <a:avLst>
              <a:gd name="adj" fmla="val 1978"/>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Traditional AI / ML</a:t>
            </a:r>
            <a:endParaRPr lang="en-US" sz="1450" dirty="0"/>
          </a:p>
        </p:txBody>
      </p:sp>
      <p:sp>
        <p:nvSpPr>
          <p:cNvPr id="16" name="Text 14"/>
          <p:cNvSpPr/>
          <p:nvPr/>
        </p:nvSpPr>
        <p:spPr>
          <a:xfrm>
            <a:off x="704088" y="2313432"/>
            <a:ext cx="4961992" cy="3429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Fixed decision boundary</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Narrow, bounded output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Same input → same output, every time</a:t>
            </a:r>
            <a:endParaRPr lang="en-US" sz="1450" dirty="0"/>
          </a:p>
        </p:txBody>
      </p:sp>
      <p:sp>
        <p:nvSpPr>
          <p:cNvPr id="17" name="Shape 15"/>
          <p:cNvSpPr/>
          <p:nvPr/>
        </p:nvSpPr>
        <p:spPr>
          <a:xfrm>
            <a:off x="6324448" y="1709928"/>
            <a:ext cx="5364328" cy="4160520"/>
          </a:xfrm>
          <a:prstGeom prst="roundRect">
            <a:avLst>
              <a:gd name="adj" fmla="val 1978"/>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E8A33D"/>
          </a:solidFill>
          <a:ln/>
        </p:spPr>
      </p:sp>
      <p:sp>
        <p:nvSpPr>
          <p:cNvPr id="19" name="Shape 17"/>
          <p:cNvSpPr/>
          <p:nvPr/>
        </p:nvSpPr>
        <p:spPr>
          <a:xfrm>
            <a:off x="6324448" y="1965960"/>
            <a:ext cx="5364328" cy="201168"/>
          </a:xfrm>
          <a:prstGeom prst="rect">
            <a:avLst/>
          </a:prstGeom>
          <a:solidFill>
            <a:srgbClr val="E8A33D"/>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141B45"/>
                </a:solidFill>
                <a:latin typeface="Calibri" pitchFamily="34" charset="0"/>
                <a:ea typeface="Calibri" pitchFamily="34" charset="-122"/>
                <a:cs typeface="Calibri" pitchFamily="34" charset="-120"/>
              </a:rPr>
              <a:t>GenAI</a:t>
            </a:r>
            <a:endParaRPr lang="en-US" sz="1450" dirty="0"/>
          </a:p>
        </p:txBody>
      </p:sp>
      <p:sp>
        <p:nvSpPr>
          <p:cNvPr id="21" name="Text 19"/>
          <p:cNvSpPr/>
          <p:nvPr/>
        </p:nvSpPr>
        <p:spPr>
          <a:xfrm>
            <a:off x="6525616" y="2313432"/>
            <a:ext cx="4961992" cy="342900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Samples from a probability distribution</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Broad, generative output</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Same input → similar, not identical, output</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 Is AI,' in 60 Seconds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 fast anchor, not a full lecture</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434808" y="1920240"/>
            <a:ext cx="658368" cy="658368"/>
          </a:xfrm>
          <a:prstGeom prst="ellipse">
            <a:avLst/>
          </a:prstGeom>
          <a:solidFill>
            <a:srgbClr val="1E2761"/>
          </a:solidFill>
          <a:ln/>
        </p:spPr>
      </p:sp>
      <p:pic>
        <p:nvPicPr>
          <p:cNvPr id="13" name="Image 0" descr="/private/tmp/claude-501/-Users-sai-Work-Office-Teaching/ee8695eb-a8ef-409d-a9ba-c09e44dd9ced/scratchpad/pptx-build/assets/icons/FaListOl.png">    </p:cNvPr>
          <p:cNvPicPr>
            <a:picLocks noChangeAspect="1"/>
          </p:cNvPicPr>
          <p:nvPr/>
        </p:nvPicPr>
        <p:blipFill>
          <a:blip r:embed="rId1"/>
          <a:stretch>
            <a:fillRect/>
          </a:stretch>
        </p:blipFill>
        <p:spPr>
          <a:xfrm>
            <a:off x="1592816" y="2078248"/>
            <a:ext cx="342351" cy="342351"/>
          </a:xfrm>
          <a:prstGeom prst="rect">
            <a:avLst/>
          </a:prstGeom>
        </p:spPr>
      </p:pic>
      <p:sp>
        <p:nvSpPr>
          <p:cNvPr id="14" name="Text 11"/>
          <p:cNvSpPr/>
          <p:nvPr/>
        </p:nvSpPr>
        <p:spPr>
          <a:xfrm>
            <a:off x="502920" y="2706624"/>
            <a:ext cx="2522144"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Rule-based systems</a:t>
            </a:r>
            <a:endParaRPr lang="en-US" sz="1250" dirty="0"/>
          </a:p>
        </p:txBody>
      </p:sp>
      <p:sp>
        <p:nvSpPr>
          <p:cNvPr id="15" name="Shape 12"/>
          <p:cNvSpPr/>
          <p:nvPr/>
        </p:nvSpPr>
        <p:spPr>
          <a:xfrm>
            <a:off x="3061640" y="2176272"/>
            <a:ext cx="292608" cy="146304"/>
          </a:xfrm>
          <a:prstGeom prst="rightArrow">
            <a:avLst/>
          </a:prstGeom>
          <a:solidFill>
            <a:srgbClr val="48587A"/>
          </a:solidFill>
          <a:ln/>
        </p:spPr>
      </p:sp>
      <p:sp>
        <p:nvSpPr>
          <p:cNvPr id="16" name="Shape 13"/>
          <p:cNvSpPr/>
          <p:nvPr/>
        </p:nvSpPr>
        <p:spPr>
          <a:xfrm>
            <a:off x="4322712" y="1920240"/>
            <a:ext cx="658368" cy="658368"/>
          </a:xfrm>
          <a:prstGeom prst="ellipse">
            <a:avLst/>
          </a:prstGeom>
          <a:solidFill>
            <a:srgbClr val="1E2761"/>
          </a:solidFill>
          <a:ln/>
        </p:spPr>
      </p:sp>
      <p:pic>
        <p:nvPicPr>
          <p:cNvPr id="17" name="Image 1" descr="/private/tmp/claude-501/-Users-sai-Work-Office-Teaching/ee8695eb-a8ef-409d-a9ba-c09e44dd9ced/scratchpad/pptx-build/assets/icons/FaCogs.png">    </p:cNvPr>
          <p:cNvPicPr>
            <a:picLocks noChangeAspect="1"/>
          </p:cNvPicPr>
          <p:nvPr/>
        </p:nvPicPr>
        <p:blipFill>
          <a:blip r:embed="rId2"/>
          <a:stretch>
            <a:fillRect/>
          </a:stretch>
        </p:blipFill>
        <p:spPr>
          <a:xfrm>
            <a:off x="4480720" y="2078248"/>
            <a:ext cx="342351" cy="342351"/>
          </a:xfrm>
          <a:prstGeom prst="rect">
            <a:avLst/>
          </a:prstGeom>
        </p:spPr>
      </p:pic>
      <p:sp>
        <p:nvSpPr>
          <p:cNvPr id="18" name="Text 14"/>
          <p:cNvSpPr/>
          <p:nvPr/>
        </p:nvSpPr>
        <p:spPr>
          <a:xfrm>
            <a:off x="3390824" y="2706624"/>
            <a:ext cx="2522144"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Machine learning</a:t>
            </a:r>
            <a:endParaRPr lang="en-US" sz="1250" dirty="0"/>
          </a:p>
        </p:txBody>
      </p:sp>
      <p:sp>
        <p:nvSpPr>
          <p:cNvPr id="19" name="Shape 15"/>
          <p:cNvSpPr/>
          <p:nvPr/>
        </p:nvSpPr>
        <p:spPr>
          <a:xfrm>
            <a:off x="5949544" y="2176272"/>
            <a:ext cx="292608" cy="146304"/>
          </a:xfrm>
          <a:prstGeom prst="rightArrow">
            <a:avLst/>
          </a:prstGeom>
          <a:solidFill>
            <a:srgbClr val="48587A"/>
          </a:solidFill>
          <a:ln/>
        </p:spPr>
      </p:sp>
      <p:sp>
        <p:nvSpPr>
          <p:cNvPr id="20" name="Shape 16"/>
          <p:cNvSpPr/>
          <p:nvPr/>
        </p:nvSpPr>
        <p:spPr>
          <a:xfrm>
            <a:off x="7210616" y="1920240"/>
            <a:ext cx="658368" cy="658368"/>
          </a:xfrm>
          <a:prstGeom prst="ellipse">
            <a:avLst/>
          </a:prstGeom>
          <a:solidFill>
            <a:srgbClr val="1E2761"/>
          </a:solidFill>
          <a:ln/>
        </p:spPr>
      </p:sp>
      <p:pic>
        <p:nvPicPr>
          <p:cNvPr id="21" name="Image 2" descr="/private/tmp/claude-501/-Users-sai-Work-Office-Teaching/ee8695eb-a8ef-409d-a9ba-c09e44dd9ced/scratchpad/pptx-build/assets/icons/FaProjectDiagram.png">    </p:cNvPr>
          <p:cNvPicPr>
            <a:picLocks noChangeAspect="1"/>
          </p:cNvPicPr>
          <p:nvPr/>
        </p:nvPicPr>
        <p:blipFill>
          <a:blip r:embed="rId3"/>
          <a:stretch>
            <a:fillRect/>
          </a:stretch>
        </p:blipFill>
        <p:spPr>
          <a:xfrm>
            <a:off x="7368624" y="2078248"/>
            <a:ext cx="342351" cy="342351"/>
          </a:xfrm>
          <a:prstGeom prst="rect">
            <a:avLst/>
          </a:prstGeom>
        </p:spPr>
      </p:pic>
      <p:sp>
        <p:nvSpPr>
          <p:cNvPr id="22" name="Text 17"/>
          <p:cNvSpPr/>
          <p:nvPr/>
        </p:nvSpPr>
        <p:spPr>
          <a:xfrm>
            <a:off x="6278728" y="2706624"/>
            <a:ext cx="2522144"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Deep learning</a:t>
            </a:r>
            <a:endParaRPr lang="en-US" sz="1250" dirty="0"/>
          </a:p>
        </p:txBody>
      </p:sp>
      <p:sp>
        <p:nvSpPr>
          <p:cNvPr id="23" name="Shape 18"/>
          <p:cNvSpPr/>
          <p:nvPr/>
        </p:nvSpPr>
        <p:spPr>
          <a:xfrm>
            <a:off x="8837447" y="2176272"/>
            <a:ext cx="292608" cy="146304"/>
          </a:xfrm>
          <a:prstGeom prst="rightArrow">
            <a:avLst/>
          </a:prstGeom>
          <a:solidFill>
            <a:srgbClr val="48587A"/>
          </a:solidFill>
          <a:ln/>
        </p:spPr>
      </p:sp>
      <p:sp>
        <p:nvSpPr>
          <p:cNvPr id="24" name="Shape 19"/>
          <p:cNvSpPr/>
          <p:nvPr/>
        </p:nvSpPr>
        <p:spPr>
          <a:xfrm>
            <a:off x="10098519" y="1920240"/>
            <a:ext cx="658368" cy="658368"/>
          </a:xfrm>
          <a:prstGeom prst="ellipse">
            <a:avLst/>
          </a:prstGeom>
          <a:solidFill>
            <a:srgbClr val="E8A33D"/>
          </a:solidFill>
          <a:ln/>
        </p:spPr>
      </p:sp>
      <p:pic>
        <p:nvPicPr>
          <p:cNvPr id="25" name="Image 3" descr="/private/tmp/claude-501/-Users-sai-Work-Office-Teaching/ee8695eb-a8ef-409d-a9ba-c09e44dd9ced/scratchpad/pptx-build/assets/icons-dark/FaBolt.png">    </p:cNvPr>
          <p:cNvPicPr>
            <a:picLocks noChangeAspect="1"/>
          </p:cNvPicPr>
          <p:nvPr/>
        </p:nvPicPr>
        <p:blipFill>
          <a:blip r:embed="rId4"/>
          <a:stretch>
            <a:fillRect/>
          </a:stretch>
        </p:blipFill>
        <p:spPr>
          <a:xfrm>
            <a:off x="10256528" y="2078248"/>
            <a:ext cx="342351" cy="342351"/>
          </a:xfrm>
          <a:prstGeom prst="rect">
            <a:avLst/>
          </a:prstGeom>
        </p:spPr>
      </p:pic>
      <p:sp>
        <p:nvSpPr>
          <p:cNvPr id="26" name="Text 20"/>
          <p:cNvSpPr/>
          <p:nvPr/>
        </p:nvSpPr>
        <p:spPr>
          <a:xfrm>
            <a:off x="9166631" y="2706624"/>
            <a:ext cx="2522144"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Generative AI</a:t>
            </a:r>
            <a:endParaRPr lang="en-US" sz="1350" dirty="0"/>
          </a:p>
        </p:txBody>
      </p:sp>
      <p:sp>
        <p:nvSpPr>
          <p:cNvPr id="27" name="Text 21"/>
          <p:cNvSpPr/>
          <p:nvPr/>
        </p:nvSpPr>
        <p:spPr>
          <a:xfrm>
            <a:off x="502920" y="5349240"/>
            <a:ext cx="11185855" cy="54864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AI = software doing tasks that normally need human intelligence: recognizing patterns, predicting, generating.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F2</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Why Now</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What changed to get from prediction to generation-and-reasoning</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Text 10"/>
          <p:cNvSpPr/>
          <p:nvPr/>
        </p:nvSpPr>
        <p:spPr>
          <a:xfrm>
            <a:off x="502920" y="1709928"/>
            <a:ext cx="11185855" cy="1005840"/>
          </a:xfrm>
          <a:prstGeom prst="rect">
            <a:avLst/>
          </a:prstGeom>
          <a:noFill/>
          <a:ln/>
        </p:spPr>
        <p:txBody>
          <a:bodyPr wrap="square" lIns="0" tIns="0" rIns="0" bIns="0" rtlCol="0" anchor="t"/>
          <a:lstStyle/>
          <a:p>
            <a:pPr marL="228600" indent="-228600">
              <a:spcAft>
                <a:spcPts val="1000"/>
              </a:spcAft>
              <a:buSzPct val="100000"/>
              <a:buChar char="•"/>
            </a:pPr>
            <a:r>
              <a:rPr lang="en-US" sz="1450" b="1" dirty="0">
                <a:solidFill>
                  <a:srgbClr val="1A1F36"/>
                </a:solidFill>
                <a:latin typeface="Calibri" pitchFamily="34" charset="0"/>
                <a:ea typeface="Calibri" pitchFamily="34" charset="-122"/>
                <a:cs typeface="Calibri" pitchFamily="34" charset="-120"/>
              </a:rPr>
              <a:t>Bigger models + more data + more compute → models that generalize, not just predict</a:t>
            </a:r>
            <a:endParaRPr lang="en-US" sz="1450" dirty="0"/>
          </a:p>
          <a:p>
            <a:pPr marL="228600" indent="-228600">
              <a:spcAft>
                <a:spcPts val="1000"/>
              </a:spcAft>
              <a:buSzPct val="100000"/>
              <a:buChar char="•"/>
            </a:pPr>
            <a:r>
              <a:rPr lang="en-US" sz="1450" dirty="0">
                <a:solidFill>
                  <a:srgbClr val="1A1F36"/>
                </a:solidFill>
                <a:latin typeface="Calibri" pitchFamily="34" charset="0"/>
                <a:ea typeface="Calibri" pitchFamily="34" charset="-122"/>
                <a:cs typeface="Calibri" pitchFamily="34" charset="-120"/>
              </a:rPr>
              <a:t>The shift: from "classify this" to "generate and reason about this"</a:t>
            </a:r>
            <a:endParaRPr lang="en-US" sz="1450" dirty="0"/>
          </a:p>
        </p:txBody>
      </p:sp>
      <p:sp>
        <p:nvSpPr>
          <p:cNvPr id="13" name="Shape 11"/>
          <p:cNvSpPr/>
          <p:nvPr/>
        </p:nvSpPr>
        <p:spPr>
          <a:xfrm>
            <a:off x="1916125" y="3904488"/>
            <a:ext cx="658368" cy="658368"/>
          </a:xfrm>
          <a:prstGeom prst="ellipse">
            <a:avLst/>
          </a:prstGeom>
          <a:solidFill>
            <a:srgbClr val="1E2761"/>
          </a:solidFill>
          <a:ln/>
        </p:spPr>
      </p:sp>
      <p:pic>
        <p:nvPicPr>
          <p:cNvPr id="14" name="Image 0" descr="/private/tmp/claude-501/-Users-sai-Work-Office-Teaching/ee8695eb-a8ef-409d-a9ba-c09e44dd9ced/scratchpad/pptx-build/assets/icons/FaChartLine.png">    </p:cNvPr>
          <p:cNvPicPr>
            <a:picLocks noChangeAspect="1"/>
          </p:cNvPicPr>
          <p:nvPr/>
        </p:nvPicPr>
        <p:blipFill>
          <a:blip r:embed="rId1"/>
          <a:stretch>
            <a:fillRect/>
          </a:stretch>
        </p:blipFill>
        <p:spPr>
          <a:xfrm>
            <a:off x="2074134" y="4062496"/>
            <a:ext cx="342351" cy="342351"/>
          </a:xfrm>
          <a:prstGeom prst="rect">
            <a:avLst/>
          </a:prstGeom>
        </p:spPr>
      </p:pic>
      <p:sp>
        <p:nvSpPr>
          <p:cNvPr id="15" name="Text 12"/>
          <p:cNvSpPr/>
          <p:nvPr/>
        </p:nvSpPr>
        <p:spPr>
          <a:xfrm>
            <a:off x="502920" y="469087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Scale</a:t>
            </a:r>
            <a:endParaRPr lang="en-US" sz="1250" dirty="0"/>
          </a:p>
        </p:txBody>
      </p:sp>
      <p:sp>
        <p:nvSpPr>
          <p:cNvPr id="16" name="Text 13"/>
          <p:cNvSpPr/>
          <p:nvPr/>
        </p:nvSpPr>
        <p:spPr>
          <a:xfrm>
            <a:off x="502920" y="5129784"/>
            <a:ext cx="3484778" cy="51206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Model size, data, compute</a:t>
            </a:r>
            <a:endParaRPr lang="en-US" sz="1000" dirty="0"/>
          </a:p>
        </p:txBody>
      </p:sp>
      <p:sp>
        <p:nvSpPr>
          <p:cNvPr id="17" name="Shape 14"/>
          <p:cNvSpPr/>
          <p:nvPr/>
        </p:nvSpPr>
        <p:spPr>
          <a:xfrm>
            <a:off x="4024274" y="4160520"/>
            <a:ext cx="292608" cy="146304"/>
          </a:xfrm>
          <a:prstGeom prst="rightArrow">
            <a:avLst/>
          </a:prstGeom>
          <a:solidFill>
            <a:srgbClr val="48587A"/>
          </a:solidFill>
          <a:ln/>
        </p:spPr>
      </p:sp>
      <p:sp>
        <p:nvSpPr>
          <p:cNvPr id="18" name="Shape 15"/>
          <p:cNvSpPr/>
          <p:nvPr/>
        </p:nvSpPr>
        <p:spPr>
          <a:xfrm>
            <a:off x="5766664" y="3904488"/>
            <a:ext cx="658368" cy="658368"/>
          </a:xfrm>
          <a:prstGeom prst="ellipse">
            <a:avLst/>
          </a:prstGeom>
          <a:solidFill>
            <a:srgbClr val="1E2761"/>
          </a:solidFill>
          <a:ln/>
        </p:spPr>
      </p:sp>
      <p:pic>
        <p:nvPicPr>
          <p:cNvPr id="19" name="Image 1" descr="/private/tmp/claude-501/-Users-sai-Work-Office-Teaching/ee8695eb-a8ef-409d-a9ba-c09e44dd9ced/scratchpad/pptx-build/assets/icons/FaBrain.png">    </p:cNvPr>
          <p:cNvPicPr>
            <a:picLocks noChangeAspect="1"/>
          </p:cNvPicPr>
          <p:nvPr/>
        </p:nvPicPr>
        <p:blipFill>
          <a:blip r:embed="rId2"/>
          <a:stretch>
            <a:fillRect/>
          </a:stretch>
        </p:blipFill>
        <p:spPr>
          <a:xfrm>
            <a:off x="5924672" y="4062496"/>
            <a:ext cx="342351" cy="342351"/>
          </a:xfrm>
          <a:prstGeom prst="rect">
            <a:avLst/>
          </a:prstGeom>
        </p:spPr>
      </p:pic>
      <p:sp>
        <p:nvSpPr>
          <p:cNvPr id="20" name="Text 16"/>
          <p:cNvSpPr/>
          <p:nvPr/>
        </p:nvSpPr>
        <p:spPr>
          <a:xfrm>
            <a:off x="4353458" y="4690872"/>
            <a:ext cx="3484778" cy="502920"/>
          </a:xfrm>
          <a:prstGeom prst="rect">
            <a:avLst/>
          </a:prstGeom>
          <a:noFill/>
          <a:ln/>
        </p:spPr>
        <p:txBody>
          <a:bodyPr wrap="square" lIns="0" tIns="0" rIns="0" bIns="0" rtlCol="0" anchor="t">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Generalization</a:t>
            </a:r>
            <a:endParaRPr lang="en-US" sz="1250" dirty="0"/>
          </a:p>
        </p:txBody>
      </p:sp>
      <p:sp>
        <p:nvSpPr>
          <p:cNvPr id="21" name="Text 17"/>
          <p:cNvSpPr/>
          <p:nvPr/>
        </p:nvSpPr>
        <p:spPr>
          <a:xfrm>
            <a:off x="4353458" y="5129784"/>
            <a:ext cx="3484778" cy="51206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Beyond narrow prediction</a:t>
            </a:r>
            <a:endParaRPr lang="en-US" sz="1000" dirty="0"/>
          </a:p>
        </p:txBody>
      </p:sp>
      <p:sp>
        <p:nvSpPr>
          <p:cNvPr id="22" name="Shape 18"/>
          <p:cNvSpPr/>
          <p:nvPr/>
        </p:nvSpPr>
        <p:spPr>
          <a:xfrm>
            <a:off x="7874813" y="4160520"/>
            <a:ext cx="292608" cy="146304"/>
          </a:xfrm>
          <a:prstGeom prst="rightArrow">
            <a:avLst/>
          </a:prstGeom>
          <a:solidFill>
            <a:srgbClr val="48587A"/>
          </a:solidFill>
          <a:ln/>
        </p:spPr>
      </p:sp>
      <p:sp>
        <p:nvSpPr>
          <p:cNvPr id="23" name="Shape 19"/>
          <p:cNvSpPr/>
          <p:nvPr/>
        </p:nvSpPr>
        <p:spPr>
          <a:xfrm>
            <a:off x="9617202" y="3904488"/>
            <a:ext cx="658368" cy="658368"/>
          </a:xfrm>
          <a:prstGeom prst="ellipse">
            <a:avLst/>
          </a:prstGeom>
          <a:solidFill>
            <a:srgbClr val="E8A33D"/>
          </a:solidFill>
          <a:ln/>
        </p:spPr>
      </p:sp>
      <p:pic>
        <p:nvPicPr>
          <p:cNvPr id="24" name="Image 2" descr="/private/tmp/claude-501/-Users-sai-Work-Office-Teaching/ee8695eb-a8ef-409d-a9ba-c09e44dd9ced/scratchpad/pptx-build/assets/icons-dark/FaBolt.png">    </p:cNvPr>
          <p:cNvPicPr>
            <a:picLocks noChangeAspect="1"/>
          </p:cNvPicPr>
          <p:nvPr/>
        </p:nvPicPr>
        <p:blipFill>
          <a:blip r:embed="rId3"/>
          <a:stretch>
            <a:fillRect/>
          </a:stretch>
        </p:blipFill>
        <p:spPr>
          <a:xfrm>
            <a:off x="9775210" y="4062496"/>
            <a:ext cx="342351" cy="342351"/>
          </a:xfrm>
          <a:prstGeom prst="rect">
            <a:avLst/>
          </a:prstGeom>
        </p:spPr>
      </p:pic>
      <p:sp>
        <p:nvSpPr>
          <p:cNvPr id="25" name="Text 20"/>
          <p:cNvSpPr/>
          <p:nvPr/>
        </p:nvSpPr>
        <p:spPr>
          <a:xfrm>
            <a:off x="8203997" y="4690872"/>
            <a:ext cx="3484778" cy="502920"/>
          </a:xfrm>
          <a:prstGeom prst="rect">
            <a:avLst/>
          </a:prstGeom>
          <a:noFill/>
          <a:ln/>
        </p:spPr>
        <p:txBody>
          <a:bodyPr wrap="square" lIns="0" tIns="0" rIns="0" bIns="0" rtlCol="0" anchor="t">
            <a:normAutofit/>
          </a:bodyPr>
          <a:lstStyle/>
          <a:p>
            <a:pPr algn="ctr" indent="0" marL="0">
              <a:buNone/>
            </a:pPr>
            <a:r>
              <a:rPr lang="en-US" sz="1350" b="1" dirty="0">
                <a:solidFill>
                  <a:srgbClr val="A6660E"/>
                </a:solidFill>
                <a:latin typeface="Calibri" pitchFamily="34" charset="0"/>
                <a:ea typeface="Calibri" pitchFamily="34" charset="-122"/>
                <a:cs typeface="Calibri" pitchFamily="34" charset="-120"/>
              </a:rPr>
              <a:t>GenAI, broadly useful</a:t>
            </a:r>
            <a:endParaRPr lang="en-US" sz="1350" dirty="0"/>
          </a:p>
        </p:txBody>
      </p:sp>
      <p:sp>
        <p:nvSpPr>
          <p:cNvPr id="26" name="Text 21"/>
          <p:cNvSpPr/>
          <p:nvPr/>
        </p:nvSpPr>
        <p:spPr>
          <a:xfrm>
            <a:off x="8203997" y="5129784"/>
            <a:ext cx="3484778" cy="512064"/>
          </a:xfrm>
          <a:prstGeom prst="rect">
            <a:avLst/>
          </a:prstGeom>
          <a:noFill/>
          <a:ln/>
        </p:spPr>
        <p:txBody>
          <a:bodyPr wrap="square" lIns="0" tIns="0" rIns="0" bIns="0" rtlCol="0" anchor="t">
            <a:normAutofit/>
          </a:bodyPr>
          <a:lstStyle/>
          <a:p>
            <a:pPr algn="ctr" indent="0" marL="0">
              <a:buNone/>
            </a:pPr>
            <a:r>
              <a:rPr lang="en-US" sz="1000" dirty="0">
                <a:solidFill>
                  <a:srgbClr val="6B7280"/>
                </a:solidFill>
                <a:latin typeface="Calibri" pitchFamily="34" charset="0"/>
                <a:ea typeface="Calibri" pitchFamily="34" charset="-122"/>
                <a:cs typeface="Calibri" pitchFamily="34" charset="-120"/>
              </a:rPr>
              <a:t>Reason across almost any topic</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GenAI Fundamentals, Scoped to Your Tools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Context window · Tokens · Multi-modality</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871929"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WindowMaximize.png">    </p:cNvPr>
          <p:cNvPicPr>
            <a:picLocks noChangeAspect="1"/>
          </p:cNvPicPr>
          <p:nvPr/>
        </p:nvPicPr>
        <p:blipFill>
          <a:blip r:embed="rId1"/>
          <a:stretch>
            <a:fillRect/>
          </a:stretch>
        </p:blipFill>
        <p:spPr>
          <a:xfrm>
            <a:off x="2058467" y="1896466"/>
            <a:ext cx="404165" cy="404165"/>
          </a:xfrm>
          <a:prstGeom prst="rect">
            <a:avLst/>
          </a:prstGeom>
        </p:spPr>
      </p:pic>
      <p:sp>
        <p:nvSpPr>
          <p:cNvPr id="14" name="Text 11"/>
          <p:cNvSpPr/>
          <p:nvPr/>
        </p:nvSpPr>
        <p:spPr>
          <a:xfrm>
            <a:off x="502920" y="261518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Context window</a:t>
            </a:r>
            <a:endParaRPr lang="en-US" sz="1250" dirty="0"/>
          </a:p>
        </p:txBody>
      </p:sp>
      <p:sp>
        <p:nvSpPr>
          <p:cNvPr id="15" name="Text 12"/>
          <p:cNvSpPr/>
          <p:nvPr/>
        </p:nvSpPr>
        <p:spPr>
          <a:xfrm>
            <a:off x="502920" y="299923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How much the model can "see" at once: instructions, conversation, attachments</a:t>
            </a:r>
            <a:endParaRPr lang="en-US" sz="1050" dirty="0"/>
          </a:p>
        </p:txBody>
      </p:sp>
      <p:sp>
        <p:nvSpPr>
          <p:cNvPr id="16" name="Shape 13"/>
          <p:cNvSpPr/>
          <p:nvPr/>
        </p:nvSpPr>
        <p:spPr>
          <a:xfrm>
            <a:off x="5707228" y="1709928"/>
            <a:ext cx="777240" cy="777240"/>
          </a:xfrm>
          <a:prstGeom prst="ellipse">
            <a:avLst/>
          </a:prstGeom>
          <a:solidFill>
            <a:srgbClr val="1E2761"/>
          </a:solidFill>
          <a:ln/>
        </p:spPr>
      </p:sp>
      <p:pic>
        <p:nvPicPr>
          <p:cNvPr id="17" name="Image 1" descr="/private/tmp/claude-501/-Users-sai-Work-Office-Teaching/ee8695eb-a8ef-409d-a9ba-c09e44dd9ced/scratchpad/pptx-build/assets/icons/FaPuzzlePiece.png">    </p:cNvPr>
          <p:cNvPicPr>
            <a:picLocks noChangeAspect="1"/>
          </p:cNvPicPr>
          <p:nvPr/>
        </p:nvPicPr>
        <p:blipFill>
          <a:blip r:embed="rId2"/>
          <a:stretch>
            <a:fillRect/>
          </a:stretch>
        </p:blipFill>
        <p:spPr>
          <a:xfrm>
            <a:off x="5893765" y="1896466"/>
            <a:ext cx="404165" cy="404165"/>
          </a:xfrm>
          <a:prstGeom prst="rect">
            <a:avLst/>
          </a:prstGeom>
        </p:spPr>
      </p:pic>
      <p:sp>
        <p:nvSpPr>
          <p:cNvPr id="18" name="Text 14"/>
          <p:cNvSpPr/>
          <p:nvPr/>
        </p:nvSpPr>
        <p:spPr>
          <a:xfrm>
            <a:off x="4338218" y="261518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Tokens</a:t>
            </a:r>
            <a:endParaRPr lang="en-US" sz="1250" dirty="0"/>
          </a:p>
        </p:txBody>
      </p:sp>
      <p:sp>
        <p:nvSpPr>
          <p:cNvPr id="19" name="Text 15"/>
          <p:cNvSpPr/>
          <p:nvPr/>
        </p:nvSpPr>
        <p:spPr>
          <a:xfrm>
            <a:off x="4338218" y="299923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The unit of text models process (~4 chars / ~0.75 words each)</a:t>
            </a:r>
            <a:endParaRPr lang="en-US" sz="1050" dirty="0"/>
          </a:p>
        </p:txBody>
      </p:sp>
      <p:sp>
        <p:nvSpPr>
          <p:cNvPr id="20" name="Shape 16"/>
          <p:cNvSpPr/>
          <p:nvPr/>
        </p:nvSpPr>
        <p:spPr>
          <a:xfrm>
            <a:off x="9542526" y="1709928"/>
            <a:ext cx="777240" cy="777240"/>
          </a:xfrm>
          <a:prstGeom prst="ellipse">
            <a:avLst/>
          </a:prstGeom>
          <a:solidFill>
            <a:srgbClr val="1E2761"/>
          </a:solidFill>
          <a:ln/>
        </p:spPr>
      </p:sp>
      <p:pic>
        <p:nvPicPr>
          <p:cNvPr id="21" name="Image 2" descr="/private/tmp/claude-501/-Users-sai-Work-Office-Teaching/ee8695eb-a8ef-409d-a9ba-c09e44dd9ced/scratchpad/pptx-build/assets/icons/FaLayerGroup.png">    </p:cNvPr>
          <p:cNvPicPr>
            <a:picLocks noChangeAspect="1"/>
          </p:cNvPicPr>
          <p:nvPr/>
        </p:nvPicPr>
        <p:blipFill>
          <a:blip r:embed="rId3"/>
          <a:stretch>
            <a:fillRect/>
          </a:stretch>
        </p:blipFill>
        <p:spPr>
          <a:xfrm>
            <a:off x="9729064" y="1896466"/>
            <a:ext cx="404165" cy="404165"/>
          </a:xfrm>
          <a:prstGeom prst="rect">
            <a:avLst/>
          </a:prstGeom>
        </p:spPr>
      </p:pic>
      <p:sp>
        <p:nvSpPr>
          <p:cNvPr id="22" name="Text 17"/>
          <p:cNvSpPr/>
          <p:nvPr/>
        </p:nvSpPr>
        <p:spPr>
          <a:xfrm>
            <a:off x="8173517" y="2615184"/>
            <a:ext cx="3515258"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Multi-modality</a:t>
            </a:r>
            <a:endParaRPr lang="en-US" sz="1250" dirty="0"/>
          </a:p>
        </p:txBody>
      </p:sp>
      <p:sp>
        <p:nvSpPr>
          <p:cNvPr id="23" name="Text 18"/>
          <p:cNvSpPr/>
          <p:nvPr/>
        </p:nvSpPr>
        <p:spPr>
          <a:xfrm>
            <a:off x="8173517" y="2999232"/>
            <a:ext cx="3515258" cy="539496"/>
          </a:xfrm>
          <a:prstGeom prst="rect">
            <a:avLst/>
          </a:prstGeom>
          <a:noFill/>
          <a:ln/>
        </p:spPr>
        <p:txBody>
          <a:bodyPr wrap="square" lIns="0" tIns="0" rIns="0" bIns="0" rtlCol="0" anchor="t">
            <a:normAutofit/>
          </a:bodyPr>
          <a:lstStyle/>
          <a:p>
            <a:pPr algn="ctr" indent="0" marL="0">
              <a:buNone/>
            </a:pPr>
            <a:r>
              <a:rPr lang="en-US" sz="1050" dirty="0">
                <a:solidFill>
                  <a:srgbClr val="6B7280"/>
                </a:solidFill>
                <a:latin typeface="Calibri" pitchFamily="34" charset="0"/>
                <a:ea typeface="Calibri" pitchFamily="34" charset="-122"/>
                <a:cs typeface="Calibri" pitchFamily="34" charset="-120"/>
              </a:rPr>
              <a:t>Text, images, and structured data together, not just text</a:t>
            </a:r>
            <a:endParaRPr lang="en-US" sz="1050" dirty="0"/>
          </a:p>
        </p:txBody>
      </p:sp>
      <p:sp>
        <p:nvSpPr>
          <p:cNvPr id="24" name="Shape 19"/>
          <p:cNvSpPr/>
          <p:nvPr/>
        </p:nvSpPr>
        <p:spPr>
          <a:xfrm>
            <a:off x="502920" y="5093208"/>
            <a:ext cx="11185855" cy="777240"/>
          </a:xfrm>
          <a:prstGeom prst="roundRect">
            <a:avLst>
              <a:gd name="adj" fmla="val 10588"/>
            </a:avLst>
          </a:prstGeom>
          <a:solidFill>
            <a:srgbClr val="FFF4E0"/>
          </a:solidFill>
          <a:ln/>
        </p:spPr>
      </p:sp>
      <p:sp>
        <p:nvSpPr>
          <p:cNvPr id="25" name="Shape 20"/>
          <p:cNvSpPr/>
          <p:nvPr/>
        </p:nvSpPr>
        <p:spPr>
          <a:xfrm>
            <a:off x="502920" y="5093208"/>
            <a:ext cx="82296" cy="777240"/>
          </a:xfrm>
          <a:prstGeom prst="roundRect">
            <a:avLst/>
          </a:prstGeom>
          <a:solidFill>
            <a:srgbClr val="E8A33D"/>
          </a:solidFill>
          <a:ln/>
        </p:spPr>
      </p:sp>
      <p:sp>
        <p:nvSpPr>
          <p:cNvPr id="26" name="Text 21"/>
          <p:cNvSpPr/>
          <p:nvPr/>
        </p:nvSpPr>
        <p:spPr>
          <a:xfrm>
            <a:off x="758952" y="5184648"/>
            <a:ext cx="10728655" cy="594360"/>
          </a:xfrm>
          <a:prstGeom prst="rect">
            <a:avLst/>
          </a:prstGeom>
          <a:noFill/>
          <a:ln/>
        </p:spPr>
        <p:txBody>
          <a:bodyPr wrap="square" lIns="0" tIns="0" rIns="0" bIns="0" rtlCol="0" anchor="ctr">
            <a:normAutofit/>
          </a:bodyPr>
          <a:lstStyle/>
          <a:p>
            <a:pPr indent="0" marL="0">
              <a:buNone/>
            </a:pPr>
            <a:r>
              <a:rPr lang="en-US" sz="1250" b="1" i="1" dirty="0">
                <a:solidFill>
                  <a:srgbClr val="B8720A"/>
                </a:solidFill>
                <a:latin typeface="Calibri" pitchFamily="34" charset="0"/>
                <a:ea typeface="Calibri" pitchFamily="34" charset="-122"/>
                <a:cs typeface="Calibri" pitchFamily="34" charset="-120"/>
              </a:rPr>
              <a:t>[DRAFT] </a:t>
            </a:r>
            <a:pPr indent="0" marL="0">
              <a:buNone/>
            </a:pPr>
            <a:r>
              <a:rPr lang="en-US" sz="1250" i="1" dirty="0">
                <a:solidFill>
                  <a:srgbClr val="5C4400"/>
                </a:solidFill>
                <a:latin typeface="Calibri" pitchFamily="34" charset="0"/>
                <a:ea typeface="Calibri" pitchFamily="34" charset="-122"/>
                <a:cs typeface="Calibri" pitchFamily="34" charset="-120"/>
              </a:rPr>
              <a:t>confirm the approximate context-window size for the model(s) behind AI Studio/AI Lens with your platform team before this session; don't guess live. Even an approximate figure ("tens of thousands of words") is more useful than an exact number.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F3</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What's Actually New and Worth Knowing</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The one advancement that matters here, not general AI news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5364328" cy="2834640"/>
          </a:xfrm>
          <a:prstGeom prst="roundRect">
            <a:avLst>
              <a:gd name="adj" fmla="val 2903"/>
            </a:avLst>
          </a:prstGeom>
          <a:solidFill>
            <a:srgbClr val="F4F6FB"/>
          </a:solidFill>
          <a:ln/>
          <a:effectLst>
            <a:outerShdw sx="100000" sy="100000" kx="0" ky="0" algn="bl" rotWithShape="0" blurRad="76200" dist="25400" dir="5400000">
              <a:srgbClr val="1E2761">
                <a:alpha val="16000"/>
              </a:srgbClr>
            </a:outerShdw>
          </a:effectLst>
        </p:spPr>
      </p:sp>
      <p:sp>
        <p:nvSpPr>
          <p:cNvPr id="13" name="Shape 11"/>
          <p:cNvSpPr/>
          <p:nvPr/>
        </p:nvSpPr>
        <p:spPr>
          <a:xfrm>
            <a:off x="502920" y="1709928"/>
            <a:ext cx="5364328" cy="457200"/>
          </a:xfrm>
          <a:prstGeom prst="roundRect">
            <a:avLst>
              <a:gd name="adj" fmla="val 18000"/>
            </a:avLst>
          </a:prstGeom>
          <a:solidFill>
            <a:srgbClr val="48587A"/>
          </a:solidFill>
          <a:ln/>
        </p:spPr>
      </p:sp>
      <p:sp>
        <p:nvSpPr>
          <p:cNvPr id="14" name="Shape 12"/>
          <p:cNvSpPr/>
          <p:nvPr/>
        </p:nvSpPr>
        <p:spPr>
          <a:xfrm>
            <a:off x="502920" y="1965960"/>
            <a:ext cx="5364328" cy="201168"/>
          </a:xfrm>
          <a:prstGeom prst="rect">
            <a:avLst/>
          </a:prstGeom>
          <a:solidFill>
            <a:srgbClr val="48587A"/>
          </a:solidFill>
          <a:ln/>
        </p:spPr>
      </p:sp>
      <p:sp>
        <p:nvSpPr>
          <p:cNvPr id="15" name="Text 13"/>
          <p:cNvSpPr/>
          <p:nvPr/>
        </p:nvSpPr>
        <p:spPr>
          <a:xfrm>
            <a:off x="640080" y="1709928"/>
            <a:ext cx="5090008"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Old</a:t>
            </a:r>
            <a:endParaRPr lang="en-US" sz="1450" dirty="0"/>
          </a:p>
        </p:txBody>
      </p:sp>
      <p:sp>
        <p:nvSpPr>
          <p:cNvPr id="16" name="Text 14"/>
          <p:cNvSpPr/>
          <p:nvPr/>
        </p:nvSpPr>
        <p:spPr>
          <a:xfrm>
            <a:off x="704088" y="2313432"/>
            <a:ext cx="4961992" cy="210312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Prompt → single text response</a:t>
            </a:r>
            <a:endParaRPr lang="en-US" sz="1450" dirty="0"/>
          </a:p>
        </p:txBody>
      </p:sp>
      <p:sp>
        <p:nvSpPr>
          <p:cNvPr id="17" name="Shape 15"/>
          <p:cNvSpPr/>
          <p:nvPr/>
        </p:nvSpPr>
        <p:spPr>
          <a:xfrm>
            <a:off x="6324448" y="1709928"/>
            <a:ext cx="5364328" cy="2834640"/>
          </a:xfrm>
          <a:prstGeom prst="roundRect">
            <a:avLst>
              <a:gd name="adj" fmla="val 2903"/>
            </a:avLst>
          </a:prstGeom>
          <a:solidFill>
            <a:srgbClr val="F4F6FB"/>
          </a:solidFill>
          <a:ln/>
          <a:effectLst>
            <a:outerShdw sx="100000" sy="100000" kx="0" ky="0" algn="bl" rotWithShape="0" blurRad="76200" dist="25400" dir="5400000">
              <a:srgbClr val="1E2761">
                <a:alpha val="16000"/>
              </a:srgbClr>
            </a:outerShdw>
          </a:effectLst>
        </p:spPr>
      </p:sp>
      <p:sp>
        <p:nvSpPr>
          <p:cNvPr id="18" name="Shape 16"/>
          <p:cNvSpPr/>
          <p:nvPr/>
        </p:nvSpPr>
        <p:spPr>
          <a:xfrm>
            <a:off x="6324448" y="1709928"/>
            <a:ext cx="5364328" cy="457200"/>
          </a:xfrm>
          <a:prstGeom prst="roundRect">
            <a:avLst>
              <a:gd name="adj" fmla="val 18000"/>
            </a:avLst>
          </a:prstGeom>
          <a:solidFill>
            <a:srgbClr val="E8A33D"/>
          </a:solidFill>
          <a:ln/>
        </p:spPr>
      </p:sp>
      <p:sp>
        <p:nvSpPr>
          <p:cNvPr id="19" name="Shape 17"/>
          <p:cNvSpPr/>
          <p:nvPr/>
        </p:nvSpPr>
        <p:spPr>
          <a:xfrm>
            <a:off x="6324448" y="1965960"/>
            <a:ext cx="5364328" cy="201168"/>
          </a:xfrm>
          <a:prstGeom prst="rect">
            <a:avLst/>
          </a:prstGeom>
          <a:solidFill>
            <a:srgbClr val="E8A33D"/>
          </a:solidFill>
          <a:ln/>
        </p:spPr>
      </p:sp>
      <p:sp>
        <p:nvSpPr>
          <p:cNvPr id="20" name="Text 18"/>
          <p:cNvSpPr/>
          <p:nvPr/>
        </p:nvSpPr>
        <p:spPr>
          <a:xfrm>
            <a:off x="6461608" y="1709928"/>
            <a:ext cx="5090008" cy="457200"/>
          </a:xfrm>
          <a:prstGeom prst="rect">
            <a:avLst/>
          </a:prstGeom>
          <a:noFill/>
          <a:ln/>
        </p:spPr>
        <p:txBody>
          <a:bodyPr wrap="square" lIns="0" tIns="0" rIns="0" bIns="0" rtlCol="0" anchor="ctr"/>
          <a:lstStyle/>
          <a:p>
            <a:pPr indent="0" marL="0">
              <a:buNone/>
            </a:pPr>
            <a:r>
              <a:rPr lang="en-US" sz="1450" b="1" dirty="0">
                <a:solidFill>
                  <a:srgbClr val="141B45"/>
                </a:solidFill>
                <a:latin typeface="Calibri" pitchFamily="34" charset="0"/>
                <a:ea typeface="Calibri" pitchFamily="34" charset="-122"/>
                <a:cs typeface="Calibri" pitchFamily="34" charset="-120"/>
              </a:rPr>
              <a:t>New</a:t>
            </a:r>
            <a:endParaRPr lang="en-US" sz="1450" dirty="0"/>
          </a:p>
        </p:txBody>
      </p:sp>
      <p:sp>
        <p:nvSpPr>
          <p:cNvPr id="21" name="Text 19"/>
          <p:cNvSpPr/>
          <p:nvPr/>
        </p:nvSpPr>
        <p:spPr>
          <a:xfrm>
            <a:off x="6525616" y="2313432"/>
            <a:ext cx="4961992" cy="2103120"/>
          </a:xfrm>
          <a:prstGeom prst="rect">
            <a:avLst/>
          </a:prstGeom>
          <a:noFill/>
          <a:ln/>
        </p:spPr>
        <p:txBody>
          <a:bodyPr wrap="square" lIns="0" tIns="0" rIns="0" bIns="0" rtlCol="0" anchor="ctr">
            <a:normAutofit/>
          </a:bodyPr>
          <a:lstStyle/>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Prompt → reason → act → observe → respond</a:t>
            </a:r>
            <a:endParaRPr lang="en-US" sz="1450" dirty="0"/>
          </a:p>
          <a:p>
            <a:pPr marL="177800" indent="-177800">
              <a:spcAft>
                <a:spcPts val="1400"/>
              </a:spcAft>
              <a:buSzPct val="100000"/>
              <a:buChar char="•"/>
            </a:pPr>
            <a:r>
              <a:rPr lang="en-US" sz="1450" dirty="0">
                <a:solidFill>
                  <a:srgbClr val="1A1F36"/>
                </a:solidFill>
                <a:latin typeface="Calibri" pitchFamily="34" charset="0"/>
                <a:ea typeface="Calibri" pitchFamily="34" charset="-122"/>
                <a:cs typeface="Calibri" pitchFamily="34" charset="-120"/>
              </a:rPr>
              <a:t>Models call tools, chain steps, orchestrate other agents</a:t>
            </a:r>
            <a:endParaRPr lang="en-US" sz="1450" dirty="0"/>
          </a:p>
        </p:txBody>
      </p:sp>
      <p:sp>
        <p:nvSpPr>
          <p:cNvPr id="22" name="Text 20"/>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Roughly a last-1-to-2-years capability, and it's why AI Studio works the way it does.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Meet the Agent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The reason–act–observe loop</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2286000" y="2487168"/>
            <a:ext cx="7619695" cy="2468880"/>
          </a:xfrm>
          <a:prstGeom prst="ellipse">
            <a:avLst/>
          </a:prstGeom>
          <a:ln w="25400">
            <a:solidFill>
              <a:srgbClr val="CADCFC"/>
            </a:solidFill>
            <a:prstDash val="sysDot"/>
          </a:ln>
        </p:spPr>
      </p:sp>
      <p:sp>
        <p:nvSpPr>
          <p:cNvPr id="13" name="Shape 11"/>
          <p:cNvSpPr/>
          <p:nvPr/>
        </p:nvSpPr>
        <p:spPr>
          <a:xfrm>
            <a:off x="5158588" y="1664208"/>
            <a:ext cx="1874520" cy="960120"/>
          </a:xfrm>
          <a:prstGeom prst="roundRect">
            <a:avLst>
              <a:gd name="adj" fmla="val 8571"/>
            </a:avLst>
          </a:prstGeom>
          <a:solidFill>
            <a:srgbClr val="1E2761"/>
          </a:solidFill>
          <a:ln/>
          <a:effectLst>
            <a:outerShdw sx="100000" sy="100000" kx="0" ky="0" algn="bl" rotWithShape="0" blurRad="76200" dist="25400" dir="5400000">
              <a:srgbClr val="1E2761">
                <a:alpha val="16000"/>
              </a:srgbClr>
            </a:outerShdw>
          </a:effectLst>
        </p:spPr>
      </p:sp>
      <p:sp>
        <p:nvSpPr>
          <p:cNvPr id="14" name="Text 12"/>
          <p:cNvSpPr/>
          <p:nvPr/>
        </p:nvSpPr>
        <p:spPr>
          <a:xfrm>
            <a:off x="5250028" y="1719072"/>
            <a:ext cx="365760" cy="292608"/>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1</a:t>
            </a:r>
            <a:endParaRPr lang="en-US" sz="1400" dirty="0"/>
          </a:p>
        </p:txBody>
      </p:sp>
      <p:sp>
        <p:nvSpPr>
          <p:cNvPr id="15" name="Text 13"/>
          <p:cNvSpPr/>
          <p:nvPr/>
        </p:nvSpPr>
        <p:spPr>
          <a:xfrm>
            <a:off x="5250028" y="2029968"/>
            <a:ext cx="1691640" cy="52120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User query</a:t>
            </a:r>
            <a:endParaRPr lang="en-US" sz="1100" dirty="0"/>
          </a:p>
        </p:txBody>
      </p:sp>
      <p:sp>
        <p:nvSpPr>
          <p:cNvPr id="16" name="Shape 14"/>
          <p:cNvSpPr/>
          <p:nvPr/>
        </p:nvSpPr>
        <p:spPr>
          <a:xfrm>
            <a:off x="9150919" y="2452878"/>
            <a:ext cx="1874520" cy="960120"/>
          </a:xfrm>
          <a:prstGeom prst="roundRect">
            <a:avLst>
              <a:gd name="adj" fmla="val 8571"/>
            </a:avLst>
          </a:prstGeom>
          <a:solidFill>
            <a:srgbClr val="1E2761"/>
          </a:solidFill>
          <a:ln/>
          <a:effectLst>
            <a:outerShdw sx="100000" sy="100000" kx="0" ky="0" algn="bl" rotWithShape="0" blurRad="76200" dist="25400" dir="5400000">
              <a:srgbClr val="1E2761">
                <a:alpha val="16000"/>
              </a:srgbClr>
            </a:outerShdw>
          </a:effectLst>
        </p:spPr>
      </p:sp>
      <p:sp>
        <p:nvSpPr>
          <p:cNvPr id="17" name="Text 15"/>
          <p:cNvSpPr/>
          <p:nvPr/>
        </p:nvSpPr>
        <p:spPr>
          <a:xfrm>
            <a:off x="9242359" y="2507742"/>
            <a:ext cx="365760" cy="292608"/>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2</a:t>
            </a:r>
            <a:endParaRPr lang="en-US" sz="1400" dirty="0"/>
          </a:p>
        </p:txBody>
      </p:sp>
      <p:sp>
        <p:nvSpPr>
          <p:cNvPr id="18" name="Text 16"/>
          <p:cNvSpPr/>
          <p:nvPr/>
        </p:nvSpPr>
        <p:spPr>
          <a:xfrm>
            <a:off x="9242359" y="2818638"/>
            <a:ext cx="1691640" cy="52120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Reason: what do I need?</a:t>
            </a:r>
            <a:endParaRPr lang="en-US" sz="1100" dirty="0"/>
          </a:p>
        </p:txBody>
      </p:sp>
      <p:sp>
        <p:nvSpPr>
          <p:cNvPr id="19" name="Shape 17"/>
          <p:cNvSpPr/>
          <p:nvPr/>
        </p:nvSpPr>
        <p:spPr>
          <a:xfrm>
            <a:off x="9150919" y="4030218"/>
            <a:ext cx="1874520" cy="960120"/>
          </a:xfrm>
          <a:prstGeom prst="roundRect">
            <a:avLst>
              <a:gd name="adj" fmla="val 8571"/>
            </a:avLst>
          </a:prstGeom>
          <a:solidFill>
            <a:srgbClr val="1E2761"/>
          </a:solidFill>
          <a:ln/>
          <a:effectLst>
            <a:outerShdw sx="100000" sy="100000" kx="0" ky="0" algn="bl" rotWithShape="0" blurRad="76200" dist="25400" dir="5400000">
              <a:srgbClr val="1E2761">
                <a:alpha val="16000"/>
              </a:srgbClr>
            </a:outerShdw>
          </a:effectLst>
        </p:spPr>
      </p:sp>
      <p:sp>
        <p:nvSpPr>
          <p:cNvPr id="20" name="Text 18"/>
          <p:cNvSpPr/>
          <p:nvPr/>
        </p:nvSpPr>
        <p:spPr>
          <a:xfrm>
            <a:off x="9242359" y="4085082"/>
            <a:ext cx="365760" cy="292608"/>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9242359" y="4395978"/>
            <a:ext cx="1691640" cy="52120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Select a tool / data source</a:t>
            </a:r>
            <a:endParaRPr lang="en-US" sz="1100" dirty="0"/>
          </a:p>
        </p:txBody>
      </p:sp>
      <p:sp>
        <p:nvSpPr>
          <p:cNvPr id="22" name="Shape 20"/>
          <p:cNvSpPr/>
          <p:nvPr/>
        </p:nvSpPr>
        <p:spPr>
          <a:xfrm>
            <a:off x="5158588" y="4818888"/>
            <a:ext cx="1874520" cy="960120"/>
          </a:xfrm>
          <a:prstGeom prst="roundRect">
            <a:avLst>
              <a:gd name="adj" fmla="val 8571"/>
            </a:avLst>
          </a:prstGeom>
          <a:solidFill>
            <a:srgbClr val="1E2761"/>
          </a:solidFill>
          <a:ln/>
          <a:effectLst>
            <a:outerShdw sx="100000" sy="100000" kx="0" ky="0" algn="bl" rotWithShape="0" blurRad="76200" dist="25400" dir="5400000">
              <a:srgbClr val="1E2761">
                <a:alpha val="16000"/>
              </a:srgbClr>
            </a:outerShdw>
          </a:effectLst>
        </p:spPr>
      </p:sp>
      <p:sp>
        <p:nvSpPr>
          <p:cNvPr id="23" name="Text 21"/>
          <p:cNvSpPr/>
          <p:nvPr/>
        </p:nvSpPr>
        <p:spPr>
          <a:xfrm>
            <a:off x="5250028" y="4873752"/>
            <a:ext cx="365760" cy="292608"/>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4</a:t>
            </a:r>
            <a:endParaRPr lang="en-US" sz="1400" dirty="0"/>
          </a:p>
        </p:txBody>
      </p:sp>
      <p:sp>
        <p:nvSpPr>
          <p:cNvPr id="24" name="Text 22"/>
          <p:cNvSpPr/>
          <p:nvPr/>
        </p:nvSpPr>
        <p:spPr>
          <a:xfrm>
            <a:off x="5250028" y="5184648"/>
            <a:ext cx="1691640" cy="52120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Call it</a:t>
            </a:r>
            <a:endParaRPr lang="en-US" sz="1100" dirty="0"/>
          </a:p>
        </p:txBody>
      </p:sp>
      <p:sp>
        <p:nvSpPr>
          <p:cNvPr id="25" name="Shape 23"/>
          <p:cNvSpPr/>
          <p:nvPr/>
        </p:nvSpPr>
        <p:spPr>
          <a:xfrm>
            <a:off x="1166256" y="4030218"/>
            <a:ext cx="1874520" cy="960120"/>
          </a:xfrm>
          <a:prstGeom prst="roundRect">
            <a:avLst>
              <a:gd name="adj" fmla="val 8571"/>
            </a:avLst>
          </a:prstGeom>
          <a:solidFill>
            <a:srgbClr val="1E2761"/>
          </a:solidFill>
          <a:ln/>
          <a:effectLst>
            <a:outerShdw sx="100000" sy="100000" kx="0" ky="0" algn="bl" rotWithShape="0" blurRad="76200" dist="25400" dir="5400000">
              <a:srgbClr val="1E2761">
                <a:alpha val="16000"/>
              </a:srgbClr>
            </a:outerShdw>
          </a:effectLst>
        </p:spPr>
      </p:sp>
      <p:sp>
        <p:nvSpPr>
          <p:cNvPr id="26" name="Text 24"/>
          <p:cNvSpPr/>
          <p:nvPr/>
        </p:nvSpPr>
        <p:spPr>
          <a:xfrm>
            <a:off x="1257696" y="4085082"/>
            <a:ext cx="365760" cy="292608"/>
          </a:xfrm>
          <a:prstGeom prst="rect">
            <a:avLst/>
          </a:prstGeom>
          <a:noFill/>
          <a:ln/>
        </p:spPr>
        <p:txBody>
          <a:bodyPr wrap="square" lIns="0" tIns="0" rIns="0" bIns="0" rtlCol="0" anchor="ctr"/>
          <a:lstStyle/>
          <a:p>
            <a:pPr indent="0" marL="0">
              <a:buNone/>
            </a:pPr>
            <a:r>
              <a:rPr lang="en-US" sz="1400" b="1" dirty="0">
                <a:solidFill>
                  <a:srgbClr val="E8A33D"/>
                </a:solidFill>
                <a:latin typeface="Cambria" pitchFamily="34" charset="0"/>
                <a:ea typeface="Cambria" pitchFamily="34" charset="-122"/>
                <a:cs typeface="Cambria" pitchFamily="34" charset="-120"/>
              </a:rPr>
              <a:t>5</a:t>
            </a:r>
            <a:endParaRPr lang="en-US" sz="1400" dirty="0"/>
          </a:p>
        </p:txBody>
      </p:sp>
      <p:sp>
        <p:nvSpPr>
          <p:cNvPr id="27" name="Text 25"/>
          <p:cNvSpPr/>
          <p:nvPr/>
        </p:nvSpPr>
        <p:spPr>
          <a:xfrm>
            <a:off x="1257696" y="4395978"/>
            <a:ext cx="1691640" cy="521208"/>
          </a:xfrm>
          <a:prstGeom prst="rect">
            <a:avLst/>
          </a:prstGeom>
          <a:noFill/>
          <a:ln/>
        </p:spPr>
        <p:txBody>
          <a:bodyPr wrap="square" lIns="0" tIns="0" rIns="0" bIns="0" rtlCol="0" anchor="t">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Observe the result</a:t>
            </a:r>
            <a:endParaRPr lang="en-US" sz="1100" dirty="0"/>
          </a:p>
        </p:txBody>
      </p:sp>
      <p:sp>
        <p:nvSpPr>
          <p:cNvPr id="28" name="Shape 26"/>
          <p:cNvSpPr/>
          <p:nvPr/>
        </p:nvSpPr>
        <p:spPr>
          <a:xfrm>
            <a:off x="1166256" y="2452878"/>
            <a:ext cx="1874520" cy="960120"/>
          </a:xfrm>
          <a:prstGeom prst="roundRect">
            <a:avLst>
              <a:gd name="adj" fmla="val 8571"/>
            </a:avLst>
          </a:prstGeom>
          <a:solidFill>
            <a:srgbClr val="E8A33D"/>
          </a:solidFill>
          <a:ln/>
          <a:effectLst>
            <a:outerShdw sx="100000" sy="100000" kx="0" ky="0" algn="bl" rotWithShape="0" blurRad="76200" dist="25400" dir="5400000">
              <a:srgbClr val="1E2761">
                <a:alpha val="16000"/>
              </a:srgbClr>
            </a:outerShdw>
          </a:effectLst>
        </p:spPr>
      </p:sp>
      <p:sp>
        <p:nvSpPr>
          <p:cNvPr id="29" name="Text 27"/>
          <p:cNvSpPr/>
          <p:nvPr/>
        </p:nvSpPr>
        <p:spPr>
          <a:xfrm>
            <a:off x="1257696" y="2507742"/>
            <a:ext cx="365760" cy="292608"/>
          </a:xfrm>
          <a:prstGeom prst="rect">
            <a:avLst/>
          </a:prstGeom>
          <a:noFill/>
          <a:ln/>
        </p:spPr>
        <p:txBody>
          <a:bodyPr wrap="square" lIns="0" tIns="0" rIns="0" bIns="0" rtlCol="0" anchor="ctr"/>
          <a:lstStyle/>
          <a:p>
            <a:pPr indent="0" marL="0">
              <a:buNone/>
            </a:pPr>
            <a:r>
              <a:rPr lang="en-US" sz="1400" b="1" dirty="0">
                <a:solidFill>
                  <a:srgbClr val="141B45"/>
                </a:solidFill>
                <a:latin typeface="Cambria" pitchFamily="34" charset="0"/>
                <a:ea typeface="Cambria" pitchFamily="34" charset="-122"/>
                <a:cs typeface="Cambria" pitchFamily="34" charset="-120"/>
              </a:rPr>
              <a:t>6</a:t>
            </a:r>
            <a:endParaRPr lang="en-US" sz="1400" dirty="0"/>
          </a:p>
        </p:txBody>
      </p:sp>
      <p:sp>
        <p:nvSpPr>
          <p:cNvPr id="30" name="Text 28"/>
          <p:cNvSpPr/>
          <p:nvPr/>
        </p:nvSpPr>
        <p:spPr>
          <a:xfrm>
            <a:off x="1257696" y="2818638"/>
            <a:ext cx="1691640" cy="521208"/>
          </a:xfrm>
          <a:prstGeom prst="rect">
            <a:avLst/>
          </a:prstGeom>
          <a:noFill/>
          <a:ln/>
        </p:spPr>
        <p:txBody>
          <a:bodyPr wrap="square" lIns="0" tIns="0" rIns="0" bIns="0" rtlCol="0" anchor="t">
            <a:normAutofit/>
          </a:bodyPr>
          <a:lstStyle/>
          <a:p>
            <a:pPr indent="0" marL="0">
              <a:buNone/>
            </a:pPr>
            <a:r>
              <a:rPr lang="en-US" sz="1100" b="1" dirty="0">
                <a:solidFill>
                  <a:srgbClr val="141B45"/>
                </a:solidFill>
                <a:latin typeface="Calibri" pitchFamily="34" charset="0"/>
                <a:ea typeface="Calibri" pitchFamily="34" charset="-122"/>
                <a:cs typeface="Calibri" pitchFamily="34" charset="-120"/>
              </a:rPr>
              <a:t>Respond (or loop back)</a:t>
            </a:r>
            <a:endParaRPr lang="en-US" sz="1100" dirty="0"/>
          </a:p>
        </p:txBody>
      </p:sp>
      <p:sp>
        <p:nvSpPr>
          <p:cNvPr id="31" name="Shape 29"/>
          <p:cNvSpPr/>
          <p:nvPr/>
        </p:nvSpPr>
        <p:spPr>
          <a:xfrm>
            <a:off x="5812384" y="3328416"/>
            <a:ext cx="566928" cy="566928"/>
          </a:xfrm>
          <a:prstGeom prst="leftCircularArrow">
            <a:avLst/>
          </a:prstGeom>
          <a:solidFill>
            <a:srgbClr val="E8A33D"/>
          </a:solidFill>
          <a:ln/>
        </p:spPr>
      </p:sp>
      <p:sp>
        <p:nvSpPr>
          <p:cNvPr id="32" name="Text 30"/>
          <p:cNvSpPr/>
          <p:nvPr/>
        </p:nvSpPr>
        <p:spPr>
          <a:xfrm>
            <a:off x="4861408" y="3950208"/>
            <a:ext cx="2468880" cy="365760"/>
          </a:xfrm>
          <a:prstGeom prst="rect">
            <a:avLst/>
          </a:prstGeom>
          <a:noFill/>
          <a:ln/>
        </p:spPr>
        <p:txBody>
          <a:bodyPr wrap="square" lIns="0" tIns="0" rIns="0" bIns="0" rtlCol="0" anchor="t"/>
          <a:lstStyle/>
          <a:p>
            <a:pPr algn="ctr" indent="0" marL="0">
              <a:buNone/>
            </a:pPr>
            <a:r>
              <a:rPr lang="en-US" sz="1000" i="1" dirty="0">
                <a:solidFill>
                  <a:srgbClr val="6B7280"/>
                </a:solidFill>
                <a:latin typeface="Calibri" pitchFamily="34" charset="0"/>
                <a:ea typeface="Calibri" pitchFamily="34" charset="-122"/>
                <a:cs typeface="Calibri" pitchFamily="34" charset="-120"/>
              </a:rPr>
              <a:t>repeats until ready to answer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F4</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This Is Literally What AI Studio Does</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Agent/tool selection = orchestrating agents</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502920" y="1709928"/>
            <a:ext cx="3393338" cy="1010412"/>
          </a:xfrm>
          <a:prstGeom prst="roundRect">
            <a:avLst>
              <a:gd name="adj" fmla="val 8145"/>
            </a:avLst>
          </a:prstGeom>
          <a:solidFill>
            <a:srgbClr val="1E2761"/>
          </a:solidFill>
          <a:ln/>
          <a:effectLst>
            <a:outerShdw sx="100000" sy="100000" kx="0" ky="0" algn="bl" rotWithShape="0" blurRad="76200" dist="25400" dir="5400000">
              <a:srgbClr val="1E2761">
                <a:alpha val="16000"/>
              </a:srgbClr>
            </a:outerShdw>
          </a:effectLst>
        </p:spPr>
      </p:sp>
      <p:sp>
        <p:nvSpPr>
          <p:cNvPr id="13" name="Shape 11"/>
          <p:cNvSpPr/>
          <p:nvPr/>
        </p:nvSpPr>
        <p:spPr>
          <a:xfrm>
            <a:off x="1987403" y="1851386"/>
            <a:ext cx="424373" cy="424373"/>
          </a:xfrm>
          <a:prstGeom prst="ellipse">
            <a:avLst/>
          </a:prstGeom>
          <a:solidFill>
            <a:srgbClr val="E8A33D"/>
          </a:solidFill>
          <a:ln/>
        </p:spPr>
      </p:sp>
      <p:pic>
        <p:nvPicPr>
          <p:cNvPr id="14" name="Image 0" descr="/private/tmp/claude-501/-Users-sai-Work-Office-Teaching/ee8695eb-a8ef-409d-a9ba-c09e44dd9ced/scratchpad/pptx-build/assets/icons-dark/FaComments.png">    </p:cNvPr>
          <p:cNvPicPr>
            <a:picLocks noChangeAspect="1"/>
          </p:cNvPicPr>
          <p:nvPr/>
        </p:nvPicPr>
        <p:blipFill>
          <a:blip r:embed="rId1"/>
          <a:stretch>
            <a:fillRect/>
          </a:stretch>
        </p:blipFill>
        <p:spPr>
          <a:xfrm>
            <a:off x="2089252" y="1953235"/>
            <a:ext cx="220674" cy="220674"/>
          </a:xfrm>
          <a:prstGeom prst="rect">
            <a:avLst/>
          </a:prstGeom>
        </p:spPr>
      </p:pic>
      <p:sp>
        <p:nvSpPr>
          <p:cNvPr id="15" name="Text 12"/>
          <p:cNvSpPr/>
          <p:nvPr/>
        </p:nvSpPr>
        <p:spPr>
          <a:xfrm>
            <a:off x="612648" y="2336383"/>
            <a:ext cx="3173882" cy="323332"/>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Your question</a:t>
            </a:r>
            <a:endParaRPr lang="en-US" sz="1400" dirty="0"/>
          </a:p>
        </p:txBody>
      </p:sp>
      <p:sp>
        <p:nvSpPr>
          <p:cNvPr id="16" name="Shape 13"/>
          <p:cNvSpPr/>
          <p:nvPr/>
        </p:nvSpPr>
        <p:spPr>
          <a:xfrm>
            <a:off x="3951122" y="2141982"/>
            <a:ext cx="393192" cy="146304"/>
          </a:xfrm>
          <a:prstGeom prst="rightArrow">
            <a:avLst/>
          </a:prstGeom>
          <a:solidFill>
            <a:srgbClr val="48587A"/>
          </a:solidFill>
          <a:ln/>
        </p:spPr>
      </p:sp>
      <p:sp>
        <p:nvSpPr>
          <p:cNvPr id="17" name="Shape 14"/>
          <p:cNvSpPr/>
          <p:nvPr/>
        </p:nvSpPr>
        <p:spPr>
          <a:xfrm>
            <a:off x="4399178" y="1709928"/>
            <a:ext cx="3393338" cy="1010412"/>
          </a:xfrm>
          <a:prstGeom prst="roundRect">
            <a:avLst>
              <a:gd name="adj" fmla="val 8145"/>
            </a:avLst>
          </a:prstGeom>
          <a:solidFill>
            <a:srgbClr val="E8A33D"/>
          </a:solidFill>
          <a:ln/>
          <a:effectLst>
            <a:outerShdw sx="100000" sy="100000" kx="0" ky="0" algn="bl" rotWithShape="0" blurRad="76200" dist="25400" dir="5400000">
              <a:srgbClr val="1E2761">
                <a:alpha val="16000"/>
              </a:srgbClr>
            </a:outerShdw>
          </a:effectLst>
        </p:spPr>
      </p:sp>
      <p:sp>
        <p:nvSpPr>
          <p:cNvPr id="18" name="Shape 15"/>
          <p:cNvSpPr/>
          <p:nvPr/>
        </p:nvSpPr>
        <p:spPr>
          <a:xfrm>
            <a:off x="5883661" y="1851386"/>
            <a:ext cx="424373" cy="424373"/>
          </a:xfrm>
          <a:prstGeom prst="ellipse">
            <a:avLst/>
          </a:prstGeom>
          <a:solidFill>
            <a:srgbClr val="141B45"/>
          </a:solidFill>
          <a:ln/>
        </p:spPr>
      </p:sp>
      <p:pic>
        <p:nvPicPr>
          <p:cNvPr id="19" name="Image 1" descr="/private/tmp/claude-501/-Users-sai-Work-Office-Teaching/ee8695eb-a8ef-409d-a9ba-c09e44dd9ced/scratchpad/pptx-build/assets/icons/FaCogs.png">    </p:cNvPr>
          <p:cNvPicPr>
            <a:picLocks noChangeAspect="1"/>
          </p:cNvPicPr>
          <p:nvPr/>
        </p:nvPicPr>
        <p:blipFill>
          <a:blip r:embed="rId2"/>
          <a:stretch>
            <a:fillRect/>
          </a:stretch>
        </p:blipFill>
        <p:spPr>
          <a:xfrm>
            <a:off x="5985511" y="1953235"/>
            <a:ext cx="220674" cy="220674"/>
          </a:xfrm>
          <a:prstGeom prst="rect">
            <a:avLst/>
          </a:prstGeom>
        </p:spPr>
      </p:pic>
      <p:sp>
        <p:nvSpPr>
          <p:cNvPr id="20" name="Text 16"/>
          <p:cNvSpPr/>
          <p:nvPr/>
        </p:nvSpPr>
        <p:spPr>
          <a:xfrm>
            <a:off x="4508906" y="2336383"/>
            <a:ext cx="3173882" cy="323332"/>
          </a:xfrm>
          <a:prstGeom prst="rect">
            <a:avLst/>
          </a:prstGeom>
          <a:noFill/>
          <a:ln/>
        </p:spPr>
        <p:txBody>
          <a:bodyPr wrap="square" lIns="0" tIns="0" rIns="0" bIns="0" rtlCol="0" anchor="t">
            <a:normAutofit/>
          </a:bodyPr>
          <a:lstStyle/>
          <a:p>
            <a:pPr algn="ctr" indent="0" marL="0">
              <a:buNone/>
            </a:pPr>
            <a:r>
              <a:rPr lang="en-US" sz="1400" b="1" dirty="0">
                <a:solidFill>
                  <a:srgbClr val="141B45"/>
                </a:solidFill>
                <a:latin typeface="Calibri" pitchFamily="34" charset="0"/>
                <a:ea typeface="Calibri" pitchFamily="34" charset="-122"/>
                <a:cs typeface="Calibri" pitchFamily="34" charset="-120"/>
              </a:rPr>
              <a:t>AI Studio</a:t>
            </a:r>
            <a:endParaRPr lang="en-US" sz="1400" dirty="0"/>
          </a:p>
        </p:txBody>
      </p:sp>
      <p:sp>
        <p:nvSpPr>
          <p:cNvPr id="21" name="Shape 17"/>
          <p:cNvSpPr/>
          <p:nvPr/>
        </p:nvSpPr>
        <p:spPr>
          <a:xfrm>
            <a:off x="7847381" y="2141982"/>
            <a:ext cx="393192" cy="146304"/>
          </a:xfrm>
          <a:prstGeom prst="rightArrow">
            <a:avLst/>
          </a:prstGeom>
          <a:solidFill>
            <a:srgbClr val="48587A"/>
          </a:solidFill>
          <a:ln/>
        </p:spPr>
      </p:sp>
      <p:sp>
        <p:nvSpPr>
          <p:cNvPr id="22" name="Shape 18"/>
          <p:cNvSpPr/>
          <p:nvPr/>
        </p:nvSpPr>
        <p:spPr>
          <a:xfrm>
            <a:off x="8295437" y="1709928"/>
            <a:ext cx="3393338" cy="1010412"/>
          </a:xfrm>
          <a:prstGeom prst="roundRect">
            <a:avLst>
              <a:gd name="adj" fmla="val 8145"/>
            </a:avLst>
          </a:prstGeom>
          <a:solidFill>
            <a:srgbClr val="1E2761"/>
          </a:solidFill>
          <a:ln/>
          <a:effectLst>
            <a:outerShdw sx="100000" sy="100000" kx="0" ky="0" algn="bl" rotWithShape="0" blurRad="76200" dist="25400" dir="5400000">
              <a:srgbClr val="1E2761">
                <a:alpha val="16000"/>
              </a:srgbClr>
            </a:outerShdw>
          </a:effectLst>
        </p:spPr>
      </p:sp>
      <p:sp>
        <p:nvSpPr>
          <p:cNvPr id="23" name="Shape 19"/>
          <p:cNvSpPr/>
          <p:nvPr/>
        </p:nvSpPr>
        <p:spPr>
          <a:xfrm>
            <a:off x="9779919" y="1851386"/>
            <a:ext cx="424373" cy="424373"/>
          </a:xfrm>
          <a:prstGeom prst="ellipse">
            <a:avLst/>
          </a:prstGeom>
          <a:solidFill>
            <a:srgbClr val="E8A33D"/>
          </a:solidFill>
          <a:ln/>
        </p:spPr>
      </p:sp>
      <p:pic>
        <p:nvPicPr>
          <p:cNvPr id="24" name="Image 2" descr="/private/tmp/claude-501/-Users-sai-Work-Office-Teaching/ee8695eb-a8ef-409d-a9ba-c09e44dd9ced/scratchpad/pptx-build/assets/icons-dark/FaChartBar.png">    </p:cNvPr>
          <p:cNvPicPr>
            <a:picLocks noChangeAspect="1"/>
          </p:cNvPicPr>
          <p:nvPr/>
        </p:nvPicPr>
        <p:blipFill>
          <a:blip r:embed="rId3"/>
          <a:stretch>
            <a:fillRect/>
          </a:stretch>
        </p:blipFill>
        <p:spPr>
          <a:xfrm>
            <a:off x="9881769" y="1953235"/>
            <a:ext cx="220674" cy="220674"/>
          </a:xfrm>
          <a:prstGeom prst="rect">
            <a:avLst/>
          </a:prstGeom>
        </p:spPr>
      </p:pic>
      <p:sp>
        <p:nvSpPr>
          <p:cNvPr id="25" name="Text 20"/>
          <p:cNvSpPr/>
          <p:nvPr/>
        </p:nvSpPr>
        <p:spPr>
          <a:xfrm>
            <a:off x="8405165" y="2336383"/>
            <a:ext cx="3173882" cy="323332"/>
          </a:xfrm>
          <a:prstGeom prst="rect">
            <a:avLst/>
          </a:prstGeom>
          <a:noFill/>
          <a:ln/>
        </p:spPr>
        <p:txBody>
          <a:bodyPr wrap="square" lIns="0" tIns="0" rIns="0" bIns="0" rtlCol="0" anchor="t">
            <a:normAutofit/>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Dashboard / answer</a:t>
            </a:r>
            <a:endParaRPr lang="en-US" sz="1400" dirty="0"/>
          </a:p>
        </p:txBody>
      </p:sp>
      <p:sp>
        <p:nvSpPr>
          <p:cNvPr id="26" name="Shape 21"/>
          <p:cNvSpPr/>
          <p:nvPr/>
        </p:nvSpPr>
        <p:spPr>
          <a:xfrm>
            <a:off x="5318608" y="3264408"/>
            <a:ext cx="1554480" cy="1554480"/>
          </a:xfrm>
          <a:prstGeom prst="ellipse">
            <a:avLst/>
          </a:prstGeom>
          <a:solidFill>
            <a:srgbClr val="141B45"/>
          </a:solidFill>
          <a:ln w="25400">
            <a:solidFill>
              <a:srgbClr val="E8A33D"/>
            </a:solidFill>
            <a:prstDash val="solid"/>
          </a:ln>
        </p:spPr>
      </p:sp>
      <p:sp>
        <p:nvSpPr>
          <p:cNvPr id="27" name="Shape 22"/>
          <p:cNvSpPr/>
          <p:nvPr/>
        </p:nvSpPr>
        <p:spPr>
          <a:xfrm>
            <a:off x="5940400" y="3401568"/>
            <a:ext cx="310896" cy="310896"/>
          </a:xfrm>
          <a:prstGeom prst="ellipse">
            <a:avLst/>
          </a:prstGeom>
          <a:solidFill>
            <a:srgbClr val="E8A33D"/>
          </a:solidFill>
          <a:ln/>
        </p:spPr>
      </p:sp>
      <p:sp>
        <p:nvSpPr>
          <p:cNvPr id="28" name="Shape 23"/>
          <p:cNvSpPr/>
          <p:nvPr/>
        </p:nvSpPr>
        <p:spPr>
          <a:xfrm>
            <a:off x="6401312" y="3736440"/>
            <a:ext cx="310896" cy="310896"/>
          </a:xfrm>
          <a:prstGeom prst="ellipse">
            <a:avLst/>
          </a:prstGeom>
          <a:solidFill>
            <a:srgbClr val="E8A33D"/>
          </a:solidFill>
          <a:ln/>
        </p:spPr>
      </p:sp>
      <p:sp>
        <p:nvSpPr>
          <p:cNvPr id="29" name="Shape 24"/>
          <p:cNvSpPr/>
          <p:nvPr/>
        </p:nvSpPr>
        <p:spPr>
          <a:xfrm>
            <a:off x="6225259" y="4278276"/>
            <a:ext cx="310896" cy="310896"/>
          </a:xfrm>
          <a:prstGeom prst="ellipse">
            <a:avLst/>
          </a:prstGeom>
          <a:solidFill>
            <a:srgbClr val="E8A33D"/>
          </a:solidFill>
          <a:ln/>
        </p:spPr>
      </p:sp>
      <p:sp>
        <p:nvSpPr>
          <p:cNvPr id="30" name="Shape 25"/>
          <p:cNvSpPr/>
          <p:nvPr/>
        </p:nvSpPr>
        <p:spPr>
          <a:xfrm>
            <a:off x="5655540" y="4278276"/>
            <a:ext cx="310896" cy="310896"/>
          </a:xfrm>
          <a:prstGeom prst="ellipse">
            <a:avLst/>
          </a:prstGeom>
          <a:solidFill>
            <a:srgbClr val="E8A33D"/>
          </a:solidFill>
          <a:ln/>
        </p:spPr>
      </p:sp>
      <p:sp>
        <p:nvSpPr>
          <p:cNvPr id="31" name="Shape 26"/>
          <p:cNvSpPr/>
          <p:nvPr/>
        </p:nvSpPr>
        <p:spPr>
          <a:xfrm>
            <a:off x="5479487" y="3736440"/>
            <a:ext cx="310896" cy="310896"/>
          </a:xfrm>
          <a:prstGeom prst="ellipse">
            <a:avLst/>
          </a:prstGeom>
          <a:solidFill>
            <a:srgbClr val="E8A33D"/>
          </a:solidFill>
          <a:ln/>
        </p:spPr>
      </p:sp>
      <p:sp>
        <p:nvSpPr>
          <p:cNvPr id="32" name="Text 27"/>
          <p:cNvSpPr/>
          <p:nvPr/>
        </p:nvSpPr>
        <p:spPr>
          <a:xfrm>
            <a:off x="5455768" y="3785616"/>
            <a:ext cx="1280160" cy="51206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reason → act → observe → repeat</a:t>
            </a:r>
            <a:endParaRPr lang="en-US" sz="1000" dirty="0"/>
          </a:p>
        </p:txBody>
      </p:sp>
      <p:sp>
        <p:nvSpPr>
          <p:cNvPr id="33" name="Text 28"/>
          <p:cNvSpPr/>
          <p:nvPr/>
        </p:nvSpPr>
        <p:spPr>
          <a:xfrm>
            <a:off x="502920" y="5440680"/>
            <a:ext cx="11185855"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When you select one or more agents/tools and ask a question, this is what's running underneath the middle box.</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9966960" y="-1371600"/>
            <a:ext cx="3840480" cy="3840480"/>
          </a:xfrm>
          <a:prstGeom prst="ellipse">
            <a:avLst/>
          </a:prstGeom>
          <a:solidFill>
            <a:srgbClr val="1E2761"/>
          </a:solidFill>
          <a:ln/>
        </p:spPr>
      </p:sp>
      <p:sp>
        <p:nvSpPr>
          <p:cNvPr id="3" name="Text 1"/>
          <p:cNvSpPr/>
          <p:nvPr/>
        </p:nvSpPr>
        <p:spPr>
          <a:xfrm>
            <a:off x="502920" y="502920"/>
            <a:ext cx="914400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LIVE DEMO</a:t>
            </a:r>
            <a:endParaRPr lang="en-US" sz="1300" dirty="0"/>
          </a:p>
        </p:txBody>
      </p:sp>
      <p:sp>
        <p:nvSpPr>
          <p:cNvPr id="4" name="Text 2"/>
          <p:cNvSpPr/>
          <p:nvPr/>
        </p:nvSpPr>
        <p:spPr>
          <a:xfrm>
            <a:off x="502920" y="841248"/>
            <a:ext cx="11185855" cy="65836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Ask AI Studio a Question, Live</a:t>
            </a:r>
            <a:endParaRPr lang="en-US" sz="2700" dirty="0"/>
          </a:p>
        </p:txBody>
      </p:sp>
      <p:sp>
        <p:nvSpPr>
          <p:cNvPr id="5" name="Text 3"/>
          <p:cNvSpPr/>
          <p:nvPr/>
        </p:nvSpPr>
        <p:spPr>
          <a:xfrm>
            <a:off x="502920" y="1444752"/>
            <a:ext cx="11185855" cy="36576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~10–15 min · have a backup screenshot ready in case of connectivity issues</a:t>
            </a:r>
            <a:endParaRPr lang="en-US" sz="1350" dirty="0"/>
          </a:p>
        </p:txBody>
      </p:sp>
      <p:sp>
        <p:nvSpPr>
          <p:cNvPr id="6" name="Shape 4"/>
          <p:cNvSpPr/>
          <p:nvPr/>
        </p:nvSpPr>
        <p:spPr>
          <a:xfrm>
            <a:off x="502920" y="2020824"/>
            <a:ext cx="457200" cy="457200"/>
          </a:xfrm>
          <a:prstGeom prst="ellipse">
            <a:avLst/>
          </a:prstGeom>
          <a:solidFill>
            <a:srgbClr val="E8A33D"/>
          </a:solidFill>
          <a:ln/>
        </p:spPr>
      </p:sp>
      <p:sp>
        <p:nvSpPr>
          <p:cNvPr id="7" name="Text 5"/>
          <p:cNvSpPr/>
          <p:nvPr/>
        </p:nvSpPr>
        <p:spPr>
          <a:xfrm>
            <a:off x="502920" y="202082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161288" y="196596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Ask a market-data-style question live</a:t>
            </a:r>
            <a:endParaRPr lang="en-US" sz="1500" dirty="0"/>
          </a:p>
        </p:txBody>
      </p:sp>
      <p:sp>
        <p:nvSpPr>
          <p:cNvPr id="9" name="Text 7"/>
          <p:cNvSpPr/>
          <p:nvPr/>
        </p:nvSpPr>
        <p:spPr>
          <a:xfrm>
            <a:off x="1161288" y="249174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[DRAFT: write &amp; test the exact wording beforehand]; type it live, not pre-filled.</a:t>
            </a:r>
            <a:endParaRPr lang="en-US" sz="1150" dirty="0"/>
          </a:p>
        </p:txBody>
      </p:sp>
      <p:sp>
        <p:nvSpPr>
          <p:cNvPr id="10" name="Shape 8"/>
          <p:cNvSpPr/>
          <p:nvPr/>
        </p:nvSpPr>
        <p:spPr>
          <a:xfrm>
            <a:off x="502920" y="3072384"/>
            <a:ext cx="457200" cy="457200"/>
          </a:xfrm>
          <a:prstGeom prst="ellipse">
            <a:avLst/>
          </a:prstGeom>
          <a:solidFill>
            <a:srgbClr val="E8A33D"/>
          </a:solidFill>
          <a:ln/>
        </p:spPr>
      </p:sp>
      <p:sp>
        <p:nvSpPr>
          <p:cNvPr id="11" name="Text 9"/>
          <p:cNvSpPr/>
          <p:nvPr/>
        </p:nvSpPr>
        <p:spPr>
          <a:xfrm>
            <a:off x="502920" y="307238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61288" y="301752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Narrate the dashboard as it renders</a:t>
            </a:r>
            <a:endParaRPr lang="en-US" sz="1500" dirty="0"/>
          </a:p>
        </p:txBody>
      </p:sp>
      <p:sp>
        <p:nvSpPr>
          <p:cNvPr id="13" name="Text 11"/>
          <p:cNvSpPr/>
          <p:nvPr/>
        </p:nvSpPr>
        <p:spPr>
          <a:xfrm>
            <a:off x="1161288" y="354330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Notice it decided, on its own, to pull data and generate a chart: that's F4 happening live.</a:t>
            </a:r>
            <a:endParaRPr lang="en-US" sz="1150" dirty="0"/>
          </a:p>
        </p:txBody>
      </p:sp>
      <p:sp>
        <p:nvSpPr>
          <p:cNvPr id="14" name="Shape 12"/>
          <p:cNvSpPr/>
          <p:nvPr/>
        </p:nvSpPr>
        <p:spPr>
          <a:xfrm>
            <a:off x="502920" y="4123944"/>
            <a:ext cx="457200" cy="457200"/>
          </a:xfrm>
          <a:prstGeom prst="ellipse">
            <a:avLst/>
          </a:prstGeom>
          <a:solidFill>
            <a:srgbClr val="E8A33D"/>
          </a:solidFill>
          <a:ln/>
        </p:spPr>
      </p:sp>
      <p:sp>
        <p:nvSpPr>
          <p:cNvPr id="15" name="Text 13"/>
          <p:cNvSpPr/>
          <p:nvPr/>
        </p:nvSpPr>
        <p:spPr>
          <a:xfrm>
            <a:off x="502920" y="412394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161288" y="406908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Ask one follow-up in the same conversation</a:t>
            </a:r>
            <a:endParaRPr lang="en-US" sz="1500" dirty="0"/>
          </a:p>
        </p:txBody>
      </p:sp>
      <p:sp>
        <p:nvSpPr>
          <p:cNvPr id="17" name="Text 15"/>
          <p:cNvSpPr/>
          <p:nvPr/>
        </p:nvSpPr>
        <p:spPr>
          <a:xfrm>
            <a:off x="1161288" y="459486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It updates based on what was already asked: multi-turn context, session 2 territory.</a:t>
            </a:r>
            <a:endParaRPr lang="en-US" sz="1150" dirty="0"/>
          </a:p>
        </p:txBody>
      </p:sp>
      <p:sp>
        <p:nvSpPr>
          <p:cNvPr id="18" name="Shape 16"/>
          <p:cNvSpPr/>
          <p:nvPr/>
        </p:nvSpPr>
        <p:spPr>
          <a:xfrm>
            <a:off x="502920" y="5175504"/>
            <a:ext cx="457200" cy="457200"/>
          </a:xfrm>
          <a:prstGeom prst="ellipse">
            <a:avLst/>
          </a:prstGeom>
          <a:solidFill>
            <a:srgbClr val="E8A33D"/>
          </a:solidFill>
          <a:ln/>
        </p:spPr>
      </p:sp>
      <p:sp>
        <p:nvSpPr>
          <p:cNvPr id="19" name="Text 17"/>
          <p:cNvSpPr/>
          <p:nvPr/>
        </p:nvSpPr>
        <p:spPr>
          <a:xfrm>
            <a:off x="502920" y="5175504"/>
            <a:ext cx="457200" cy="457200"/>
          </a:xfrm>
          <a:prstGeom prst="rect">
            <a:avLst/>
          </a:prstGeom>
          <a:noFill/>
          <a:ln/>
        </p:spPr>
        <p:txBody>
          <a:bodyPr wrap="square" lIns="0" tIns="0" rIns="0" bIns="0" rtlCol="0" anchor="ctr"/>
          <a:lstStyle/>
          <a:p>
            <a:pPr algn="ctr" indent="0" marL="0">
              <a:buNone/>
            </a:pPr>
            <a:r>
              <a:rPr lang="en-US" sz="1600" b="1" dirty="0">
                <a:solidFill>
                  <a:srgbClr val="141B45"/>
                </a:solidFill>
                <a:latin typeface="Cambria" pitchFamily="34" charset="0"/>
                <a:ea typeface="Cambria" pitchFamily="34" charset="-122"/>
                <a:cs typeface="Cambria" pitchFamily="34" charset="-120"/>
              </a:rPr>
              <a:t>4</a:t>
            </a:r>
            <a:endParaRPr lang="en-US" sz="1600" dirty="0"/>
          </a:p>
        </p:txBody>
      </p:sp>
      <p:sp>
        <p:nvSpPr>
          <p:cNvPr id="20" name="Text 18"/>
          <p:cNvSpPr/>
          <p:nvPr/>
        </p:nvSpPr>
        <p:spPr>
          <a:xfrm>
            <a:off x="1161288" y="5120640"/>
            <a:ext cx="10527487" cy="578358"/>
          </a:xfrm>
          <a:prstGeom prst="rect">
            <a:avLst/>
          </a:prstGeom>
          <a:noFill/>
          <a:ln/>
        </p:spPr>
        <p:txBody>
          <a:bodyPr wrap="square" lIns="0" tIns="0" rIns="0" bIns="0" rtlCol="0" anchor="b">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Point out variability</a:t>
            </a:r>
            <a:endParaRPr lang="en-US" sz="1500" dirty="0"/>
          </a:p>
        </p:txBody>
      </p:sp>
      <p:sp>
        <p:nvSpPr>
          <p:cNvPr id="21" name="Text 19"/>
          <p:cNvSpPr/>
          <p:nvPr/>
        </p:nvSpPr>
        <p:spPr>
          <a:xfrm>
            <a:off x="1161288" y="5646420"/>
            <a:ext cx="10527487" cy="504749"/>
          </a:xfrm>
          <a:prstGeom prst="rect">
            <a:avLst/>
          </a:prstGeom>
          <a:noFill/>
          <a:ln/>
        </p:spPr>
        <p:txBody>
          <a:bodyPr wrap="square" lIns="0" tIns="0" rIns="0" bIns="0" rtlCol="0" anchor="t">
            <a:normAutofit/>
          </a:bodyPr>
          <a:lstStyle/>
          <a:p>
            <a:pPr indent="0" marL="0">
              <a:buNone/>
            </a:pPr>
            <a:r>
              <a:rPr lang="en-US" sz="1150" i="1" dirty="0">
                <a:solidFill>
                  <a:srgbClr val="CADCFC"/>
                </a:solidFill>
                <a:latin typeface="Calibri" pitchFamily="34" charset="0"/>
                <a:ea typeface="Calibri" pitchFamily="34" charset="-122"/>
                <a:cs typeface="Calibri" pitchFamily="34" charset="-120"/>
              </a:rPr>
              <a:t>Same question again might phrase or lay out slightly differently: the probabilistic mechanism from slide 6, live.</a:t>
            </a:r>
            <a:endParaRPr lang="en-US" sz="1150" dirty="0"/>
          </a:p>
        </p:txBody>
      </p:sp>
      <p:sp>
        <p:nvSpPr>
          <p:cNvPr id="22" name="Text 20"/>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From Question to Dashboard</a:t>
            </a:r>
            <a:endParaRPr lang="en-US" sz="900" dirty="0"/>
          </a:p>
        </p:txBody>
      </p:sp>
      <p:sp>
        <p:nvSpPr>
          <p:cNvPr id="23"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13</a:t>
            </a:r>
            <a:endParaRPr lang="en-US" sz="900" dirty="0"/>
          </a:p>
        </p:txBody>
      </p:sp>
      <p:sp>
        <p:nvSpPr>
          <p:cNvPr id="24" name="Shape 22"/>
          <p:cNvSpPr/>
          <p:nvPr/>
        </p:nvSpPr>
        <p:spPr>
          <a:xfrm>
            <a:off x="11400739" y="201168"/>
            <a:ext cx="192024" cy="192024"/>
          </a:xfrm>
          <a:prstGeom prst="rect">
            <a:avLst/>
          </a:prstGeom>
          <a:solidFill>
            <a:srgbClr val="FFFFFF"/>
          </a:solidFill>
          <a:ln/>
        </p:spPr>
      </p:sp>
      <p:sp>
        <p:nvSpPr>
          <p:cNvPr id="25" name="Shape 23"/>
          <p:cNvSpPr/>
          <p:nvPr/>
        </p:nvSpPr>
        <p:spPr>
          <a:xfrm rot="5400000">
            <a:off x="11544757" y="249174"/>
            <a:ext cx="192024" cy="96012"/>
          </a:xfrm>
          <a:prstGeom prst="triangle">
            <a:avLst/>
          </a:prstGeom>
          <a:solidFill>
            <a:srgbClr val="E52713"/>
          </a:solidFill>
          <a:ln/>
        </p:spPr>
      </p:sp>
      <p:sp>
        <p:nvSpPr>
          <p:cNvPr id="26" name="Shape 24"/>
          <p:cNvSpPr/>
          <p:nvPr/>
        </p:nvSpPr>
        <p:spPr>
          <a:xfrm rot="16200000">
            <a:off x="11256721" y="249174"/>
            <a:ext cx="192024" cy="96012"/>
          </a:xfrm>
          <a:prstGeom prst="triangle">
            <a:avLst/>
          </a:prstGeom>
          <a:solidFill>
            <a:srgbClr val="E52713"/>
          </a:solidFill>
          <a:ln/>
        </p:spPr>
      </p:sp>
      <p:sp>
        <p:nvSpPr>
          <p:cNvPr id="27" name="Shape 25"/>
          <p:cNvSpPr/>
          <p:nvPr/>
        </p:nvSpPr>
        <p:spPr>
          <a:xfrm rot="10800000">
            <a:off x="11400739" y="201168"/>
            <a:ext cx="192024" cy="96012"/>
          </a:xfrm>
          <a:prstGeom prst="triangle">
            <a:avLst/>
          </a:prstGeom>
          <a:solidFill>
            <a:srgbClr val="E52713"/>
          </a:solidFill>
          <a:ln/>
        </p:spPr>
      </p:sp>
      <p:sp>
        <p:nvSpPr>
          <p:cNvPr id="28" name="Shape 26"/>
          <p:cNvSpPr/>
          <p:nvPr/>
        </p:nvSpPr>
        <p:spPr>
          <a:xfrm>
            <a:off x="11400739" y="297180"/>
            <a:ext cx="192024" cy="96012"/>
          </a:xfrm>
          <a:prstGeom prst="triangle">
            <a:avLst/>
          </a:prstGeom>
          <a:solidFill>
            <a:srgbClr val="E52713"/>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058400" cy="292608"/>
          </a:xfrm>
          <a:prstGeom prst="rect">
            <a:avLst/>
          </a:prstGeom>
          <a:noFill/>
          <a:ln/>
        </p:spPr>
        <p:txBody>
          <a:bodyPr wrap="square" lIns="0" tIns="0" rIns="0" bIns="0" rtlCol="0" anchor="ctr"/>
          <a:lstStyle/>
          <a:p>
            <a:pPr indent="0" marL="0">
              <a:buNone/>
            </a:pPr>
            <a:r>
              <a:rPr lang="en-US" sz="1200" b="1" spc="150" kern="0" dirty="0">
                <a:solidFill>
                  <a:srgbClr val="A6660E"/>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Recap + What's Next</a:t>
            </a:r>
            <a:endParaRPr lang="en-US" sz="2900" dirty="0"/>
          </a:p>
        </p:txBody>
      </p:sp>
      <p:sp>
        <p:nvSpPr>
          <p:cNvPr id="4" name="Text 2"/>
          <p:cNvSpPr/>
          <p:nvPr/>
        </p:nvSpPr>
        <p:spPr>
          <a:xfrm>
            <a:off x="502920" y="1298448"/>
            <a:ext cx="11185855" cy="329184"/>
          </a:xfrm>
          <a:prstGeom prst="rect">
            <a:avLst/>
          </a:prstGeom>
          <a:noFill/>
          <a:ln/>
        </p:spPr>
        <p:txBody>
          <a:bodyPr wrap="square" lIns="0" tIns="0" rIns="0" bIns="0" rtlCol="0" anchor="ctr"/>
          <a:lstStyle/>
          <a:p>
            <a:pPr indent="0" marL="0">
              <a:buNone/>
            </a:pPr>
            <a:r>
              <a:rPr lang="en-US" sz="1450" i="1" dirty="0">
                <a:solidFill>
                  <a:srgbClr val="6B7280"/>
                </a:solidFill>
                <a:latin typeface="Calibri" pitchFamily="34" charset="0"/>
                <a:ea typeface="Calibri" pitchFamily="34" charset="-122"/>
                <a:cs typeface="Calibri" pitchFamily="34" charset="-120"/>
              </a:rPr>
              <a:t>One line on today, one line ahead</a:t>
            </a:r>
            <a:endParaRPr lang="en-US" sz="1450" dirty="0"/>
          </a:p>
        </p:txBody>
      </p:sp>
      <p:sp>
        <p:nvSpPr>
          <p:cNvPr id="5" name="Text 3"/>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6"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11400739" y="201168"/>
            <a:ext cx="192024" cy="192024"/>
          </a:xfrm>
          <a:prstGeom prst="rect">
            <a:avLst/>
          </a:prstGeom>
          <a:solidFill>
            <a:srgbClr val="FFFFFF"/>
          </a:solidFill>
          <a:ln/>
        </p:spPr>
      </p:sp>
      <p:sp>
        <p:nvSpPr>
          <p:cNvPr id="8" name="Shape 6"/>
          <p:cNvSpPr/>
          <p:nvPr/>
        </p:nvSpPr>
        <p:spPr>
          <a:xfrm rot="5400000">
            <a:off x="11544757" y="249174"/>
            <a:ext cx="192024" cy="96012"/>
          </a:xfrm>
          <a:prstGeom prst="triangle">
            <a:avLst/>
          </a:prstGeom>
          <a:solidFill>
            <a:srgbClr val="E52713"/>
          </a:solidFill>
          <a:ln/>
        </p:spPr>
      </p:sp>
      <p:sp>
        <p:nvSpPr>
          <p:cNvPr id="9" name="Shape 7"/>
          <p:cNvSpPr/>
          <p:nvPr/>
        </p:nvSpPr>
        <p:spPr>
          <a:xfrm rot="16200000">
            <a:off x="11256721" y="249174"/>
            <a:ext cx="192024" cy="96012"/>
          </a:xfrm>
          <a:prstGeom prst="triangle">
            <a:avLst/>
          </a:prstGeom>
          <a:solidFill>
            <a:srgbClr val="E52713"/>
          </a:solidFill>
          <a:ln/>
        </p:spPr>
      </p:sp>
      <p:sp>
        <p:nvSpPr>
          <p:cNvPr id="10" name="Shape 8"/>
          <p:cNvSpPr/>
          <p:nvPr/>
        </p:nvSpPr>
        <p:spPr>
          <a:xfrm rot="10800000">
            <a:off x="11400739" y="201168"/>
            <a:ext cx="192024" cy="96012"/>
          </a:xfrm>
          <a:prstGeom prst="triangle">
            <a:avLst/>
          </a:prstGeom>
          <a:solidFill>
            <a:srgbClr val="E52713"/>
          </a:solidFill>
          <a:ln/>
        </p:spPr>
      </p:sp>
      <p:sp>
        <p:nvSpPr>
          <p:cNvPr id="11" name="Shape 9"/>
          <p:cNvSpPr/>
          <p:nvPr/>
        </p:nvSpPr>
        <p:spPr>
          <a:xfrm>
            <a:off x="11400739" y="297180"/>
            <a:ext cx="192024" cy="96012"/>
          </a:xfrm>
          <a:prstGeom prst="triangle">
            <a:avLst/>
          </a:prstGeom>
          <a:solidFill>
            <a:srgbClr val="E52713"/>
          </a:solidFill>
          <a:ln/>
        </p:spPr>
      </p:sp>
      <p:sp>
        <p:nvSpPr>
          <p:cNvPr id="12" name="Shape 10"/>
          <p:cNvSpPr/>
          <p:nvPr/>
        </p:nvSpPr>
        <p:spPr>
          <a:xfrm>
            <a:off x="1392517" y="1709928"/>
            <a:ext cx="777240" cy="777240"/>
          </a:xfrm>
          <a:prstGeom prst="ellipse">
            <a:avLst/>
          </a:prstGeom>
          <a:solidFill>
            <a:srgbClr val="1E2761"/>
          </a:solidFill>
          <a:ln/>
        </p:spPr>
      </p:sp>
      <p:pic>
        <p:nvPicPr>
          <p:cNvPr id="13" name="Image 0" descr="/private/tmp/claude-501/-Users-sai-Work-Office-Teaching/ee8695eb-a8ef-409d-a9ba-c09e44dd9ced/scratchpad/pptx-build/assets/icons/FaToolbox.png">    </p:cNvPr>
          <p:cNvPicPr>
            <a:picLocks noChangeAspect="1"/>
          </p:cNvPicPr>
          <p:nvPr/>
        </p:nvPicPr>
        <p:blipFill>
          <a:blip r:embed="rId1"/>
          <a:stretch>
            <a:fillRect/>
          </a:stretch>
        </p:blipFill>
        <p:spPr>
          <a:xfrm>
            <a:off x="1579055" y="1896466"/>
            <a:ext cx="404165" cy="404165"/>
          </a:xfrm>
          <a:prstGeom prst="rect">
            <a:avLst/>
          </a:prstGeom>
        </p:spPr>
      </p:pic>
      <p:sp>
        <p:nvSpPr>
          <p:cNvPr id="14" name="Text 11"/>
          <p:cNvSpPr/>
          <p:nvPr/>
        </p:nvSpPr>
        <p:spPr>
          <a:xfrm>
            <a:off x="502920"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Mindset</a:t>
            </a:r>
            <a:endParaRPr lang="en-US" sz="1250" dirty="0"/>
          </a:p>
        </p:txBody>
      </p:sp>
      <p:sp>
        <p:nvSpPr>
          <p:cNvPr id="15" name="Shape 12"/>
          <p:cNvSpPr/>
          <p:nvPr/>
        </p:nvSpPr>
        <p:spPr>
          <a:xfrm>
            <a:off x="4268991" y="1709928"/>
            <a:ext cx="777240" cy="777240"/>
          </a:xfrm>
          <a:prstGeom prst="ellipse">
            <a:avLst/>
          </a:prstGeom>
          <a:solidFill>
            <a:srgbClr val="1E2761"/>
          </a:solidFill>
          <a:ln/>
        </p:spPr>
      </p:sp>
      <p:pic>
        <p:nvPicPr>
          <p:cNvPr id="16" name="Image 1" descr="/private/tmp/claude-501/-Users-sai-Work-Office-Teaching/ee8695eb-a8ef-409d-a9ba-c09e44dd9ced/scratchpad/pptx-build/assets/icons/FaDice.png">    </p:cNvPr>
          <p:cNvPicPr>
            <a:picLocks noChangeAspect="1"/>
          </p:cNvPicPr>
          <p:nvPr/>
        </p:nvPicPr>
        <p:blipFill>
          <a:blip r:embed="rId2"/>
          <a:stretch>
            <a:fillRect/>
          </a:stretch>
        </p:blipFill>
        <p:spPr>
          <a:xfrm>
            <a:off x="4455528" y="1896466"/>
            <a:ext cx="404165" cy="404165"/>
          </a:xfrm>
          <a:prstGeom prst="rect">
            <a:avLst/>
          </a:prstGeom>
        </p:spPr>
      </p:pic>
      <p:sp>
        <p:nvSpPr>
          <p:cNvPr id="17" name="Text 13"/>
          <p:cNvSpPr/>
          <p:nvPr/>
        </p:nvSpPr>
        <p:spPr>
          <a:xfrm>
            <a:off x="3379394"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Probabilistic</a:t>
            </a:r>
            <a:endParaRPr lang="en-US" sz="1250" dirty="0"/>
          </a:p>
        </p:txBody>
      </p:sp>
      <p:sp>
        <p:nvSpPr>
          <p:cNvPr id="18" name="Shape 14"/>
          <p:cNvSpPr/>
          <p:nvPr/>
        </p:nvSpPr>
        <p:spPr>
          <a:xfrm>
            <a:off x="7145465" y="1709928"/>
            <a:ext cx="777240" cy="777240"/>
          </a:xfrm>
          <a:prstGeom prst="ellipse">
            <a:avLst/>
          </a:prstGeom>
          <a:solidFill>
            <a:srgbClr val="1E2761"/>
          </a:solidFill>
          <a:ln/>
        </p:spPr>
      </p:sp>
      <p:pic>
        <p:nvPicPr>
          <p:cNvPr id="19" name="Image 2" descr="/private/tmp/claude-501/-Users-sai-Work-Office-Teaching/ee8695eb-a8ef-409d-a9ba-c09e44dd9ced/scratchpad/pptx-build/assets/icons/FaBolt.png">    </p:cNvPr>
          <p:cNvPicPr>
            <a:picLocks noChangeAspect="1"/>
          </p:cNvPicPr>
          <p:nvPr/>
        </p:nvPicPr>
        <p:blipFill>
          <a:blip r:embed="rId3"/>
          <a:stretch>
            <a:fillRect/>
          </a:stretch>
        </p:blipFill>
        <p:spPr>
          <a:xfrm>
            <a:off x="7332002" y="1896466"/>
            <a:ext cx="404165" cy="404165"/>
          </a:xfrm>
          <a:prstGeom prst="rect">
            <a:avLst/>
          </a:prstGeom>
        </p:spPr>
      </p:pic>
      <p:sp>
        <p:nvSpPr>
          <p:cNvPr id="20" name="Text 15"/>
          <p:cNvSpPr/>
          <p:nvPr/>
        </p:nvSpPr>
        <p:spPr>
          <a:xfrm>
            <a:off x="6255868"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What's new</a:t>
            </a:r>
            <a:endParaRPr lang="en-US" sz="1250" dirty="0"/>
          </a:p>
        </p:txBody>
      </p:sp>
      <p:sp>
        <p:nvSpPr>
          <p:cNvPr id="21" name="Shape 16"/>
          <p:cNvSpPr/>
          <p:nvPr/>
        </p:nvSpPr>
        <p:spPr>
          <a:xfrm>
            <a:off x="10021938" y="1709928"/>
            <a:ext cx="777240" cy="777240"/>
          </a:xfrm>
          <a:prstGeom prst="ellipse">
            <a:avLst/>
          </a:prstGeom>
          <a:solidFill>
            <a:srgbClr val="1E2761"/>
          </a:solidFill>
          <a:ln/>
        </p:spPr>
      </p:sp>
      <p:pic>
        <p:nvPicPr>
          <p:cNvPr id="22" name="Image 3" descr="/private/tmp/claude-501/-Users-sai-Work-Office-Teaching/ee8695eb-a8ef-409d-a9ba-c09e44dd9ced/scratchpad/pptx-build/assets/icons/FaSyncAlt.png">    </p:cNvPr>
          <p:cNvPicPr>
            <a:picLocks noChangeAspect="1"/>
          </p:cNvPicPr>
          <p:nvPr/>
        </p:nvPicPr>
        <p:blipFill>
          <a:blip r:embed="rId4"/>
          <a:stretch>
            <a:fillRect/>
          </a:stretch>
        </p:blipFill>
        <p:spPr>
          <a:xfrm>
            <a:off x="10208476" y="1896466"/>
            <a:ext cx="404165" cy="404165"/>
          </a:xfrm>
          <a:prstGeom prst="rect">
            <a:avLst/>
          </a:prstGeom>
        </p:spPr>
      </p:pic>
      <p:sp>
        <p:nvSpPr>
          <p:cNvPr id="23" name="Text 17"/>
          <p:cNvSpPr/>
          <p:nvPr/>
        </p:nvSpPr>
        <p:spPr>
          <a:xfrm>
            <a:off x="9132341" y="2615184"/>
            <a:ext cx="2556434" cy="384048"/>
          </a:xfrm>
          <a:prstGeom prst="rect">
            <a:avLst/>
          </a:prstGeom>
          <a:noFill/>
          <a:ln/>
        </p:spPr>
        <p:txBody>
          <a:bodyPr wrap="square" lIns="0" tIns="0" rIns="0" bIns="0" rtlCol="0" anchor="ctr">
            <a:normAutofit/>
          </a:bodyPr>
          <a:lstStyle/>
          <a:p>
            <a:pPr algn="ctr" indent="0" marL="0">
              <a:buNone/>
            </a:pPr>
            <a:r>
              <a:rPr lang="en-US" sz="1250" b="1" dirty="0">
                <a:solidFill>
                  <a:srgbClr val="1E2761"/>
                </a:solidFill>
                <a:latin typeface="Calibri" pitchFamily="34" charset="0"/>
                <a:ea typeface="Calibri" pitchFamily="34" charset="-122"/>
                <a:cs typeface="Calibri" pitchFamily="34" charset="-120"/>
              </a:rPr>
              <a:t>Agent loop</a:t>
            </a:r>
            <a:endParaRPr lang="en-US" sz="1250" dirty="0"/>
          </a:p>
        </p:txBody>
      </p:sp>
      <p:sp>
        <p:nvSpPr>
          <p:cNvPr id="24" name="Shape 18"/>
          <p:cNvSpPr/>
          <p:nvPr/>
        </p:nvSpPr>
        <p:spPr>
          <a:xfrm>
            <a:off x="502920" y="3310128"/>
            <a:ext cx="11185855" cy="2606040"/>
          </a:xfrm>
          <a:prstGeom prst="roundRect">
            <a:avLst>
              <a:gd name="adj" fmla="val 3158"/>
            </a:avLst>
          </a:prstGeom>
          <a:solidFill>
            <a:srgbClr val="F4F6FB"/>
          </a:solidFill>
          <a:ln/>
          <a:effectLst>
            <a:outerShdw sx="100000" sy="100000" kx="0" ky="0" algn="bl" rotWithShape="0" blurRad="76200" dist="25400" dir="5400000">
              <a:srgbClr val="1E2761">
                <a:alpha val="16000"/>
              </a:srgbClr>
            </a:outerShdw>
          </a:effectLst>
        </p:spPr>
      </p:sp>
      <p:sp>
        <p:nvSpPr>
          <p:cNvPr id="25" name="Text 19"/>
          <p:cNvSpPr/>
          <p:nvPr/>
        </p:nvSpPr>
        <p:spPr>
          <a:xfrm>
            <a:off x="914400" y="3310128"/>
            <a:ext cx="10362895" cy="2606040"/>
          </a:xfrm>
          <a:prstGeom prst="rect">
            <a:avLst/>
          </a:prstGeom>
          <a:noFill/>
          <a:ln/>
        </p:spPr>
        <p:txBody>
          <a:bodyPr wrap="square" lIns="0" tIns="0" rIns="0" bIns="0" rtlCol="0" anchor="ctr"/>
          <a:lstStyle/>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Today: frame the problem before picking the tool → understand why GenAI is probabilistic → know what's genuinely new → understand what an agent is.</a:t>
            </a:r>
            <a:endParaRPr lang="en-US" sz="1600" dirty="0"/>
          </a:p>
          <a:p>
            <a:pPr indent="0" marL="0">
              <a:spcAft>
                <a:spcPts val="1400"/>
              </a:spcAft>
              <a:buNone/>
            </a:pPr>
            <a:r>
              <a:rPr lang="en-US" sz="1600" dirty="0">
                <a:solidFill>
                  <a:srgbClr val="1A1F36"/>
                </a:solidFill>
                <a:latin typeface="Calibri" pitchFamily="34" charset="0"/>
                <a:ea typeface="Calibri" pitchFamily="34" charset="-122"/>
                <a:cs typeface="Calibri" pitchFamily="34" charset="-120"/>
              </a:rPr>
              <a:t>Next time: talking to AI well; session 2 is fully self-contained, no need to have been here today.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5"/>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1E2761"/>
          </a:solidFill>
          <a:ln/>
        </p:spPr>
      </p:sp>
      <p:sp>
        <p:nvSpPr>
          <p:cNvPr id="3" name="Text 1"/>
          <p:cNvSpPr/>
          <p:nvPr/>
        </p:nvSpPr>
        <p:spPr>
          <a:xfrm>
            <a:off x="914400" y="2514600"/>
            <a:ext cx="10332720" cy="36576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APPENDIX</a:t>
            </a:r>
            <a:endParaRPr lang="en-US" sz="1300" dirty="0"/>
          </a:p>
        </p:txBody>
      </p:sp>
      <p:sp>
        <p:nvSpPr>
          <p:cNvPr id="4" name="Text 2"/>
          <p:cNvSpPr/>
          <p:nvPr/>
        </p:nvSpPr>
        <p:spPr>
          <a:xfrm>
            <a:off x="914400" y="2880360"/>
            <a:ext cx="10332720" cy="10058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Anticipated Q&amp;A</a:t>
            </a:r>
            <a:endParaRPr lang="en-US" sz="3400" dirty="0"/>
          </a:p>
        </p:txBody>
      </p:sp>
      <p:sp>
        <p:nvSpPr>
          <p:cNvPr id="5" name="Text 3"/>
          <p:cNvSpPr/>
          <p:nvPr/>
        </p:nvSpPr>
        <p:spPr>
          <a:xfrm>
            <a:off x="914400" y="3794760"/>
            <a:ext cx="1033272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Likely questions with model answers, for reference during live Q&amp;A</a:t>
            </a:r>
            <a:endParaRPr lang="en-US" sz="1500" dirty="0"/>
          </a:p>
        </p:txBody>
      </p:sp>
      <p:sp>
        <p:nvSpPr>
          <p:cNvPr id="6" name="Text 4"/>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A9AFC3"/>
                </a:solidFill>
                <a:latin typeface="Calibri" pitchFamily="34" charset="0"/>
                <a:ea typeface="Calibri" pitchFamily="34" charset="-122"/>
                <a:cs typeface="Calibri" pitchFamily="34" charset="-120"/>
              </a:rPr>
              <a:t>From Question to Dashboard</a:t>
            </a:r>
            <a:endParaRPr lang="en-US" sz="900" dirty="0"/>
          </a:p>
        </p:txBody>
      </p:sp>
      <p:sp>
        <p:nvSpPr>
          <p:cNvPr id="7" name="Text 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A9AFC3"/>
                </a:solidFill>
                <a:latin typeface="Calibri" pitchFamily="34" charset="0"/>
                <a:ea typeface="Calibri" pitchFamily="34" charset="-122"/>
                <a:cs typeface="Calibri" pitchFamily="34" charset="-120"/>
              </a:rPr>
              <a:t>15</a:t>
            </a:r>
            <a:endParaRPr lang="en-US" sz="900" dirty="0"/>
          </a:p>
        </p:txBody>
      </p:sp>
      <p:sp>
        <p:nvSpPr>
          <p:cNvPr id="8" name="Shape 6"/>
          <p:cNvSpPr/>
          <p:nvPr/>
        </p:nvSpPr>
        <p:spPr>
          <a:xfrm>
            <a:off x="11400739" y="201168"/>
            <a:ext cx="192024" cy="192024"/>
          </a:xfrm>
          <a:prstGeom prst="rect">
            <a:avLst/>
          </a:prstGeom>
          <a:solidFill>
            <a:srgbClr val="FFFFFF"/>
          </a:solidFill>
          <a:ln/>
        </p:spPr>
      </p:sp>
      <p:sp>
        <p:nvSpPr>
          <p:cNvPr id="9" name="Shape 7"/>
          <p:cNvSpPr/>
          <p:nvPr/>
        </p:nvSpPr>
        <p:spPr>
          <a:xfrm rot="5400000">
            <a:off x="11544757" y="249174"/>
            <a:ext cx="192024" cy="96012"/>
          </a:xfrm>
          <a:prstGeom prst="triangle">
            <a:avLst/>
          </a:prstGeom>
          <a:solidFill>
            <a:srgbClr val="E52713"/>
          </a:solidFill>
          <a:ln/>
        </p:spPr>
      </p:sp>
      <p:sp>
        <p:nvSpPr>
          <p:cNvPr id="10" name="Shape 8"/>
          <p:cNvSpPr/>
          <p:nvPr/>
        </p:nvSpPr>
        <p:spPr>
          <a:xfrm rot="16200000">
            <a:off x="11256721" y="249174"/>
            <a:ext cx="192024" cy="96012"/>
          </a:xfrm>
          <a:prstGeom prst="triangle">
            <a:avLst/>
          </a:prstGeom>
          <a:solidFill>
            <a:srgbClr val="E52713"/>
          </a:solidFill>
          <a:ln/>
        </p:spPr>
      </p:sp>
      <p:sp>
        <p:nvSpPr>
          <p:cNvPr id="11" name="Shape 9"/>
          <p:cNvSpPr/>
          <p:nvPr/>
        </p:nvSpPr>
        <p:spPr>
          <a:xfrm rot="10800000">
            <a:off x="11400739" y="201168"/>
            <a:ext cx="192024" cy="96012"/>
          </a:xfrm>
          <a:prstGeom prst="triangle">
            <a:avLst/>
          </a:prstGeom>
          <a:solidFill>
            <a:srgbClr val="E52713"/>
          </a:solidFill>
          <a:ln/>
        </p:spPr>
      </p:sp>
      <p:sp>
        <p:nvSpPr>
          <p:cNvPr id="12" name="Shape 10"/>
          <p:cNvSpPr/>
          <p:nvPr/>
        </p:nvSpPr>
        <p:spPr>
          <a:xfrm>
            <a:off x="11400739" y="297180"/>
            <a:ext cx="192024" cy="96012"/>
          </a:xfrm>
          <a:prstGeom prst="triangle">
            <a:avLst/>
          </a:prstGeom>
          <a:solidFill>
            <a:srgbClr val="E52713"/>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Q1</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Isn't this just a fancy search engine?</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No: search retrieves existing documents; GenAI generates new text by predicting likely continuations, which is why it can synthesize, summarize, and explain, not just retrieve and list.</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It's the most common first-instinct comparison for anyone new to GenAI, since search is the closest prior mental model people have.</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"Search finds; GenAI writes" is a good one-line fallback if the room wants it even simpler.</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Q2</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Why did it give a different answer than last time I asked the same thing?</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Because of the probabilistic sampling covered on slide 6: expected behavior, not a bug, though it should stay in the same ballpark of correctness.</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Almost everyone in the room has already noticed this and found it slightly unsettling; naming it explicitly tends to visibly relax people.</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the substance changes, not just the phrasing, that's worth flagging: more session-4 (verification) territory.</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Q3</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What's the difference between an 'agent' and just 'the AI'?</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A plain LLM call is one prompt, one response. An agent is the model reasoning about what tools/data it needs, calling them, then responding. The reason-act-observe loop is the difference.</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"Agent" is used loosely in marketing/media, so people often assume it's just a synonym for "AI" or "chatbot."</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If it only ever gives you text back with no ability to go fetch anything, it's not really acting as an agent for that task; it's a plain model call.</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Q4</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Do I need to know how to code to use any of this?</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No: everything in this series is usable through AI Studio/AI Lens's interfaces; coding shows up only as something demonstrated live, never as something participants need to do themselves.</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Reasonable anxiety from the business-people half of the room, especially given "quant developer" is in half the audience's job title.</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Reassure explicitly that this is a deliberate format decision (no code-along), not an oversight.</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66928" cy="566928"/>
          </a:xfrm>
          <a:prstGeom prst="ellipse">
            <a:avLst/>
          </a:prstGeom>
          <a:solidFill>
            <a:srgbClr val="E8A33D"/>
          </a:solidFill>
          <a:ln/>
        </p:spPr>
      </p:sp>
      <p:sp>
        <p:nvSpPr>
          <p:cNvPr id="3" name="Text 1"/>
          <p:cNvSpPr/>
          <p:nvPr/>
        </p:nvSpPr>
        <p:spPr>
          <a:xfrm>
            <a:off x="502920" y="457200"/>
            <a:ext cx="566928" cy="566928"/>
          </a:xfrm>
          <a:prstGeom prst="rect">
            <a:avLst/>
          </a:prstGeom>
          <a:noFill/>
          <a:ln/>
        </p:spPr>
        <p:txBody>
          <a:bodyPr wrap="square" lIns="0" tIns="0" rIns="0" bIns="0" rtlCol="0" anchor="ctr"/>
          <a:lstStyle/>
          <a:p>
            <a:pPr algn="ctr" indent="0" marL="0">
              <a:buNone/>
            </a:pPr>
            <a:r>
              <a:rPr lang="en-US" sz="1500" b="1" dirty="0">
                <a:solidFill>
                  <a:srgbClr val="141B45"/>
                </a:solidFill>
                <a:latin typeface="Cambria" pitchFamily="34" charset="0"/>
                <a:ea typeface="Cambria" pitchFamily="34" charset="-122"/>
                <a:cs typeface="Cambria" pitchFamily="34" charset="-120"/>
              </a:rPr>
              <a:t>Q5</a:t>
            </a:r>
            <a:endParaRPr lang="en-US" sz="1500" dirty="0"/>
          </a:p>
        </p:txBody>
      </p:sp>
      <p:sp>
        <p:nvSpPr>
          <p:cNvPr id="4" name="Text 2"/>
          <p:cNvSpPr/>
          <p:nvPr/>
        </p:nvSpPr>
        <p:spPr>
          <a:xfrm>
            <a:off x="1234440" y="457200"/>
            <a:ext cx="10454335" cy="685800"/>
          </a:xfrm>
          <a:prstGeom prst="rect">
            <a:avLst/>
          </a:prstGeom>
          <a:noFill/>
          <a:ln/>
        </p:spPr>
        <p:txBody>
          <a:bodyPr wrap="square" lIns="0" tIns="0" rIns="0" bIns="0"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When should I NOT use AI for something?</a:t>
            </a:r>
            <a:endParaRPr lang="en-US" sz="1900" dirty="0"/>
          </a:p>
        </p:txBody>
      </p:sp>
      <p:sp>
        <p:nvSpPr>
          <p:cNvPr id="5" name="Shape 3"/>
          <p:cNvSpPr/>
          <p:nvPr/>
        </p:nvSpPr>
        <p:spPr>
          <a:xfrm>
            <a:off x="502920" y="1371600"/>
            <a:ext cx="11185855" cy="1417320"/>
          </a:xfrm>
          <a:prstGeom prst="roundRect">
            <a:avLst>
              <a:gd name="adj" fmla="val 5806"/>
            </a:avLst>
          </a:prstGeom>
          <a:solidFill>
            <a:srgbClr val="F4F6FB"/>
          </a:solidFill>
          <a:ln/>
          <a:effectLst>
            <a:outerShdw sx="100000" sy="100000" kx="0" ky="0" algn="bl" rotWithShape="0" blurRad="76200" dist="25400" dir="5400000">
              <a:srgbClr val="1E2761">
                <a:alpha val="16000"/>
              </a:srgbClr>
            </a:outerShdw>
          </a:effectLst>
        </p:spPr>
      </p:sp>
      <p:sp>
        <p:nvSpPr>
          <p:cNvPr id="6" name="Text 4"/>
          <p:cNvSpPr/>
          <p:nvPr/>
        </p:nvSpPr>
        <p:spPr>
          <a:xfrm>
            <a:off x="758952" y="1517904"/>
            <a:ext cx="10673791" cy="1143000"/>
          </a:xfrm>
          <a:prstGeom prst="rect">
            <a:avLst/>
          </a:prstGeom>
          <a:noFill/>
          <a:ln/>
        </p:spPr>
        <p:txBody>
          <a:bodyPr wrap="square" lIns="0" tIns="0" rIns="0" bIns="0" rtlCol="0" anchor="t">
            <a:normAutofit/>
          </a:bodyPr>
          <a:lstStyle/>
          <a:p>
            <a:pPr indent="0" marL="0">
              <a:buNone/>
            </a:pPr>
            <a:r>
              <a:rPr lang="en-US" sz="1400" b="1" dirty="0">
                <a:solidFill>
                  <a:srgbClr val="A6660E"/>
                </a:solidFill>
                <a:latin typeface="Calibri" pitchFamily="34" charset="0"/>
                <a:ea typeface="Calibri" pitchFamily="34" charset="-122"/>
                <a:cs typeface="Calibri" pitchFamily="34" charset="-120"/>
              </a:rPr>
              <a:t>A: </a:t>
            </a:r>
            <a:pPr indent="0" marL="0">
              <a:buNone/>
            </a:pPr>
            <a:r>
              <a:rPr lang="en-US" sz="1400" dirty="0">
                <a:solidFill>
                  <a:srgbClr val="1A1F36"/>
                </a:solidFill>
                <a:latin typeface="Calibri" pitchFamily="34" charset="0"/>
                <a:ea typeface="Calibri" pitchFamily="34" charset="-122"/>
                <a:cs typeface="Calibri" pitchFamily="34" charset="-120"/>
              </a:rPr>
              <a:t>Revisit the F1 quadrant: anything requiring 100% reproducibility (regulatory calculations, settlement checks, position-limit enforcement) stays deterministic.</a:t>
            </a:r>
            <a:endParaRPr lang="en-US" sz="1400" dirty="0"/>
          </a:p>
        </p:txBody>
      </p:sp>
      <p:sp>
        <p:nvSpPr>
          <p:cNvPr id="7" name="Text 5"/>
          <p:cNvSpPr/>
          <p:nvPr/>
        </p:nvSpPr>
        <p:spPr>
          <a:xfrm>
            <a:off x="502920" y="3017520"/>
            <a:ext cx="11185855" cy="7772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Why this comes up: </a:t>
            </a:r>
            <a:pPr indent="0" marL="0">
              <a:buNone/>
            </a:pPr>
            <a:r>
              <a:rPr lang="en-US" sz="1250" i="1" dirty="0">
                <a:solidFill>
                  <a:srgbClr val="6B7280"/>
                </a:solidFill>
                <a:latin typeface="Calibri" pitchFamily="34" charset="0"/>
                <a:ea typeface="Calibri" pitchFamily="34" charset="-122"/>
                <a:cs typeface="Calibri" pitchFamily="34" charset="-120"/>
              </a:rPr>
              <a:t>A natural, healthy skepticism check from a room that's about to spend four more sessions hearing 'here's what AI can do for you.'</a:t>
            </a:r>
            <a:endParaRPr lang="en-US" sz="1250" dirty="0"/>
          </a:p>
        </p:txBody>
      </p:sp>
      <p:sp>
        <p:nvSpPr>
          <p:cNvPr id="8" name="Text 6"/>
          <p:cNvSpPr/>
          <p:nvPr/>
        </p:nvSpPr>
        <p:spPr>
          <a:xfrm>
            <a:off x="502920" y="3840480"/>
            <a:ext cx="11185855" cy="1005840"/>
          </a:xfrm>
          <a:prstGeom prst="rect">
            <a:avLst/>
          </a:prstGeom>
          <a:noFill/>
          <a:ln/>
        </p:spPr>
        <p:txBody>
          <a:bodyPr wrap="square" lIns="0" tIns="0" rIns="0" bIns="0" rtlCol="0" anchor="t">
            <a:normAutofit/>
          </a:bodyPr>
          <a:lstStyle/>
          <a:p>
            <a:pPr indent="0" marL="0">
              <a:buNone/>
            </a:pPr>
            <a:r>
              <a:rPr lang="en-US" sz="1250" b="1" i="1" dirty="0">
                <a:solidFill>
                  <a:srgbClr val="48587A"/>
                </a:solidFill>
                <a:latin typeface="Calibri" pitchFamily="34" charset="0"/>
                <a:ea typeface="Calibri" pitchFamily="34" charset="-122"/>
                <a:cs typeface="Calibri" pitchFamily="34" charset="-120"/>
              </a:rPr>
              <a:t>If pushed further: </a:t>
            </a:r>
            <a:pPr indent="0" marL="0">
              <a:buNone/>
            </a:pPr>
            <a:r>
              <a:rPr lang="en-US" sz="1250" i="1" dirty="0">
                <a:solidFill>
                  <a:srgbClr val="6B7280"/>
                </a:solidFill>
                <a:latin typeface="Calibri" pitchFamily="34" charset="0"/>
                <a:ea typeface="Calibri" pitchFamily="34" charset="-122"/>
                <a:cs typeface="Calibri" pitchFamily="34" charset="-120"/>
              </a:rPr>
              <a:t>Validate the skepticism explicitly; that instinct is exactly the mindset from slide 3, and worth keeping all series.</a:t>
            </a:r>
            <a:endParaRPr lang="en-US" sz="1250" dirty="0"/>
          </a:p>
        </p:txBody>
      </p:sp>
      <p:sp>
        <p:nvSpPr>
          <p:cNvPr id="9" name="Text 7"/>
          <p:cNvSpPr/>
          <p:nvPr/>
        </p:nvSpPr>
        <p:spPr>
          <a:xfrm>
            <a:off x="502920" y="6473952"/>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From Question to Dashboard</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11" name="Shape 9"/>
          <p:cNvSpPr/>
          <p:nvPr/>
        </p:nvSpPr>
        <p:spPr>
          <a:xfrm>
            <a:off x="11400739" y="201168"/>
            <a:ext cx="192024" cy="192024"/>
          </a:xfrm>
          <a:prstGeom prst="rect">
            <a:avLst/>
          </a:prstGeom>
          <a:solidFill>
            <a:srgbClr val="FFFFFF"/>
          </a:solidFill>
          <a:ln/>
        </p:spPr>
      </p:sp>
      <p:sp>
        <p:nvSpPr>
          <p:cNvPr id="12" name="Shape 10"/>
          <p:cNvSpPr/>
          <p:nvPr/>
        </p:nvSpPr>
        <p:spPr>
          <a:xfrm rot="5400000">
            <a:off x="11544757" y="249174"/>
            <a:ext cx="192024" cy="96012"/>
          </a:xfrm>
          <a:prstGeom prst="triangle">
            <a:avLst/>
          </a:prstGeom>
          <a:solidFill>
            <a:srgbClr val="E52713"/>
          </a:solidFill>
          <a:ln/>
        </p:spPr>
      </p:sp>
      <p:sp>
        <p:nvSpPr>
          <p:cNvPr id="13" name="Shape 11"/>
          <p:cNvSpPr/>
          <p:nvPr/>
        </p:nvSpPr>
        <p:spPr>
          <a:xfrm rot="16200000">
            <a:off x="11256721" y="249174"/>
            <a:ext cx="192024" cy="96012"/>
          </a:xfrm>
          <a:prstGeom prst="triangle">
            <a:avLst/>
          </a:prstGeom>
          <a:solidFill>
            <a:srgbClr val="E52713"/>
          </a:solidFill>
          <a:ln/>
        </p:spPr>
      </p:sp>
      <p:sp>
        <p:nvSpPr>
          <p:cNvPr id="14" name="Shape 12"/>
          <p:cNvSpPr/>
          <p:nvPr/>
        </p:nvSpPr>
        <p:spPr>
          <a:xfrm rot="10800000">
            <a:off x="11400739" y="201168"/>
            <a:ext cx="192024" cy="96012"/>
          </a:xfrm>
          <a:prstGeom prst="triangle">
            <a:avLst/>
          </a:prstGeom>
          <a:solidFill>
            <a:srgbClr val="E52713"/>
          </a:solidFill>
          <a:ln/>
        </p:spPr>
      </p:sp>
      <p:sp>
        <p:nvSpPr>
          <p:cNvPr id="15" name="Shape 13"/>
          <p:cNvSpPr/>
          <p:nvPr/>
        </p:nvSpPr>
        <p:spPr>
          <a:xfrm>
            <a:off x="11400739" y="297180"/>
            <a:ext cx="192024" cy="96012"/>
          </a:xfrm>
          <a:prstGeom prst="triangle">
            <a:avLst/>
          </a:prstGeom>
          <a:solidFill>
            <a:srgbClr val="E5271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2026-08-10T02:57:53Z</dcterms:created>
  <dcterms:modified xsi:type="dcterms:W3CDTF">2026-08-10T02:57:53Z</dcterms:modified>
</cp:coreProperties>
</file>