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and thank you for making time for this. Over the next hour I want to give you a genuinely current, first-principles grounding in prompt engineering — not the generic listicle version you can get from any blog, but a synthesis of what Anthropic, OpenAI, and Google are actually telling their own engineers right now, as of this year. A quick note on how to use this hour: I'll move fast through twenty-four slides, but every slide has a citation in the footer — this deck is designed to double as a reference you can come back to afterwards, not just something you watch once. If you only remember one section, I'll flag it clearly when we get there, because it's the single biggest change to conventional prompting wisdom in the last two years.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be direct about why this is worth your hour. Prompting content online is overwhelmingly stale — most of it was written in 2023 or 2024, and model behavior has moved substantially since then, especially with reasoning-native models. Second, there's one shift that quietly invalidates a huge chunk of older advice — the reasoning-model shift — and I'm going to give it real time later, because if you take away one thing from this session, that's it. Third, the whole approach here is to teach you the four underlying mechanical facts about how these models actually work, so that instead of memorizing a list of tips, you can derive the right move yourself when you hit a situation this deck didn't cover. That's the difference between prompt engineering as a skill and prompt engineering as a list of tricks that expire.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foundations: the mental model underneath everything else, how a real prompt is actually assembled, and the core techniques that have held up across every model generation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the mysticism for a second. Mechanically, a large language model reads a sequence of tokens and predicts what comes next, conditioned on everything before it — your instructions, any examples, and everything it's already generated this turn. Almost every prompting technique that works, works because of four downstream consequences of that one fact. One: the model can only act on what's actually in its context window — not what you meant, not what's true, not what you told it last week in a different conversation. Two: position matters — models attend more reliably to the start and end of a long context than the middle, the so-called 'lost in the middle' effect, and that's a measured, replicated finding, not folklore. Three: generation is left to right and can't be revised mid-stream, which is exactly why letting a model reason before committing to an answer helps — it gets to condition its answer on its own working. Four: there's no hardwired, unspoofable channel separating developer instructions from content the model is merely processing — which is the root cause of prompt injection, which we'll get to later. Keep these four in your head. Everything else this hour is really just one coherent system built on top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prompt to a modern model API is made of several distinct channels, and confusing them is one of the most common sources of bad results. The system message carries standing instructions that apply every turn. The user message is the specific ask this turn. Context and attachments are documents and background facts the model didn't generate itself. Conversation history accumulates turn over turn. And tool results get injected back into context as if they were ordinary content. Here's the diagnostic habit I want you to leave with: before you rewrite a prompt's wording, check which channel the instruction actually lives in, and whether it's still positioned somewhere the model reliably attends to. An instruction that belongs in the system message but got buried in turn six of a long conversation is competing with everything else for attention — rewording it won't fix a channel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highest-leverage single habit in the whole deck, and it's still the first thing most people get wrong. Vague instructions force the model to guess, and it guesses with whatever's statistically most common for that kind of request — which is rarely what you specifically wanted. Anthropic's own framing is worth internalizing word for word: treat the model like a brilliant but brand-new employee who has zero context on your norms. The golden rule — if a colleague with minimal context would be confused by your instruction, the model will be too. And critically: if you want more than the median response, you have to say so. A model will not infer that you wanted a fully-featured, thorough answer from a two-word prompt just because you'd have appreciated the extra effort. Practical tip: specify format and constraints up front, not as a follow-up. And when a task has a required order, say so explicitly as a numbered list — models follow explicit sequencing far more reliably than they infer it from prose.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underused and disproportionately effective. Giving the model the reason behind an instruction, not just the instruction itself, lets it generalize correctly to situations you didn't anticipate. Compare 'never use ellipses' to 'your response is read aloud by a text-to-speech engine, so never use ellipses, since the engine can't pronounce them.' The second version doesn't just suppress ellipses in the cases you thought of — it correctly extends to other formatting choices that would also break a TTS engine, choices you never explicitly listed. That's the whole value of this technique: a rule without a reason only covers what you wrote down; a rule with a reason covers what you meant.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Few-shot, or multishot, prompting — showing the model one or more input/output pairs before the real task — is one of the most reliable levers for steering format, tone, and structure. But the current consensus is a real departure from older folklore that said more examples is always better. Anthropic now recommends three to five well-crafted examples for most tasks. Google's Gemini guidance recommends two to three, and explicitly warns that too many examples can cause the model to overfit to incidental patterns in your examples rather than the actual task. The examples matter more than the count. Good examples are relevant — they mirror your real use case, not a toy version of it. They're diverse — they cover edge cases so the model doesn't pick up an unintended pattern, like 'every example answer happens to be under twenty words, so the model learns to keep it short' whether or not you meant to teach that. And they're clearly delimited, so the model can tell a demonstration apart from the live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one-line role or persona instruction in the system message — 'you are a senior credit-risk analyst' — measurably focuses tone, vocabulary, and the implicit assumptions the model brings to ambiguous parts of a task. It's cheap, and worth doing almost by default for any non-trivial use case. Here's the nuance that gets misunderstood most often: a role does not unlock hidden capability the model doesn't otherwise have. It steers style and framing, not underlying skill. 'You are a Nobel laureate physicist' will change the vocabulary and confidence of the tone — it will not make an otherwise-wrong physics answer correct. Treat role-prompting as a communication-style lever, not a capability lever, and you won't be surprised by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prompt mixes instructions, background context, examples, and the live input — which is most real prompts — the model has to figure out where one thing ends and another begins. Don't make it guess. Every major provider converges on the same recommendation: use consistent delimiters, markdown headers or XML-style tags, to separate distinct kinds of content. Claude in particular is heavily trained around XML-tag structuring and responds very reliably to it. Tags don't need to follow any fixed schema — descriptive, consistent names are what matters, and nesting is fine and expected when content has real hierarchy, like multiple document blocks inside a documents wrapper.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here, all directly downstream of the lost-in-the-middle effect from slide four, and all corroborated by official guidance from multiple labs. First: put long documents near the top of the prompt, above your actual instructions and query. That sounds backwards if you're used to 'instruction first, then supporting material' — but for long inputs specifically, putting the query after the data has been measured to improve response quality substantially, up to roughly thirty percent in Anthropic's own testing on complex multi-document inputs. The intuition: the model reads the data first with no specific lens yet, then reads your question fresh at the end, right where its attention is strongest. Second: wrap each document in its own tagged block with source metadata, especially with multiple documents — this prevents cross-document confusion, one of the most common failure modes in real multi-document tasks. Third: for long-document tasks, ask the model to quote the relevant passages first, before doing the actual task — this forces it to explicitly locate the relevant material before reasoning over it, and measurably reduces the chance it answers from a vague overall impression rather than the specific passages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next part is the one I most want to land. If you remember one thing from this whole session to go correct a colleague's outdated advice with, make it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about two years, appending 'let's think step by step' was close to a universal upgrade on multi-step reasoning tasks — that's the original 2022 chain-of-thought finding, and most existing prompting courses online still teach it as a default. Here's what changed. Current-generation models increasingly have reasoning built into how they generate a response, not bolted on via a prompting trick — OpenAI's o-series, Claude's adaptive thinking, Gemini's 2.5-plus thinking models. And the current official guidance from all three labs converges on the same, somewhat counter-intuitive point. OpenAI says explicitly: instructing a reasoning model to think step by step may not help and can sometimes hurt. Anthropic says a prompt like 'think thoroughly' often beats a hand-written step-by-step plan, because Claude's own reasoning frequently exceeds what a human would prescribe. Google's Gemini 2.5-plus models reason internally by default — no explicit prompting needed. The practical upshot: your job has shifted from manufacturing the reasoning process to not interfering with a better one the model already runs internally. State the goal, constraints, and success criteria clearly, and let the model decide how to get there. Don't reflexively add 'think step by step' or heavy few-shot scaffolding to a reasoning-capable model — test without it first. And to be clear, this doesn't retire chain-of-thought as a concept, and for models without built-in reasoning it's still a valid technique — this shift is specific to reasoning-native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zoom out from single prompts to the bigger discipline they live inside, and into agentic, tool-using systems — this is the area where the gap between generic prompting content and current practice is widest.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asks 'how should I phrase this' — a question about a single input/output pair. Context engineering asks a bigger question: what does the model need to be able to see, right now, to do this well — covering system prompts, retrieved documents, conversation history, tool outputs, and persistent memory. This isn't a rebrand for its own sake — a majority of practitioners now report that prompt engineering alone is no longer sufficient for production systems. Prompt engineering is a subset of context engineering, not a replacement for it. Three practical moves, roughly in order of how often they matter. Don't over-stuff the context just in case — more context competes for attention and dilutes focus on what's actually relevant. Manage conversation history deliberately — starting a fresh conversation once things have drifted is a legitimate fix, not a failure to use the tool properly. And understand that any 'memory' or 'personalization' feature works by the same mechanism: saved facts get silently prepended into the system prompt on every new session — that tells you exactly what it can and can't do. Retrieval, RAG, is the same idea taken further: instead of hand-picking documents to paste in, you're letting a retrieval step pick them, and the same structuring and position principles from earlier still apply to what gets retrieved.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underrated idea in agentic prompting: a tool's name, description, and parameter schema are injected directly into the model's context and reasoned over exactly like any other instruction. A vague tool description, something like 'search the web,' causes exactly the same category of failure as a vague instruction — the model has to guess when to use it and what to expect back. Anthropic's own applied guidance, from building agentic tools for their own products, is direct: treat writing a tool description like onboarding a new team member. Four practical moves. Prefer natural-language identifiers over opaque IDs in tool inputs and outputs. Don't wrap every backend API endpoint into its own tool — agents have a limited ability to choose well from a cluttered tool list, so consolidate related operations into fewer, higher-level tools. Namespace related tools with a consistent prefix once you have more than a handful. And return only high-signal information from tool calls — every token a result adds is competing for attention against everything else, so implement pagination and filtering with sensible defaults rather than dumping a raw API response back into context. Two more things worth a mention if we have time for questions: be explicit when you want action, not just a suggestion, since models will sometimes interpret an ambiguous request conservatively. And for anything that can take real actions, calibrate autonomy by reversibility, not difficulty — local, easily-undone actions can proceed without confirmation; anything hard to reverse or externally visible should pause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genuinely new territory relative to older prompting content, and increasingly relevant as agentic tools become normal daily software: how do you prompt for work that spans more tokens, or more sessions, than fit in one context window. Four moves. Give the model awareness of its own budget — where tracking isn't automatic, tell it explicitly how context limits will be handled, so it doesn't prematurely wrap up out of a mistaken assumption that running low means it should hurry. Prefer externalized, structured state over relying on conversation memory — a status file, freeform progress notes, or version control that a new session can re-derive state from is often more reliable than compacting an old, cluttered conversation forward. Set up the first session differently from later ones — a common effective pattern is using it to establish scaffolding that later sessions iterate against. And state explicitly what must never be discarded or bypassed, since a model under pressure to complete a task can otherwise take a locally-successful shortcut that defeats the point of a safeguard.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stretch: how to make any of this reliable enough to put in front of real users, what goes wrong when you don't, and then I'll leave you with a condensed playbook and a model-by-model cheat sheet you can screenshot.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Whenever an answer needs to feed a downstream system — a script, a database, another prompt — free-form prose is the wrong target, no matter how well written. Use schema-constrained generation where the platform offers it, rather than just asking nicely for a format and hoping. Native structured-output modes exist across all major providers now specifically because 'please respond in JSON' instructions, while usually followed, aren't guaranteed — a real schema constraint is. State the schema explicitly even when using a structured-output feature, including what to do with fields that don't apply — null, rather than a guessed value, since ambiguity about missing data is a common, avoidable source of silently-wrong downstream results. For classification tasks, constrain to an explicit enum of valid labels rather than free text wherever the platform supports it. And build in a validation and retry loop for anything that must be reliable, not just a single best-effort attempt — treat a schema-validation failure as an expected, handled case, feed the error back to the model and retry, rather than an exceptional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almost every 'prompting tips' list skips entirely, and it's arguably the highest-leverage section in this whole session for anyone building something that has to keep working, not just work once in a demo. Model behavior varies across inputs, across sampling runs, and silently across model version updates — treat prompt-writing as an empirical, iterative discipline, not a one-shot creative-writing task. Build a small real test set before you tune the wording — representative cases plus a few deliberately adversarial ones; you can't responsibly judge whether a change is an improvement without something to check it against. When you need to evaluate open-ended output at scale, LLM-as-judge is legitimate, but it needs the same rigor as anything else: state the scoring criteria and scale explicitly, give the judge calibration examples, evaluate one dimension per judgment rather than a fuzzy bundled score, and force an explicit reasoning step before the final verdict. Version your prompts like code, with enough context to know why each version changed. And re-run your eval set whenever you change the model version, not just the prompt — a prompt tuned against one model's quirks can silently regress on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 modes deserve real weight here, especially in a regulated environment. Hallucination — ungrounded, confident-sounding wrongness — is the most reputation-damaging failure mode for anything user-facing, and the mitigations are mostly context-engineering moves in disguise: ground answers in supplied reference material rather than the model's parametric knowledge, ask for quotes before conclusions, and explicitly give the model permission to say 'I don't know' — left unstated, models are statistically biased toward producing an answer over refusing to answer. Prompt injection — content that isn't from the developer or user managing to redirect the model's behavior — was ranked the number one risk in OWASP's Top 10 for LLM Applications. It's a direct consequence of that fourth mental-model fact from slide four: there's no perfectly unspoofable channel separating instruction from content. The practical mitigations are layered, from most to least fundamental: data minimization, so the model simply isn't exposed to what it doesn't need; explicit behavioral guardrails in the system prompt; execution sandboxing and permission scoping for anything that can take real actions; and monitoring and tracing in production, so an attempt is detectable after the fact. The current consensus is that no single layer here is sufficient alone — this is defense in depth, not a single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reference you can screenshot. Core principles — clarity, structure, a few good examples, position matters, don't over-scaffold reasoning models — transfer across providers. Specific idioms and defaults don't, and they change fast, so treat this as a snapshot, not a permanent fact. I won't read every cell, but the meta-lesson is the important part: don't assume a technique you learned on one model family transfers unchanged to another, and don't assume today's idiom stays true next quarter — reasoning-model behavior alone has shifted enough in the last two years to invalidate large parts of older advice. Whatever platform you're actually building on, its own current official docs beat any general course, including this one, for anything version-specific.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ever apply a handful of things from this session, apply these, roughly in the order you'd hit them on a real task. State the goal, format, and constraints explicitly. Check which channel a struggling instruction actually lives in before rewording it. Ask whether you have a wording problem, a missing-context problem, or a missing-tool problem — they're three different fixes, easy to conflate. Don't force manual step-by-step reasoning onto a reasoning-native model. For long documents, data at the top, question at the end, quotes before conclusions. For anything that feeds another system, use real schema-constrained structured output. For anything agentic with real-world effects, state explicitly which actions need confirmation, based on reversibility. Before trusting a prompt in production, test it against a small real set, including adversarial cases, and re-test after any model version change. And never let content the model reads be implicitly trusted as instruction. That's the whole course condensed to nine lines. Everything before this was the 'why' behind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course. The durable parts of everything we covered are the mental model from the start and the reasoning-model shift in the middle, because both describe why things work rather than what the current button is called — when in doubt, re-derive from the mental model rather than trusting a memorized technique. Every source behind this deck is on screen now and in the footer of every slide you've just seen, so you can go straight to the primary source on anything that's directly relevant to your own work.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5592928" y="868680"/>
            <a:ext cx="1005840" cy="1005840"/>
          </a:xfrm>
          <a:prstGeom prst="rect">
            <a:avLst/>
          </a:prstGeom>
          <a:solidFill>
            <a:srgbClr val="FFFFFF"/>
          </a:solidFill>
          <a:ln/>
        </p:spPr>
      </p:sp>
      <p:sp>
        <p:nvSpPr>
          <p:cNvPr id="3" name="Shape 1"/>
          <p:cNvSpPr/>
          <p:nvPr/>
        </p:nvSpPr>
        <p:spPr>
          <a:xfrm rot="10800000">
            <a:off x="5592928" y="868680"/>
            <a:ext cx="1005840" cy="502920"/>
          </a:xfrm>
          <a:prstGeom prst="triangle">
            <a:avLst/>
          </a:prstGeom>
          <a:solidFill>
            <a:srgbClr val="DB0011"/>
          </a:solidFill>
          <a:ln/>
        </p:spPr>
      </p:sp>
      <p:sp>
        <p:nvSpPr>
          <p:cNvPr id="4" name="Shape 2"/>
          <p:cNvSpPr/>
          <p:nvPr/>
        </p:nvSpPr>
        <p:spPr>
          <a:xfrm>
            <a:off x="5592928" y="1371600"/>
            <a:ext cx="1005840" cy="502920"/>
          </a:xfrm>
          <a:prstGeom prst="triangle">
            <a:avLst/>
          </a:prstGeom>
          <a:solidFill>
            <a:srgbClr val="DB0011"/>
          </a:solidFill>
          <a:ln/>
        </p:spPr>
      </p:sp>
      <p:sp>
        <p:nvSpPr>
          <p:cNvPr id="5" name="Shape 3"/>
          <p:cNvSpPr/>
          <p:nvPr/>
        </p:nvSpPr>
        <p:spPr>
          <a:xfrm rot="16200000">
            <a:off x="5090008" y="868680"/>
            <a:ext cx="502920" cy="1005840"/>
          </a:xfrm>
          <a:prstGeom prst="triangle">
            <a:avLst/>
          </a:prstGeom>
          <a:solidFill>
            <a:srgbClr val="DB0011"/>
          </a:solidFill>
          <a:ln/>
        </p:spPr>
      </p:sp>
      <p:sp>
        <p:nvSpPr>
          <p:cNvPr id="6" name="Shape 4"/>
          <p:cNvSpPr/>
          <p:nvPr/>
        </p:nvSpPr>
        <p:spPr>
          <a:xfrm rot="5400000">
            <a:off x="6598768" y="868680"/>
            <a:ext cx="502920" cy="1005840"/>
          </a:xfrm>
          <a:prstGeom prst="triangle">
            <a:avLst/>
          </a:prstGeom>
          <a:solidFill>
            <a:srgbClr val="DB0011"/>
          </a:solidFill>
          <a:ln/>
        </p:spPr>
      </p:sp>
      <p:sp>
        <p:nvSpPr>
          <p:cNvPr id="7" name="Text 5"/>
          <p:cNvSpPr/>
          <p:nvPr/>
        </p:nvSpPr>
        <p:spPr>
          <a:xfrm>
            <a:off x="731520" y="2788920"/>
            <a:ext cx="1072865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PROMPT ENGINEERING</a:t>
            </a:r>
            <a:endParaRPr lang="en-US" sz="4400" dirty="0"/>
          </a:p>
        </p:txBody>
      </p:sp>
      <p:sp>
        <p:nvSpPr>
          <p:cNvPr id="8" name="Text 6"/>
          <p:cNvSpPr/>
          <p:nvPr/>
        </p:nvSpPr>
        <p:spPr>
          <a:xfrm>
            <a:off x="731520" y="3611880"/>
            <a:ext cx="10728655" cy="502920"/>
          </a:xfrm>
          <a:prstGeom prst="rect">
            <a:avLst/>
          </a:prstGeom>
          <a:noFill/>
          <a:ln/>
        </p:spPr>
        <p:txBody>
          <a:bodyPr wrap="square" lIns="0" tIns="0" rIns="0" bIns="0" rtlCol="0" anchor="ctr"/>
          <a:lstStyle/>
          <a:p>
            <a:pPr algn="ctr" indent="0" marL="0">
              <a:buNone/>
            </a:pPr>
            <a:r>
              <a:rPr lang="en-US" sz="1900" i="1" dirty="0">
                <a:solidFill>
                  <a:srgbClr val="B7B9BB"/>
                </a:solidFill>
                <a:latin typeface="Arial" pitchFamily="34" charset="0"/>
                <a:ea typeface="Arial" pitchFamily="34" charset="-122"/>
                <a:cs typeface="Arial" pitchFamily="34" charset="-120"/>
              </a:rPr>
              <a:t>From First Principles to Production</a:t>
            </a:r>
            <a:endParaRPr lang="en-US" sz="1900" dirty="0"/>
          </a:p>
        </p:txBody>
      </p:sp>
      <p:sp>
        <p:nvSpPr>
          <p:cNvPr id="9" name="Shape 7"/>
          <p:cNvSpPr/>
          <p:nvPr/>
        </p:nvSpPr>
        <p:spPr>
          <a:xfrm>
            <a:off x="5592928" y="4279392"/>
            <a:ext cx="1005840" cy="22860"/>
          </a:xfrm>
          <a:prstGeom prst="rect">
            <a:avLst/>
          </a:prstGeom>
          <a:solidFill>
            <a:srgbClr val="DB0011"/>
          </a:solidFill>
          <a:ln/>
        </p:spPr>
      </p:sp>
      <p:sp>
        <p:nvSpPr>
          <p:cNvPr id="10" name="Text 8"/>
          <p:cNvSpPr/>
          <p:nvPr/>
        </p:nvSpPr>
        <p:spPr>
          <a:xfrm>
            <a:off x="731520" y="4434840"/>
            <a:ext cx="10728655" cy="365760"/>
          </a:xfrm>
          <a:prstGeom prst="rect">
            <a:avLst/>
          </a:prstGeom>
          <a:noFill/>
          <a:ln/>
        </p:spPr>
        <p:txBody>
          <a:bodyPr wrap="square" lIns="0" tIns="0" rIns="0" bIns="0" rtlCol="0" anchor="ctr"/>
          <a:lstStyle/>
          <a:p>
            <a:pPr algn="ctr" indent="0" marL="0">
              <a:buNone/>
            </a:pPr>
            <a:r>
              <a:rPr lang="en-US" sz="1250" dirty="0">
                <a:solidFill>
                  <a:srgbClr val="B7B9BB"/>
                </a:solidFill>
                <a:latin typeface="Arial" pitchFamily="34" charset="0"/>
                <a:ea typeface="Arial" pitchFamily="34" charset="-122"/>
                <a:cs typeface="Arial" pitchFamily="34" charset="-120"/>
              </a:rPr>
              <a:t>HSBC Global Markets  ·  Internal Learning &amp; Development  ·  Sai Srinivas</a:t>
            </a:r>
            <a:endParaRPr lang="en-US" sz="1250" dirty="0"/>
          </a:p>
        </p:txBody>
      </p:sp>
      <p:sp>
        <p:nvSpPr>
          <p:cNvPr id="11" name="Text 9"/>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B7B9BB"/>
                </a:solidFill>
                <a:latin typeface="Arial" pitchFamily="34" charset="0"/>
                <a:ea typeface="Arial" pitchFamily="34" charset="-122"/>
                <a:cs typeface="Arial" pitchFamily="34" charset="-120"/>
              </a:rPr>
              <a:t>1 / 24</a:t>
            </a:r>
            <a:endParaRPr lang="en-US" sz="9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BEFORE WE START</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3000" b="1" dirty="0">
                <a:solidFill>
                  <a:srgbClr val="1A1A1A"/>
                </a:solidFill>
                <a:latin typeface="Arial" pitchFamily="34" charset="0"/>
                <a:ea typeface="Arial" pitchFamily="34" charset="-122"/>
                <a:cs typeface="Arial" pitchFamily="34" charset="-120"/>
              </a:rPr>
              <a:t>Why this session earns your hour</a:t>
            </a:r>
            <a:endParaRPr lang="en-US" sz="3000" dirty="0"/>
          </a:p>
        </p:txBody>
      </p:sp>
      <p:sp>
        <p:nvSpPr>
          <p:cNvPr id="4" name="Shape 2"/>
          <p:cNvSpPr/>
          <p:nvPr/>
        </p:nvSpPr>
        <p:spPr>
          <a:xfrm>
            <a:off x="502920" y="2331720"/>
            <a:ext cx="3557930" cy="2286000"/>
          </a:xfrm>
          <a:prstGeom prst="roundRect">
            <a:avLst>
              <a:gd name="adj" fmla="val 3200"/>
            </a:avLst>
          </a:prstGeom>
          <a:solidFill>
            <a:srgbClr val="F4F4F5"/>
          </a:solidFill>
          <a:ln/>
        </p:spPr>
      </p:sp>
      <p:sp>
        <p:nvSpPr>
          <p:cNvPr id="5" name="Shape 3"/>
          <p:cNvSpPr/>
          <p:nvPr/>
        </p:nvSpPr>
        <p:spPr>
          <a:xfrm>
            <a:off x="704088" y="2514600"/>
            <a:ext cx="457200" cy="457200"/>
          </a:xfrm>
          <a:prstGeom prst="ellipse">
            <a:avLst/>
          </a:prstGeom>
          <a:solidFill>
            <a:srgbClr val="DB0011"/>
          </a:solidFill>
          <a:ln/>
        </p:spPr>
      </p:sp>
      <p:pic>
        <p:nvPicPr>
          <p:cNvPr id="6" name="Image 0" descr="preencoded.png">    </p:cNvPr>
          <p:cNvPicPr>
            <a:picLocks noChangeAspect="1"/>
          </p:cNvPicPr>
          <p:nvPr/>
        </p:nvPicPr>
        <p:blipFill>
          <a:blip r:embed="rId1"/>
          <a:stretch>
            <a:fillRect/>
          </a:stretch>
        </p:blipFill>
        <p:spPr>
          <a:xfrm>
            <a:off x="768096" y="2578608"/>
            <a:ext cx="329184" cy="329184"/>
          </a:xfrm>
          <a:prstGeom prst="rect">
            <a:avLst/>
          </a:prstGeom>
        </p:spPr>
      </p:pic>
      <p:sp>
        <p:nvSpPr>
          <p:cNvPr id="7" name="Text 4"/>
          <p:cNvSpPr/>
          <p:nvPr/>
        </p:nvSpPr>
        <p:spPr>
          <a:xfrm>
            <a:off x="704088" y="3063240"/>
            <a:ext cx="315559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Most prompting content is stale</a:t>
            </a:r>
            <a:endParaRPr lang="en-US" sz="1400" dirty="0"/>
          </a:p>
        </p:txBody>
      </p:sp>
      <p:sp>
        <p:nvSpPr>
          <p:cNvPr id="8" name="Text 5"/>
          <p:cNvSpPr/>
          <p:nvPr/>
        </p:nvSpPr>
        <p:spPr>
          <a:xfrm>
            <a:off x="704088" y="3410712"/>
            <a:ext cx="3155594" cy="10972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Written for how models behaved in 2023–24. Model behavior has moved; the advice hasn't.</a:t>
            </a:r>
            <a:endParaRPr lang="en-US" sz="1150" dirty="0"/>
          </a:p>
        </p:txBody>
      </p:sp>
      <p:sp>
        <p:nvSpPr>
          <p:cNvPr id="9" name="Shape 6"/>
          <p:cNvSpPr/>
          <p:nvPr/>
        </p:nvSpPr>
        <p:spPr>
          <a:xfrm>
            <a:off x="4316882" y="2331720"/>
            <a:ext cx="3557930" cy="2286000"/>
          </a:xfrm>
          <a:prstGeom prst="roundRect">
            <a:avLst>
              <a:gd name="adj" fmla="val 3200"/>
            </a:avLst>
          </a:prstGeom>
          <a:solidFill>
            <a:srgbClr val="F4F4F5"/>
          </a:solidFill>
          <a:ln/>
        </p:spPr>
      </p:sp>
      <p:sp>
        <p:nvSpPr>
          <p:cNvPr id="10" name="Shape 7"/>
          <p:cNvSpPr/>
          <p:nvPr/>
        </p:nvSpPr>
        <p:spPr>
          <a:xfrm>
            <a:off x="4518050" y="2514600"/>
            <a:ext cx="457200" cy="457200"/>
          </a:xfrm>
          <a:prstGeom prst="ellipse">
            <a:avLst/>
          </a:prstGeom>
          <a:solidFill>
            <a:srgbClr val="DB0011"/>
          </a:solidFill>
          <a:ln/>
        </p:spPr>
      </p:sp>
      <p:pic>
        <p:nvPicPr>
          <p:cNvPr id="11" name="Image 1" descr="preencoded.png">    </p:cNvPr>
          <p:cNvPicPr>
            <a:picLocks noChangeAspect="1"/>
          </p:cNvPicPr>
          <p:nvPr/>
        </p:nvPicPr>
        <p:blipFill>
          <a:blip r:embed="rId2"/>
          <a:stretch>
            <a:fillRect/>
          </a:stretch>
        </p:blipFill>
        <p:spPr>
          <a:xfrm>
            <a:off x="4582058" y="2578608"/>
            <a:ext cx="329184" cy="329184"/>
          </a:xfrm>
          <a:prstGeom prst="rect">
            <a:avLst/>
          </a:prstGeom>
        </p:spPr>
      </p:pic>
      <p:sp>
        <p:nvSpPr>
          <p:cNvPr id="12" name="Text 8"/>
          <p:cNvSpPr/>
          <p:nvPr/>
        </p:nvSpPr>
        <p:spPr>
          <a:xfrm>
            <a:off x="4518050" y="3063240"/>
            <a:ext cx="315559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One shift changes everything else</a:t>
            </a:r>
            <a:endParaRPr lang="en-US" sz="1400" dirty="0"/>
          </a:p>
        </p:txBody>
      </p:sp>
      <p:sp>
        <p:nvSpPr>
          <p:cNvPr id="13" name="Text 9"/>
          <p:cNvSpPr/>
          <p:nvPr/>
        </p:nvSpPr>
        <p:spPr>
          <a:xfrm>
            <a:off x="4518050" y="3410712"/>
            <a:ext cx="3155594" cy="10972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Reasoning-native models have inverted old chain-of-thought advice — covered in depth, slide 13.</a:t>
            </a:r>
            <a:endParaRPr lang="en-US" sz="1150" dirty="0"/>
          </a:p>
        </p:txBody>
      </p:sp>
      <p:sp>
        <p:nvSpPr>
          <p:cNvPr id="14" name="Shape 10"/>
          <p:cNvSpPr/>
          <p:nvPr/>
        </p:nvSpPr>
        <p:spPr>
          <a:xfrm>
            <a:off x="8130845" y="2331720"/>
            <a:ext cx="3557930" cy="2286000"/>
          </a:xfrm>
          <a:prstGeom prst="roundRect">
            <a:avLst>
              <a:gd name="adj" fmla="val 3200"/>
            </a:avLst>
          </a:prstGeom>
          <a:solidFill>
            <a:srgbClr val="F4F4F5"/>
          </a:solidFill>
          <a:ln/>
        </p:spPr>
      </p:sp>
      <p:sp>
        <p:nvSpPr>
          <p:cNvPr id="15" name="Shape 11"/>
          <p:cNvSpPr/>
          <p:nvPr/>
        </p:nvSpPr>
        <p:spPr>
          <a:xfrm>
            <a:off x="8332013" y="2514600"/>
            <a:ext cx="457200" cy="457200"/>
          </a:xfrm>
          <a:prstGeom prst="ellipse">
            <a:avLst/>
          </a:prstGeom>
          <a:solidFill>
            <a:srgbClr val="DB0011"/>
          </a:solidFill>
          <a:ln/>
        </p:spPr>
      </p:sp>
      <p:pic>
        <p:nvPicPr>
          <p:cNvPr id="16" name="Image 2" descr="preencoded.png">    </p:cNvPr>
          <p:cNvPicPr>
            <a:picLocks noChangeAspect="1"/>
          </p:cNvPicPr>
          <p:nvPr/>
        </p:nvPicPr>
        <p:blipFill>
          <a:blip r:embed="rId3"/>
          <a:stretch>
            <a:fillRect/>
          </a:stretch>
        </p:blipFill>
        <p:spPr>
          <a:xfrm>
            <a:off x="8396021" y="2578608"/>
            <a:ext cx="329184" cy="329184"/>
          </a:xfrm>
          <a:prstGeom prst="rect">
            <a:avLst/>
          </a:prstGeom>
        </p:spPr>
      </p:pic>
      <p:sp>
        <p:nvSpPr>
          <p:cNvPr id="17" name="Text 12"/>
          <p:cNvSpPr/>
          <p:nvPr/>
        </p:nvSpPr>
        <p:spPr>
          <a:xfrm>
            <a:off x="8332013" y="3063240"/>
            <a:ext cx="315559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We lead with why, not just what</a:t>
            </a:r>
            <a:endParaRPr lang="en-US" sz="1400" dirty="0"/>
          </a:p>
        </p:txBody>
      </p:sp>
      <p:sp>
        <p:nvSpPr>
          <p:cNvPr id="18" name="Text 13"/>
          <p:cNvSpPr/>
          <p:nvPr/>
        </p:nvSpPr>
        <p:spPr>
          <a:xfrm>
            <a:off x="8332013" y="3410712"/>
            <a:ext cx="3155594" cy="10972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Four mechanical facts about how models work explain nearly every technique in this deck.</a:t>
            </a:r>
            <a:endParaRPr lang="en-US" sz="1150" dirty="0"/>
          </a:p>
        </p:txBody>
      </p:sp>
      <p:sp>
        <p:nvSpPr>
          <p:cNvPr id="19" name="Text 14"/>
          <p:cNvSpPr/>
          <p:nvPr/>
        </p:nvSpPr>
        <p:spPr>
          <a:xfrm>
            <a:off x="502920" y="4937760"/>
            <a:ext cx="11185855" cy="548640"/>
          </a:xfrm>
          <a:prstGeom prst="rect">
            <a:avLst/>
          </a:prstGeom>
          <a:noFill/>
          <a:ln/>
        </p:spPr>
        <p:txBody>
          <a:bodyPr wrap="square" lIns="0" tIns="0" rIns="0" bIns="0" rtlCol="0" anchor="ctr"/>
          <a:lstStyle/>
          <a:p>
            <a:pPr indent="0" marL="0">
              <a:buNone/>
            </a:pPr>
            <a:r>
              <a:rPr lang="en-US" sz="1300" i="1" dirty="0">
                <a:solidFill>
                  <a:srgbClr val="63666A"/>
                </a:solidFill>
                <a:latin typeface="Arial" pitchFamily="34" charset="0"/>
                <a:ea typeface="Arial" pitchFamily="34" charset="-122"/>
                <a:cs typeface="Arial" pitchFamily="34" charset="-120"/>
              </a:rPr>
              <a:t>Everything from here on is grounded in current (2026) official guidance from Anthropic, OpenAI, and Google — not recycled 2023 advice.</a:t>
            </a:r>
            <a:endParaRPr lang="en-US" sz="1300" dirty="0"/>
          </a:p>
        </p:txBody>
      </p:sp>
      <p:sp>
        <p:nvSpPr>
          <p:cNvPr id="20" name="Text 15"/>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Synthesis of Anthropic, OpenAI &amp; Google official guidance, fetched live — Aug 2026</a:t>
            </a:r>
            <a:endParaRPr lang="en-US" sz="900" dirty="0"/>
          </a:p>
        </p:txBody>
      </p:sp>
      <p:sp>
        <p:nvSpPr>
          <p:cNvPr id="21" name="Text 16"/>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2 / 24</a:t>
            </a:r>
            <a:endParaRPr lang="en-US" sz="900" dirty="0"/>
          </a:p>
        </p:txBody>
      </p:sp>
      <p:sp>
        <p:nvSpPr>
          <p:cNvPr id="22" name="Shape 17"/>
          <p:cNvSpPr/>
          <p:nvPr/>
        </p:nvSpPr>
        <p:spPr>
          <a:xfrm>
            <a:off x="11263579" y="6437376"/>
            <a:ext cx="283464" cy="283464"/>
          </a:xfrm>
          <a:prstGeom prst="rect">
            <a:avLst/>
          </a:prstGeom>
          <a:solidFill>
            <a:srgbClr val="FFFFFF"/>
          </a:solidFill>
          <a:ln/>
        </p:spPr>
      </p:sp>
      <p:sp>
        <p:nvSpPr>
          <p:cNvPr id="23" name="Shape 18"/>
          <p:cNvSpPr/>
          <p:nvPr/>
        </p:nvSpPr>
        <p:spPr>
          <a:xfrm rot="10800000">
            <a:off x="11263579" y="6437376"/>
            <a:ext cx="283464" cy="141732"/>
          </a:xfrm>
          <a:prstGeom prst="triangle">
            <a:avLst/>
          </a:prstGeom>
          <a:solidFill>
            <a:srgbClr val="DB0011"/>
          </a:solidFill>
          <a:ln/>
        </p:spPr>
      </p:sp>
      <p:sp>
        <p:nvSpPr>
          <p:cNvPr id="24" name="Shape 19"/>
          <p:cNvSpPr/>
          <p:nvPr/>
        </p:nvSpPr>
        <p:spPr>
          <a:xfrm>
            <a:off x="11263579" y="6579108"/>
            <a:ext cx="283464" cy="141732"/>
          </a:xfrm>
          <a:prstGeom prst="triangle">
            <a:avLst/>
          </a:prstGeom>
          <a:solidFill>
            <a:srgbClr val="DB0011"/>
          </a:solidFill>
          <a:ln/>
        </p:spPr>
      </p:sp>
      <p:sp>
        <p:nvSpPr>
          <p:cNvPr id="25" name="Shape 20"/>
          <p:cNvSpPr/>
          <p:nvPr/>
        </p:nvSpPr>
        <p:spPr>
          <a:xfrm rot="16200000">
            <a:off x="11121847" y="6437376"/>
            <a:ext cx="141732" cy="283464"/>
          </a:xfrm>
          <a:prstGeom prst="triangle">
            <a:avLst/>
          </a:prstGeom>
          <a:solidFill>
            <a:srgbClr val="DB0011"/>
          </a:solidFill>
          <a:ln/>
        </p:spPr>
      </p:sp>
      <p:sp>
        <p:nvSpPr>
          <p:cNvPr id="26" name="Shape 21"/>
          <p:cNvSpPr/>
          <p:nvPr/>
        </p:nvSpPr>
        <p:spPr>
          <a:xfrm rot="5400000">
            <a:off x="11547043" y="6437376"/>
            <a:ext cx="141732" cy="283464"/>
          </a:xfrm>
          <a:prstGeom prst="triangle">
            <a:avLst/>
          </a:prstGeom>
          <a:solidFill>
            <a:srgbClr val="DB0011"/>
          </a:solidFill>
          <a:ln/>
        </p:spPr>
      </p:sp>
      <p:sp>
        <p:nvSpPr>
          <p:cNvPr id="27" name="Text 22"/>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02920" y="2468880"/>
            <a:ext cx="11185855" cy="457200"/>
          </a:xfrm>
          <a:prstGeom prst="rect">
            <a:avLst/>
          </a:prstGeom>
          <a:noFill/>
          <a:ln/>
        </p:spPr>
        <p:txBody>
          <a:bodyPr wrap="square" lIns="0" tIns="0" rIns="0" bIns="0" rtlCol="0" anchor="ctr"/>
          <a:lstStyle/>
          <a:p>
            <a:pPr indent="0" marL="0">
              <a:buNone/>
            </a:pPr>
            <a:r>
              <a:rPr lang="en-US" sz="1600" b="1" spc="300" kern="0" dirty="0">
                <a:solidFill>
                  <a:srgbClr val="DB0011"/>
                </a:solidFill>
                <a:latin typeface="Arial" pitchFamily="34" charset="0"/>
                <a:ea typeface="Arial" pitchFamily="34" charset="-122"/>
                <a:cs typeface="Arial" pitchFamily="34" charset="-120"/>
              </a:rPr>
              <a:t>PART I</a:t>
            </a:r>
            <a:endParaRPr lang="en-US" sz="1600" dirty="0"/>
          </a:p>
        </p:txBody>
      </p:sp>
      <p:sp>
        <p:nvSpPr>
          <p:cNvPr id="3" name="Text 1"/>
          <p:cNvSpPr/>
          <p:nvPr/>
        </p:nvSpPr>
        <p:spPr>
          <a:xfrm>
            <a:off x="502920" y="2880360"/>
            <a:ext cx="11185855"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Foundations</a:t>
            </a:r>
            <a:endParaRPr lang="en-US" sz="4000" dirty="0"/>
          </a:p>
        </p:txBody>
      </p:sp>
      <p:sp>
        <p:nvSpPr>
          <p:cNvPr id="4" name="Text 2"/>
          <p:cNvSpPr/>
          <p:nvPr/>
        </p:nvSpPr>
        <p:spPr>
          <a:xfrm>
            <a:off x="502920" y="3749040"/>
            <a:ext cx="9357055" cy="457200"/>
          </a:xfrm>
          <a:prstGeom prst="rect">
            <a:avLst/>
          </a:prstGeom>
          <a:noFill/>
          <a:ln/>
        </p:spPr>
        <p:txBody>
          <a:bodyPr wrap="square" lIns="0" tIns="0" rIns="0" bIns="0" rtlCol="0" anchor="ctr"/>
          <a:lstStyle/>
          <a:p>
            <a:pPr indent="0" marL="0">
              <a:buNone/>
            </a:pPr>
            <a:r>
              <a:rPr lang="en-US" sz="1500" i="1" dirty="0">
                <a:solidFill>
                  <a:srgbClr val="B7B9BB"/>
                </a:solidFill>
                <a:latin typeface="Arial" pitchFamily="34" charset="0"/>
                <a:ea typeface="Arial" pitchFamily="34" charset="-122"/>
                <a:cs typeface="Arial" pitchFamily="34" charset="-120"/>
              </a:rPr>
              <a:t>The mental model, the anatomy of a prompt, and the techniques that never go out of date.</a:t>
            </a:r>
            <a:endParaRPr lang="en-US" sz="1500" dirty="0"/>
          </a:p>
        </p:txBody>
      </p:sp>
      <p:sp>
        <p:nvSpPr>
          <p:cNvPr id="5" name="Shape 3"/>
          <p:cNvSpPr/>
          <p:nvPr/>
        </p:nvSpPr>
        <p:spPr>
          <a:xfrm>
            <a:off x="11263579" y="6437376"/>
            <a:ext cx="283464" cy="283464"/>
          </a:xfrm>
          <a:prstGeom prst="rect">
            <a:avLst/>
          </a:prstGeom>
          <a:solidFill>
            <a:srgbClr val="FFFFFF"/>
          </a:solidFill>
          <a:ln/>
        </p:spPr>
      </p:sp>
      <p:sp>
        <p:nvSpPr>
          <p:cNvPr id="6" name="Shape 4"/>
          <p:cNvSpPr/>
          <p:nvPr/>
        </p:nvSpPr>
        <p:spPr>
          <a:xfrm rot="10800000">
            <a:off x="11263579" y="6437376"/>
            <a:ext cx="283464" cy="141732"/>
          </a:xfrm>
          <a:prstGeom prst="triangle">
            <a:avLst/>
          </a:prstGeom>
          <a:solidFill>
            <a:srgbClr val="DB0011"/>
          </a:solidFill>
          <a:ln/>
        </p:spPr>
      </p:sp>
      <p:sp>
        <p:nvSpPr>
          <p:cNvPr id="7" name="Shape 5"/>
          <p:cNvSpPr/>
          <p:nvPr/>
        </p:nvSpPr>
        <p:spPr>
          <a:xfrm>
            <a:off x="11263579" y="6579108"/>
            <a:ext cx="283464" cy="141732"/>
          </a:xfrm>
          <a:prstGeom prst="triangle">
            <a:avLst/>
          </a:prstGeom>
          <a:solidFill>
            <a:srgbClr val="DB0011"/>
          </a:solidFill>
          <a:ln/>
        </p:spPr>
      </p:sp>
      <p:sp>
        <p:nvSpPr>
          <p:cNvPr id="8" name="Shape 6"/>
          <p:cNvSpPr/>
          <p:nvPr/>
        </p:nvSpPr>
        <p:spPr>
          <a:xfrm rot="16200000">
            <a:off x="11121847" y="6437376"/>
            <a:ext cx="141732" cy="283464"/>
          </a:xfrm>
          <a:prstGeom prst="triangle">
            <a:avLst/>
          </a:prstGeom>
          <a:solidFill>
            <a:srgbClr val="DB0011"/>
          </a:solidFill>
          <a:ln/>
        </p:spPr>
      </p:sp>
      <p:sp>
        <p:nvSpPr>
          <p:cNvPr id="9" name="Shape 7"/>
          <p:cNvSpPr/>
          <p:nvPr/>
        </p:nvSpPr>
        <p:spPr>
          <a:xfrm rot="5400000">
            <a:off x="11547043" y="6437376"/>
            <a:ext cx="141732" cy="283464"/>
          </a:xfrm>
          <a:prstGeom prst="triangle">
            <a:avLst/>
          </a:prstGeom>
          <a:solidFill>
            <a:srgbClr val="DB0011"/>
          </a:solidFill>
          <a:ln/>
        </p:spPr>
      </p:sp>
      <p:sp>
        <p:nvSpPr>
          <p:cNvPr id="10" name="Text 8"/>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B7B9BB"/>
                </a:solidFill>
                <a:latin typeface="Arial" pitchFamily="34" charset="0"/>
                <a:ea typeface="Arial" pitchFamily="34" charset="-122"/>
                <a:cs typeface="Arial" pitchFamily="34" charset="-120"/>
              </a:rPr>
              <a:t>3 / 24</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§0 · THE SPINE OF THIS WHOLE COURSE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500" b="1" dirty="0">
                <a:solidFill>
                  <a:srgbClr val="1A1A1A"/>
                </a:solidFill>
                <a:latin typeface="Arial" pitchFamily="34" charset="0"/>
                <a:ea typeface="Arial" pitchFamily="34" charset="-122"/>
                <a:cs typeface="Arial" pitchFamily="34" charset="-120"/>
              </a:rPr>
              <a:t>A model predicts the next token from what's in its context — nothing more</a:t>
            </a:r>
            <a:endParaRPr lang="en-US" sz="2500" dirty="0"/>
          </a:p>
        </p:txBody>
      </p:sp>
      <p:sp>
        <p:nvSpPr>
          <p:cNvPr id="4" name="Shape 2"/>
          <p:cNvSpPr/>
          <p:nvPr/>
        </p:nvSpPr>
        <p:spPr>
          <a:xfrm>
            <a:off x="502920" y="2148840"/>
            <a:ext cx="2604440" cy="2331720"/>
          </a:xfrm>
          <a:prstGeom prst="roundRect">
            <a:avLst>
              <a:gd name="adj" fmla="val 3137"/>
            </a:avLst>
          </a:prstGeom>
          <a:solidFill>
            <a:srgbClr val="F4F4F5"/>
          </a:solidFill>
          <a:ln/>
        </p:spPr>
      </p:sp>
      <p:sp>
        <p:nvSpPr>
          <p:cNvPr id="5" name="Shape 3"/>
          <p:cNvSpPr/>
          <p:nvPr/>
        </p:nvSpPr>
        <p:spPr>
          <a:xfrm>
            <a:off x="704088" y="2331720"/>
            <a:ext cx="457200" cy="457200"/>
          </a:xfrm>
          <a:prstGeom prst="ellipse">
            <a:avLst/>
          </a:prstGeom>
          <a:solidFill>
            <a:srgbClr val="DB0011"/>
          </a:solidFill>
          <a:ln/>
        </p:spPr>
      </p:sp>
      <p:pic>
        <p:nvPicPr>
          <p:cNvPr id="6" name="Image 0" descr="preencoded.png">    </p:cNvPr>
          <p:cNvPicPr>
            <a:picLocks noChangeAspect="1"/>
          </p:cNvPicPr>
          <p:nvPr/>
        </p:nvPicPr>
        <p:blipFill>
          <a:blip r:embed="rId1"/>
          <a:stretch>
            <a:fillRect/>
          </a:stretch>
        </p:blipFill>
        <p:spPr>
          <a:xfrm>
            <a:off x="768096" y="2395728"/>
            <a:ext cx="329184" cy="329184"/>
          </a:xfrm>
          <a:prstGeom prst="rect">
            <a:avLst/>
          </a:prstGeom>
        </p:spPr>
      </p:pic>
      <p:sp>
        <p:nvSpPr>
          <p:cNvPr id="7" name="Text 4"/>
          <p:cNvSpPr/>
          <p:nvPr/>
        </p:nvSpPr>
        <p:spPr>
          <a:xfrm>
            <a:off x="704088" y="288036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Only what's in context is real</a:t>
            </a:r>
            <a:endParaRPr lang="en-US" sz="1400" dirty="0"/>
          </a:p>
        </p:txBody>
      </p:sp>
      <p:sp>
        <p:nvSpPr>
          <p:cNvPr id="8" name="Text 5"/>
          <p:cNvSpPr/>
          <p:nvPr/>
        </p:nvSpPr>
        <p:spPr>
          <a:xfrm>
            <a:off x="704088" y="3227832"/>
            <a:ext cx="2202104" cy="114300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Not what you meant, not what's true in the world — only the tokens the model can currently see.</a:t>
            </a:r>
            <a:endParaRPr lang="en-US" sz="1150" dirty="0"/>
          </a:p>
        </p:txBody>
      </p:sp>
      <p:sp>
        <p:nvSpPr>
          <p:cNvPr id="9" name="Shape 6"/>
          <p:cNvSpPr/>
          <p:nvPr/>
        </p:nvSpPr>
        <p:spPr>
          <a:xfrm>
            <a:off x="3363392" y="2148840"/>
            <a:ext cx="2604440" cy="2331720"/>
          </a:xfrm>
          <a:prstGeom prst="roundRect">
            <a:avLst>
              <a:gd name="adj" fmla="val 3137"/>
            </a:avLst>
          </a:prstGeom>
          <a:solidFill>
            <a:srgbClr val="F4F4F5"/>
          </a:solidFill>
          <a:ln/>
        </p:spPr>
      </p:sp>
      <p:sp>
        <p:nvSpPr>
          <p:cNvPr id="10" name="Shape 7"/>
          <p:cNvSpPr/>
          <p:nvPr/>
        </p:nvSpPr>
        <p:spPr>
          <a:xfrm>
            <a:off x="3564560" y="2331720"/>
            <a:ext cx="457200" cy="457200"/>
          </a:xfrm>
          <a:prstGeom prst="ellipse">
            <a:avLst/>
          </a:prstGeom>
          <a:solidFill>
            <a:srgbClr val="DB0011"/>
          </a:solidFill>
          <a:ln/>
        </p:spPr>
      </p:sp>
      <p:pic>
        <p:nvPicPr>
          <p:cNvPr id="11" name="Image 1" descr="preencoded.png">    </p:cNvPr>
          <p:cNvPicPr>
            <a:picLocks noChangeAspect="1"/>
          </p:cNvPicPr>
          <p:nvPr/>
        </p:nvPicPr>
        <p:blipFill>
          <a:blip r:embed="rId2"/>
          <a:stretch>
            <a:fillRect/>
          </a:stretch>
        </p:blipFill>
        <p:spPr>
          <a:xfrm>
            <a:off x="3628568" y="2395728"/>
            <a:ext cx="329184" cy="329184"/>
          </a:xfrm>
          <a:prstGeom prst="rect">
            <a:avLst/>
          </a:prstGeom>
        </p:spPr>
      </p:pic>
      <p:sp>
        <p:nvSpPr>
          <p:cNvPr id="12" name="Text 8"/>
          <p:cNvSpPr/>
          <p:nvPr/>
        </p:nvSpPr>
        <p:spPr>
          <a:xfrm>
            <a:off x="3564560" y="288036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Position matters</a:t>
            </a:r>
            <a:endParaRPr lang="en-US" sz="1400" dirty="0"/>
          </a:p>
        </p:txBody>
      </p:sp>
      <p:sp>
        <p:nvSpPr>
          <p:cNvPr id="13" name="Text 9"/>
          <p:cNvSpPr/>
          <p:nvPr/>
        </p:nvSpPr>
        <p:spPr>
          <a:xfrm>
            <a:off x="3564560" y="3227832"/>
            <a:ext cx="2202104" cy="114300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Attention is strongest at the start and end of context — "lost in the middle" is measured, not folklore.</a:t>
            </a:r>
            <a:endParaRPr lang="en-US" sz="1150" dirty="0"/>
          </a:p>
        </p:txBody>
      </p:sp>
      <p:sp>
        <p:nvSpPr>
          <p:cNvPr id="14" name="Shape 10"/>
          <p:cNvSpPr/>
          <p:nvPr/>
        </p:nvSpPr>
        <p:spPr>
          <a:xfrm>
            <a:off x="6223864" y="2148840"/>
            <a:ext cx="2604440" cy="2331720"/>
          </a:xfrm>
          <a:prstGeom prst="roundRect">
            <a:avLst>
              <a:gd name="adj" fmla="val 3137"/>
            </a:avLst>
          </a:prstGeom>
          <a:solidFill>
            <a:srgbClr val="F4F4F5"/>
          </a:solidFill>
          <a:ln/>
        </p:spPr>
      </p:sp>
      <p:sp>
        <p:nvSpPr>
          <p:cNvPr id="15" name="Shape 11"/>
          <p:cNvSpPr/>
          <p:nvPr/>
        </p:nvSpPr>
        <p:spPr>
          <a:xfrm>
            <a:off x="6425032" y="2331720"/>
            <a:ext cx="457200" cy="457200"/>
          </a:xfrm>
          <a:prstGeom prst="ellipse">
            <a:avLst/>
          </a:prstGeom>
          <a:solidFill>
            <a:srgbClr val="DB0011"/>
          </a:solidFill>
          <a:ln/>
        </p:spPr>
      </p:sp>
      <p:pic>
        <p:nvPicPr>
          <p:cNvPr id="16" name="Image 2" descr="preencoded.png">    </p:cNvPr>
          <p:cNvPicPr>
            <a:picLocks noChangeAspect="1"/>
          </p:cNvPicPr>
          <p:nvPr/>
        </p:nvPicPr>
        <p:blipFill>
          <a:blip r:embed="rId3"/>
          <a:stretch>
            <a:fillRect/>
          </a:stretch>
        </p:blipFill>
        <p:spPr>
          <a:xfrm>
            <a:off x="6489040" y="2395728"/>
            <a:ext cx="329184" cy="329184"/>
          </a:xfrm>
          <a:prstGeom prst="rect">
            <a:avLst/>
          </a:prstGeom>
        </p:spPr>
      </p:pic>
      <p:sp>
        <p:nvSpPr>
          <p:cNvPr id="17" name="Text 12"/>
          <p:cNvSpPr/>
          <p:nvPr/>
        </p:nvSpPr>
        <p:spPr>
          <a:xfrm>
            <a:off x="6425032" y="288036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Generation can't be taken back</a:t>
            </a:r>
            <a:endParaRPr lang="en-US" sz="1400" dirty="0"/>
          </a:p>
        </p:txBody>
      </p:sp>
      <p:sp>
        <p:nvSpPr>
          <p:cNvPr id="18" name="Text 13"/>
          <p:cNvSpPr/>
          <p:nvPr/>
        </p:nvSpPr>
        <p:spPr>
          <a:xfrm>
            <a:off x="6425032" y="3227832"/>
            <a:ext cx="2202104" cy="114300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Left-to-right, one token at a time — reasoning-before-answering helps because it conditions the final answer.</a:t>
            </a:r>
            <a:endParaRPr lang="en-US" sz="1150" dirty="0"/>
          </a:p>
        </p:txBody>
      </p:sp>
      <p:sp>
        <p:nvSpPr>
          <p:cNvPr id="19" name="Shape 14"/>
          <p:cNvSpPr/>
          <p:nvPr/>
        </p:nvSpPr>
        <p:spPr>
          <a:xfrm>
            <a:off x="9084335" y="2148840"/>
            <a:ext cx="2604440" cy="2331720"/>
          </a:xfrm>
          <a:prstGeom prst="roundRect">
            <a:avLst>
              <a:gd name="adj" fmla="val 3137"/>
            </a:avLst>
          </a:prstGeom>
          <a:solidFill>
            <a:srgbClr val="F4F4F5"/>
          </a:solidFill>
          <a:ln/>
        </p:spPr>
      </p:sp>
      <p:sp>
        <p:nvSpPr>
          <p:cNvPr id="20" name="Shape 15"/>
          <p:cNvSpPr/>
          <p:nvPr/>
        </p:nvSpPr>
        <p:spPr>
          <a:xfrm>
            <a:off x="9285503" y="2331720"/>
            <a:ext cx="457200" cy="457200"/>
          </a:xfrm>
          <a:prstGeom prst="ellipse">
            <a:avLst/>
          </a:prstGeom>
          <a:solidFill>
            <a:srgbClr val="DB0011"/>
          </a:solidFill>
          <a:ln/>
        </p:spPr>
      </p:sp>
      <p:pic>
        <p:nvPicPr>
          <p:cNvPr id="21" name="Image 3" descr="preencoded.png">    </p:cNvPr>
          <p:cNvPicPr>
            <a:picLocks noChangeAspect="1"/>
          </p:cNvPicPr>
          <p:nvPr/>
        </p:nvPicPr>
        <p:blipFill>
          <a:blip r:embed="rId4"/>
          <a:stretch>
            <a:fillRect/>
          </a:stretch>
        </p:blipFill>
        <p:spPr>
          <a:xfrm>
            <a:off x="9349511" y="2395728"/>
            <a:ext cx="329184" cy="329184"/>
          </a:xfrm>
          <a:prstGeom prst="rect">
            <a:avLst/>
          </a:prstGeom>
        </p:spPr>
      </p:pic>
      <p:sp>
        <p:nvSpPr>
          <p:cNvPr id="22" name="Text 16"/>
          <p:cNvSpPr/>
          <p:nvPr/>
        </p:nvSpPr>
        <p:spPr>
          <a:xfrm>
            <a:off x="9285503" y="288036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No unspoofable channel</a:t>
            </a:r>
            <a:endParaRPr lang="en-US" sz="1400" dirty="0"/>
          </a:p>
        </p:txBody>
      </p:sp>
      <p:sp>
        <p:nvSpPr>
          <p:cNvPr id="23" name="Text 17"/>
          <p:cNvSpPr/>
          <p:nvPr/>
        </p:nvSpPr>
        <p:spPr>
          <a:xfrm>
            <a:off x="9285503" y="3227832"/>
            <a:ext cx="2202104" cy="114300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Instructions and content are both just tokens — the root cause of prompt injection, slide 21.</a:t>
            </a:r>
            <a:endParaRPr lang="en-US" sz="1150" dirty="0"/>
          </a:p>
        </p:txBody>
      </p:sp>
      <p:sp>
        <p:nvSpPr>
          <p:cNvPr id="24" name="Text 18"/>
          <p:cNvSpPr/>
          <p:nvPr/>
        </p:nvSpPr>
        <p:spPr>
          <a:xfrm>
            <a:off x="502920" y="4800600"/>
            <a:ext cx="11185855" cy="502920"/>
          </a:xfrm>
          <a:prstGeom prst="rect">
            <a:avLst/>
          </a:prstGeom>
          <a:noFill/>
          <a:ln/>
        </p:spPr>
        <p:txBody>
          <a:bodyPr wrap="square" lIns="0" tIns="0" rIns="0" bIns="0" rtlCol="0" anchor="ctr"/>
          <a:lstStyle/>
          <a:p>
            <a:pPr indent="0" marL="0">
              <a:buNone/>
            </a:pPr>
            <a:r>
              <a:rPr lang="en-US" sz="1300" i="1" dirty="0">
                <a:solidFill>
                  <a:srgbClr val="63666A"/>
                </a:solidFill>
                <a:latin typeface="Arial" pitchFamily="34" charset="0"/>
                <a:ea typeface="Arial" pitchFamily="34" charset="-122"/>
                <a:cs typeface="Arial" pitchFamily="34" charset="-120"/>
              </a:rPr>
              <a:t>Nearly every technique in this deck is a strategy for exploiting or working around one of these four facts.</a:t>
            </a:r>
            <a:endParaRPr lang="en-US" sz="1300" dirty="0"/>
          </a:p>
        </p:txBody>
      </p:sp>
      <p:sp>
        <p:nvSpPr>
          <p:cNvPr id="25" name="Text 19"/>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Liu et al., 2023, arXiv:2307.03172 · Hsieh et al., 2024, arXiv:2406.16008</a:t>
            </a:r>
            <a:endParaRPr lang="en-US" sz="900" dirty="0"/>
          </a:p>
        </p:txBody>
      </p:sp>
      <p:sp>
        <p:nvSpPr>
          <p:cNvPr id="26" name="Text 20"/>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4 / 24</a:t>
            </a:r>
            <a:endParaRPr lang="en-US" sz="900" dirty="0"/>
          </a:p>
        </p:txBody>
      </p:sp>
      <p:sp>
        <p:nvSpPr>
          <p:cNvPr id="27" name="Shape 21"/>
          <p:cNvSpPr/>
          <p:nvPr/>
        </p:nvSpPr>
        <p:spPr>
          <a:xfrm>
            <a:off x="11263579" y="6437376"/>
            <a:ext cx="283464" cy="283464"/>
          </a:xfrm>
          <a:prstGeom prst="rect">
            <a:avLst/>
          </a:prstGeom>
          <a:solidFill>
            <a:srgbClr val="FFFFFF"/>
          </a:solidFill>
          <a:ln/>
        </p:spPr>
      </p:sp>
      <p:sp>
        <p:nvSpPr>
          <p:cNvPr id="28" name="Shape 22"/>
          <p:cNvSpPr/>
          <p:nvPr/>
        </p:nvSpPr>
        <p:spPr>
          <a:xfrm rot="10800000">
            <a:off x="11263579" y="6437376"/>
            <a:ext cx="283464" cy="141732"/>
          </a:xfrm>
          <a:prstGeom prst="triangle">
            <a:avLst/>
          </a:prstGeom>
          <a:solidFill>
            <a:srgbClr val="DB0011"/>
          </a:solidFill>
          <a:ln/>
        </p:spPr>
      </p:sp>
      <p:sp>
        <p:nvSpPr>
          <p:cNvPr id="29" name="Shape 23"/>
          <p:cNvSpPr/>
          <p:nvPr/>
        </p:nvSpPr>
        <p:spPr>
          <a:xfrm>
            <a:off x="11263579" y="6579108"/>
            <a:ext cx="283464" cy="141732"/>
          </a:xfrm>
          <a:prstGeom prst="triangle">
            <a:avLst/>
          </a:prstGeom>
          <a:solidFill>
            <a:srgbClr val="DB0011"/>
          </a:solidFill>
          <a:ln/>
        </p:spPr>
      </p:sp>
      <p:sp>
        <p:nvSpPr>
          <p:cNvPr id="30" name="Shape 24"/>
          <p:cNvSpPr/>
          <p:nvPr/>
        </p:nvSpPr>
        <p:spPr>
          <a:xfrm rot="16200000">
            <a:off x="11121847" y="6437376"/>
            <a:ext cx="141732" cy="283464"/>
          </a:xfrm>
          <a:prstGeom prst="triangle">
            <a:avLst/>
          </a:prstGeom>
          <a:solidFill>
            <a:srgbClr val="DB0011"/>
          </a:solidFill>
          <a:ln/>
        </p:spPr>
      </p:sp>
      <p:sp>
        <p:nvSpPr>
          <p:cNvPr id="31" name="Shape 25"/>
          <p:cNvSpPr/>
          <p:nvPr/>
        </p:nvSpPr>
        <p:spPr>
          <a:xfrm rot="5400000">
            <a:off x="11547043" y="6437376"/>
            <a:ext cx="141732" cy="283464"/>
          </a:xfrm>
          <a:prstGeom prst="triangle">
            <a:avLst/>
          </a:prstGeom>
          <a:solidFill>
            <a:srgbClr val="DB0011"/>
          </a:solidFill>
          <a:ln/>
        </p:spPr>
      </p:sp>
      <p:sp>
        <p:nvSpPr>
          <p:cNvPr id="32" name="Text 26"/>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§1 · PROMPT STRUCTURE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The anatomy of a real prompt</a:t>
            </a:r>
            <a:endParaRPr lang="en-US" sz="2800" dirty="0"/>
          </a:p>
        </p:txBody>
      </p:sp>
      <p:sp>
        <p:nvSpPr>
          <p:cNvPr id="4" name="Shape 2"/>
          <p:cNvSpPr/>
          <p:nvPr/>
        </p:nvSpPr>
        <p:spPr>
          <a:xfrm>
            <a:off x="502920" y="1783080"/>
            <a:ext cx="11185855" cy="530352"/>
          </a:xfrm>
          <a:prstGeom prst="roundRect">
            <a:avLst>
              <a:gd name="adj" fmla="val 13793"/>
            </a:avLst>
          </a:prstGeom>
          <a:solidFill>
            <a:srgbClr val="F4F4F5"/>
          </a:solidFill>
          <a:ln/>
        </p:spPr>
      </p:sp>
      <p:sp>
        <p:nvSpPr>
          <p:cNvPr id="5" name="Shape 3"/>
          <p:cNvSpPr/>
          <p:nvPr/>
        </p:nvSpPr>
        <p:spPr>
          <a:xfrm>
            <a:off x="649224" y="1874520"/>
            <a:ext cx="347472" cy="347472"/>
          </a:xfrm>
          <a:prstGeom prst="ellipse">
            <a:avLst/>
          </a:prstGeom>
          <a:solidFill>
            <a:srgbClr val="DB0011"/>
          </a:solidFill>
          <a:ln/>
        </p:spPr>
      </p:sp>
      <p:pic>
        <p:nvPicPr>
          <p:cNvPr id="6" name="Image 0" descr="preencoded.png">    </p:cNvPr>
          <p:cNvPicPr>
            <a:picLocks noChangeAspect="1"/>
          </p:cNvPicPr>
          <p:nvPr/>
        </p:nvPicPr>
        <p:blipFill>
          <a:blip r:embed="rId1"/>
          <a:stretch>
            <a:fillRect/>
          </a:stretch>
        </p:blipFill>
        <p:spPr>
          <a:xfrm>
            <a:off x="697870" y="1923166"/>
            <a:ext cx="250180" cy="250180"/>
          </a:xfrm>
          <a:prstGeom prst="rect">
            <a:avLst/>
          </a:prstGeom>
        </p:spPr>
      </p:pic>
      <p:sp>
        <p:nvSpPr>
          <p:cNvPr id="7" name="Text 4"/>
          <p:cNvSpPr/>
          <p:nvPr/>
        </p:nvSpPr>
        <p:spPr>
          <a:xfrm>
            <a:off x="1124712" y="1783080"/>
            <a:ext cx="2377440" cy="53035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System / developer</a:t>
            </a:r>
            <a:endParaRPr lang="en-US" sz="1250" dirty="0"/>
          </a:p>
        </p:txBody>
      </p:sp>
      <p:sp>
        <p:nvSpPr>
          <p:cNvPr id="8" name="Text 5"/>
          <p:cNvSpPr/>
          <p:nvPr/>
        </p:nvSpPr>
        <p:spPr>
          <a:xfrm>
            <a:off x="3566160" y="1783080"/>
            <a:ext cx="6248095" cy="530352"/>
          </a:xfrm>
          <a:prstGeom prst="rect">
            <a:avLst/>
          </a:prstGeom>
          <a:noFill/>
          <a:ln/>
        </p:spPr>
        <p:txBody>
          <a:bodyPr wrap="square" lIns="0" tIns="0" rIns="0" bIns="0" rtlCol="0" anchor="ctr"/>
          <a:lstStyle/>
          <a:p>
            <a:pPr indent="0" marL="0">
              <a:buNone/>
            </a:pPr>
            <a:r>
              <a:rPr lang="en-US" sz="1100" dirty="0">
                <a:solidFill>
                  <a:srgbClr val="63666A"/>
                </a:solidFill>
                <a:latin typeface="Arial" pitchFamily="34" charset="0"/>
                <a:ea typeface="Arial" pitchFamily="34" charset="-122"/>
                <a:cs typeface="Arial" pitchFamily="34" charset="-120"/>
              </a:rPr>
              <a:t>Standing instructions: role, tone, constraints that apply every turn</a:t>
            </a:r>
            <a:endParaRPr lang="en-US" sz="1100" dirty="0"/>
          </a:p>
        </p:txBody>
      </p:sp>
      <p:sp>
        <p:nvSpPr>
          <p:cNvPr id="9" name="Shape 6"/>
          <p:cNvSpPr/>
          <p:nvPr/>
        </p:nvSpPr>
        <p:spPr>
          <a:xfrm>
            <a:off x="9951415" y="1892808"/>
            <a:ext cx="1600200" cy="310896"/>
          </a:xfrm>
          <a:prstGeom prst="roundRect">
            <a:avLst>
              <a:gd name="adj" fmla="val 50000"/>
            </a:avLst>
          </a:prstGeom>
          <a:solidFill>
            <a:srgbClr val="FFFFFF"/>
          </a:solidFill>
          <a:ln w="9525">
            <a:solidFill>
              <a:srgbClr val="D9D9D9"/>
            </a:solidFill>
            <a:prstDash val="solid"/>
          </a:ln>
        </p:spPr>
      </p:sp>
      <p:sp>
        <p:nvSpPr>
          <p:cNvPr id="10" name="Text 7"/>
          <p:cNvSpPr/>
          <p:nvPr/>
        </p:nvSpPr>
        <p:spPr>
          <a:xfrm>
            <a:off x="9951415" y="1892808"/>
            <a:ext cx="1600200" cy="310896"/>
          </a:xfrm>
          <a:prstGeom prst="rect">
            <a:avLst/>
          </a:prstGeom>
          <a:noFill/>
          <a:ln/>
        </p:spPr>
        <p:txBody>
          <a:bodyPr wrap="square" lIns="0" tIns="0" rIns="0" bIns="0" rtlCol="0" anchor="ctr"/>
          <a:lstStyle/>
          <a:p>
            <a:pPr algn="ctr" indent="0" marL="0">
              <a:buNone/>
            </a:pPr>
            <a:r>
              <a:rPr lang="en-US" sz="900" b="1" dirty="0">
                <a:solidFill>
                  <a:srgbClr val="DB0011"/>
                </a:solidFill>
                <a:latin typeface="Arial" pitchFamily="34" charset="0"/>
                <a:ea typeface="Arial" pitchFamily="34" charset="-122"/>
                <a:cs typeface="Arial" pitchFamily="34" charset="-120"/>
              </a:rPr>
              <a:t>Whole session</a:t>
            </a:r>
            <a:endParaRPr lang="en-US" sz="900" dirty="0"/>
          </a:p>
        </p:txBody>
      </p:sp>
      <p:sp>
        <p:nvSpPr>
          <p:cNvPr id="11" name="Shape 8"/>
          <p:cNvSpPr/>
          <p:nvPr/>
        </p:nvSpPr>
        <p:spPr>
          <a:xfrm>
            <a:off x="502920" y="2404872"/>
            <a:ext cx="11185855" cy="530352"/>
          </a:xfrm>
          <a:prstGeom prst="roundRect">
            <a:avLst>
              <a:gd name="adj" fmla="val 13793"/>
            </a:avLst>
          </a:prstGeom>
          <a:solidFill>
            <a:srgbClr val="F4F4F5"/>
          </a:solidFill>
          <a:ln/>
        </p:spPr>
      </p:sp>
      <p:sp>
        <p:nvSpPr>
          <p:cNvPr id="12" name="Shape 9"/>
          <p:cNvSpPr/>
          <p:nvPr/>
        </p:nvSpPr>
        <p:spPr>
          <a:xfrm>
            <a:off x="649224" y="2496312"/>
            <a:ext cx="347472" cy="347472"/>
          </a:xfrm>
          <a:prstGeom prst="ellipse">
            <a:avLst/>
          </a:prstGeom>
          <a:solidFill>
            <a:srgbClr val="DB0011"/>
          </a:solidFill>
          <a:ln/>
        </p:spPr>
      </p:sp>
      <p:pic>
        <p:nvPicPr>
          <p:cNvPr id="13" name="Image 1" descr="preencoded.png">    </p:cNvPr>
          <p:cNvPicPr>
            <a:picLocks noChangeAspect="1"/>
          </p:cNvPicPr>
          <p:nvPr/>
        </p:nvPicPr>
        <p:blipFill>
          <a:blip r:embed="rId2"/>
          <a:stretch>
            <a:fillRect/>
          </a:stretch>
        </p:blipFill>
        <p:spPr>
          <a:xfrm>
            <a:off x="697870" y="2544958"/>
            <a:ext cx="250180" cy="250180"/>
          </a:xfrm>
          <a:prstGeom prst="rect">
            <a:avLst/>
          </a:prstGeom>
        </p:spPr>
      </p:pic>
      <p:sp>
        <p:nvSpPr>
          <p:cNvPr id="14" name="Text 10"/>
          <p:cNvSpPr/>
          <p:nvPr/>
        </p:nvSpPr>
        <p:spPr>
          <a:xfrm>
            <a:off x="1124712" y="2404872"/>
            <a:ext cx="2377440" cy="53035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User message</a:t>
            </a:r>
            <a:endParaRPr lang="en-US" sz="1250" dirty="0"/>
          </a:p>
        </p:txBody>
      </p:sp>
      <p:sp>
        <p:nvSpPr>
          <p:cNvPr id="15" name="Text 11"/>
          <p:cNvSpPr/>
          <p:nvPr/>
        </p:nvSpPr>
        <p:spPr>
          <a:xfrm>
            <a:off x="3566160" y="2404872"/>
            <a:ext cx="6248095" cy="530352"/>
          </a:xfrm>
          <a:prstGeom prst="rect">
            <a:avLst/>
          </a:prstGeom>
          <a:noFill/>
          <a:ln/>
        </p:spPr>
        <p:txBody>
          <a:bodyPr wrap="square" lIns="0" tIns="0" rIns="0" bIns="0" rtlCol="0" anchor="ctr"/>
          <a:lstStyle/>
          <a:p>
            <a:pPr indent="0" marL="0">
              <a:buNone/>
            </a:pPr>
            <a:r>
              <a:rPr lang="en-US" sz="1100" dirty="0">
                <a:solidFill>
                  <a:srgbClr val="63666A"/>
                </a:solidFill>
                <a:latin typeface="Arial" pitchFamily="34" charset="0"/>
                <a:ea typeface="Arial" pitchFamily="34" charset="-122"/>
                <a:cs typeface="Arial" pitchFamily="34" charset="-120"/>
              </a:rPr>
              <a:t>The specific ask, this turn</a:t>
            </a:r>
            <a:endParaRPr lang="en-US" sz="1100" dirty="0"/>
          </a:p>
        </p:txBody>
      </p:sp>
      <p:sp>
        <p:nvSpPr>
          <p:cNvPr id="16" name="Shape 12"/>
          <p:cNvSpPr/>
          <p:nvPr/>
        </p:nvSpPr>
        <p:spPr>
          <a:xfrm>
            <a:off x="9951415" y="2514600"/>
            <a:ext cx="1600200" cy="310896"/>
          </a:xfrm>
          <a:prstGeom prst="roundRect">
            <a:avLst>
              <a:gd name="adj" fmla="val 50000"/>
            </a:avLst>
          </a:prstGeom>
          <a:solidFill>
            <a:srgbClr val="FFFFFF"/>
          </a:solidFill>
          <a:ln w="9525">
            <a:solidFill>
              <a:srgbClr val="D9D9D9"/>
            </a:solidFill>
            <a:prstDash val="solid"/>
          </a:ln>
        </p:spPr>
      </p:sp>
      <p:sp>
        <p:nvSpPr>
          <p:cNvPr id="17" name="Text 13"/>
          <p:cNvSpPr/>
          <p:nvPr/>
        </p:nvSpPr>
        <p:spPr>
          <a:xfrm>
            <a:off x="9951415" y="2514600"/>
            <a:ext cx="1600200" cy="310896"/>
          </a:xfrm>
          <a:prstGeom prst="rect">
            <a:avLst/>
          </a:prstGeom>
          <a:noFill/>
          <a:ln/>
        </p:spPr>
        <p:txBody>
          <a:bodyPr wrap="square" lIns="0" tIns="0" rIns="0" bIns="0" rtlCol="0" anchor="ctr"/>
          <a:lstStyle/>
          <a:p>
            <a:pPr algn="ctr" indent="0" marL="0">
              <a:buNone/>
            </a:pPr>
            <a:r>
              <a:rPr lang="en-US" sz="900" b="1" dirty="0">
                <a:solidFill>
                  <a:srgbClr val="DB0011"/>
                </a:solidFill>
                <a:latin typeface="Arial" pitchFamily="34" charset="0"/>
                <a:ea typeface="Arial" pitchFamily="34" charset="-122"/>
                <a:cs typeface="Arial" pitchFamily="34" charset="-120"/>
              </a:rPr>
              <a:t>Per-turn</a:t>
            </a:r>
            <a:endParaRPr lang="en-US" sz="900" dirty="0"/>
          </a:p>
        </p:txBody>
      </p:sp>
      <p:sp>
        <p:nvSpPr>
          <p:cNvPr id="18" name="Shape 14"/>
          <p:cNvSpPr/>
          <p:nvPr/>
        </p:nvSpPr>
        <p:spPr>
          <a:xfrm>
            <a:off x="502920" y="3026664"/>
            <a:ext cx="11185855" cy="530352"/>
          </a:xfrm>
          <a:prstGeom prst="roundRect">
            <a:avLst>
              <a:gd name="adj" fmla="val 13793"/>
            </a:avLst>
          </a:prstGeom>
          <a:solidFill>
            <a:srgbClr val="F4F4F5"/>
          </a:solidFill>
          <a:ln/>
        </p:spPr>
      </p:sp>
      <p:sp>
        <p:nvSpPr>
          <p:cNvPr id="19" name="Shape 15"/>
          <p:cNvSpPr/>
          <p:nvPr/>
        </p:nvSpPr>
        <p:spPr>
          <a:xfrm>
            <a:off x="649224" y="3118104"/>
            <a:ext cx="347472" cy="347472"/>
          </a:xfrm>
          <a:prstGeom prst="ellipse">
            <a:avLst/>
          </a:prstGeom>
          <a:solidFill>
            <a:srgbClr val="DB0011"/>
          </a:solidFill>
          <a:ln/>
        </p:spPr>
      </p:sp>
      <p:pic>
        <p:nvPicPr>
          <p:cNvPr id="20" name="Image 2" descr="preencoded.png">    </p:cNvPr>
          <p:cNvPicPr>
            <a:picLocks noChangeAspect="1"/>
          </p:cNvPicPr>
          <p:nvPr/>
        </p:nvPicPr>
        <p:blipFill>
          <a:blip r:embed="rId3"/>
          <a:stretch>
            <a:fillRect/>
          </a:stretch>
        </p:blipFill>
        <p:spPr>
          <a:xfrm>
            <a:off x="697870" y="3166750"/>
            <a:ext cx="250180" cy="250180"/>
          </a:xfrm>
          <a:prstGeom prst="rect">
            <a:avLst/>
          </a:prstGeom>
        </p:spPr>
      </p:pic>
      <p:sp>
        <p:nvSpPr>
          <p:cNvPr id="21" name="Text 16"/>
          <p:cNvSpPr/>
          <p:nvPr/>
        </p:nvSpPr>
        <p:spPr>
          <a:xfrm>
            <a:off x="1124712" y="3026664"/>
            <a:ext cx="2377440" cy="53035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Context / attachments</a:t>
            </a:r>
            <a:endParaRPr lang="en-US" sz="1250" dirty="0"/>
          </a:p>
        </p:txBody>
      </p:sp>
      <p:sp>
        <p:nvSpPr>
          <p:cNvPr id="22" name="Text 17"/>
          <p:cNvSpPr/>
          <p:nvPr/>
        </p:nvSpPr>
        <p:spPr>
          <a:xfrm>
            <a:off x="3566160" y="3026664"/>
            <a:ext cx="6248095" cy="530352"/>
          </a:xfrm>
          <a:prstGeom prst="rect">
            <a:avLst/>
          </a:prstGeom>
          <a:noFill/>
          <a:ln/>
        </p:spPr>
        <p:txBody>
          <a:bodyPr wrap="square" lIns="0" tIns="0" rIns="0" bIns="0" rtlCol="0" anchor="ctr"/>
          <a:lstStyle/>
          <a:p>
            <a:pPr indent="0" marL="0">
              <a:buNone/>
            </a:pPr>
            <a:r>
              <a:rPr lang="en-US" sz="1100" dirty="0">
                <a:solidFill>
                  <a:srgbClr val="63666A"/>
                </a:solidFill>
                <a:latin typeface="Arial" pitchFamily="34" charset="0"/>
                <a:ea typeface="Arial" pitchFamily="34" charset="-122"/>
                <a:cs typeface="Arial" pitchFamily="34" charset="-120"/>
              </a:rPr>
              <a:t>Documents, retrieved knowledge, background the model didn't generate</a:t>
            </a:r>
            <a:endParaRPr lang="en-US" sz="1100" dirty="0"/>
          </a:p>
        </p:txBody>
      </p:sp>
      <p:sp>
        <p:nvSpPr>
          <p:cNvPr id="23" name="Shape 18"/>
          <p:cNvSpPr/>
          <p:nvPr/>
        </p:nvSpPr>
        <p:spPr>
          <a:xfrm>
            <a:off x="9951415" y="3136392"/>
            <a:ext cx="1600200" cy="310896"/>
          </a:xfrm>
          <a:prstGeom prst="roundRect">
            <a:avLst>
              <a:gd name="adj" fmla="val 50000"/>
            </a:avLst>
          </a:prstGeom>
          <a:solidFill>
            <a:srgbClr val="FFFFFF"/>
          </a:solidFill>
          <a:ln w="9525">
            <a:solidFill>
              <a:srgbClr val="D9D9D9"/>
            </a:solidFill>
            <a:prstDash val="solid"/>
          </a:ln>
        </p:spPr>
      </p:sp>
      <p:sp>
        <p:nvSpPr>
          <p:cNvPr id="24" name="Text 19"/>
          <p:cNvSpPr/>
          <p:nvPr/>
        </p:nvSpPr>
        <p:spPr>
          <a:xfrm>
            <a:off x="9951415" y="3136392"/>
            <a:ext cx="1600200" cy="310896"/>
          </a:xfrm>
          <a:prstGeom prst="rect">
            <a:avLst/>
          </a:prstGeom>
          <a:noFill/>
          <a:ln/>
        </p:spPr>
        <p:txBody>
          <a:bodyPr wrap="square" lIns="0" tIns="0" rIns="0" bIns="0" rtlCol="0" anchor="ctr"/>
          <a:lstStyle/>
          <a:p>
            <a:pPr algn="ctr" indent="0" marL="0">
              <a:buNone/>
            </a:pPr>
            <a:r>
              <a:rPr lang="en-US" sz="900" b="1" dirty="0">
                <a:solidFill>
                  <a:srgbClr val="DB0011"/>
                </a:solidFill>
                <a:latin typeface="Arial" pitchFamily="34" charset="0"/>
                <a:ea typeface="Arial" pitchFamily="34" charset="-122"/>
                <a:cs typeface="Arial" pitchFamily="34" charset="-120"/>
              </a:rPr>
              <a:t>While in window</a:t>
            </a:r>
            <a:endParaRPr lang="en-US" sz="900" dirty="0"/>
          </a:p>
        </p:txBody>
      </p:sp>
      <p:sp>
        <p:nvSpPr>
          <p:cNvPr id="25" name="Shape 20"/>
          <p:cNvSpPr/>
          <p:nvPr/>
        </p:nvSpPr>
        <p:spPr>
          <a:xfrm>
            <a:off x="502920" y="3648456"/>
            <a:ext cx="11185855" cy="530352"/>
          </a:xfrm>
          <a:prstGeom prst="roundRect">
            <a:avLst>
              <a:gd name="adj" fmla="val 13793"/>
            </a:avLst>
          </a:prstGeom>
          <a:solidFill>
            <a:srgbClr val="F4F4F5"/>
          </a:solidFill>
          <a:ln/>
        </p:spPr>
      </p:sp>
      <p:sp>
        <p:nvSpPr>
          <p:cNvPr id="26" name="Shape 21"/>
          <p:cNvSpPr/>
          <p:nvPr/>
        </p:nvSpPr>
        <p:spPr>
          <a:xfrm>
            <a:off x="649224" y="3739896"/>
            <a:ext cx="347472" cy="347472"/>
          </a:xfrm>
          <a:prstGeom prst="ellipse">
            <a:avLst/>
          </a:prstGeom>
          <a:solidFill>
            <a:srgbClr val="DB0011"/>
          </a:solidFill>
          <a:ln/>
        </p:spPr>
      </p:sp>
      <p:pic>
        <p:nvPicPr>
          <p:cNvPr id="27" name="Image 3" descr="preencoded.png">    </p:cNvPr>
          <p:cNvPicPr>
            <a:picLocks noChangeAspect="1"/>
          </p:cNvPicPr>
          <p:nvPr/>
        </p:nvPicPr>
        <p:blipFill>
          <a:blip r:embed="rId4"/>
          <a:stretch>
            <a:fillRect/>
          </a:stretch>
        </p:blipFill>
        <p:spPr>
          <a:xfrm>
            <a:off x="697870" y="3788542"/>
            <a:ext cx="250180" cy="250180"/>
          </a:xfrm>
          <a:prstGeom prst="rect">
            <a:avLst/>
          </a:prstGeom>
        </p:spPr>
      </p:pic>
      <p:sp>
        <p:nvSpPr>
          <p:cNvPr id="28" name="Text 22"/>
          <p:cNvSpPr/>
          <p:nvPr/>
        </p:nvSpPr>
        <p:spPr>
          <a:xfrm>
            <a:off x="1124712" y="3648456"/>
            <a:ext cx="2377440" cy="53035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Conversation history</a:t>
            </a:r>
            <a:endParaRPr lang="en-US" sz="1250" dirty="0"/>
          </a:p>
        </p:txBody>
      </p:sp>
      <p:sp>
        <p:nvSpPr>
          <p:cNvPr id="29" name="Text 23"/>
          <p:cNvSpPr/>
          <p:nvPr/>
        </p:nvSpPr>
        <p:spPr>
          <a:xfrm>
            <a:off x="3566160" y="3648456"/>
            <a:ext cx="6248095" cy="530352"/>
          </a:xfrm>
          <a:prstGeom prst="rect">
            <a:avLst/>
          </a:prstGeom>
          <a:noFill/>
          <a:ln/>
        </p:spPr>
        <p:txBody>
          <a:bodyPr wrap="square" lIns="0" tIns="0" rIns="0" bIns="0" rtlCol="0" anchor="ctr"/>
          <a:lstStyle/>
          <a:p>
            <a:pPr indent="0" marL="0">
              <a:buNone/>
            </a:pPr>
            <a:r>
              <a:rPr lang="en-US" sz="1100" dirty="0">
                <a:solidFill>
                  <a:srgbClr val="63666A"/>
                </a:solidFill>
                <a:latin typeface="Arial" pitchFamily="34" charset="0"/>
                <a:ea typeface="Arial" pitchFamily="34" charset="-122"/>
                <a:cs typeface="Arial" pitchFamily="34" charset="-120"/>
              </a:rPr>
              <a:t>Everything said so far, both sides</a:t>
            </a:r>
            <a:endParaRPr lang="en-US" sz="1100" dirty="0"/>
          </a:p>
        </p:txBody>
      </p:sp>
      <p:sp>
        <p:nvSpPr>
          <p:cNvPr id="30" name="Shape 24"/>
          <p:cNvSpPr/>
          <p:nvPr/>
        </p:nvSpPr>
        <p:spPr>
          <a:xfrm>
            <a:off x="9951415" y="3758184"/>
            <a:ext cx="1600200" cy="310896"/>
          </a:xfrm>
          <a:prstGeom prst="roundRect">
            <a:avLst>
              <a:gd name="adj" fmla="val 50000"/>
            </a:avLst>
          </a:prstGeom>
          <a:solidFill>
            <a:srgbClr val="FFFFFF"/>
          </a:solidFill>
          <a:ln w="9525">
            <a:solidFill>
              <a:srgbClr val="D9D9D9"/>
            </a:solidFill>
            <a:prstDash val="solid"/>
          </a:ln>
        </p:spPr>
      </p:sp>
      <p:sp>
        <p:nvSpPr>
          <p:cNvPr id="31" name="Text 25"/>
          <p:cNvSpPr/>
          <p:nvPr/>
        </p:nvSpPr>
        <p:spPr>
          <a:xfrm>
            <a:off x="9951415" y="3758184"/>
            <a:ext cx="1600200" cy="310896"/>
          </a:xfrm>
          <a:prstGeom prst="rect">
            <a:avLst/>
          </a:prstGeom>
          <a:noFill/>
          <a:ln/>
        </p:spPr>
        <p:txBody>
          <a:bodyPr wrap="square" lIns="0" tIns="0" rIns="0" bIns="0" rtlCol="0" anchor="ctr"/>
          <a:lstStyle/>
          <a:p>
            <a:pPr algn="ctr" indent="0" marL="0">
              <a:buNone/>
            </a:pPr>
            <a:r>
              <a:rPr lang="en-US" sz="900" b="1" dirty="0">
                <a:solidFill>
                  <a:srgbClr val="DB0011"/>
                </a:solidFill>
                <a:latin typeface="Arial" pitchFamily="34" charset="0"/>
                <a:ea typeface="Arial" pitchFamily="34" charset="-122"/>
                <a:cs typeface="Arial" pitchFamily="34" charset="-120"/>
              </a:rPr>
              <a:t>Accumulates</a:t>
            </a:r>
            <a:endParaRPr lang="en-US" sz="900" dirty="0"/>
          </a:p>
        </p:txBody>
      </p:sp>
      <p:sp>
        <p:nvSpPr>
          <p:cNvPr id="32" name="Shape 26"/>
          <p:cNvSpPr/>
          <p:nvPr/>
        </p:nvSpPr>
        <p:spPr>
          <a:xfrm>
            <a:off x="502920" y="4270248"/>
            <a:ext cx="11185855" cy="530352"/>
          </a:xfrm>
          <a:prstGeom prst="roundRect">
            <a:avLst>
              <a:gd name="adj" fmla="val 13793"/>
            </a:avLst>
          </a:prstGeom>
          <a:solidFill>
            <a:srgbClr val="F4F4F5"/>
          </a:solidFill>
          <a:ln/>
        </p:spPr>
      </p:sp>
      <p:sp>
        <p:nvSpPr>
          <p:cNvPr id="33" name="Shape 27"/>
          <p:cNvSpPr/>
          <p:nvPr/>
        </p:nvSpPr>
        <p:spPr>
          <a:xfrm>
            <a:off x="649224" y="4361688"/>
            <a:ext cx="347472" cy="347472"/>
          </a:xfrm>
          <a:prstGeom prst="ellipse">
            <a:avLst/>
          </a:prstGeom>
          <a:solidFill>
            <a:srgbClr val="DB0011"/>
          </a:solidFill>
          <a:ln/>
        </p:spPr>
      </p:sp>
      <p:pic>
        <p:nvPicPr>
          <p:cNvPr id="34" name="Image 4" descr="preencoded.png">    </p:cNvPr>
          <p:cNvPicPr>
            <a:picLocks noChangeAspect="1"/>
          </p:cNvPicPr>
          <p:nvPr/>
        </p:nvPicPr>
        <p:blipFill>
          <a:blip r:embed="rId5"/>
          <a:stretch>
            <a:fillRect/>
          </a:stretch>
        </p:blipFill>
        <p:spPr>
          <a:xfrm>
            <a:off x="697870" y="4410334"/>
            <a:ext cx="250180" cy="250180"/>
          </a:xfrm>
          <a:prstGeom prst="rect">
            <a:avLst/>
          </a:prstGeom>
        </p:spPr>
      </p:pic>
      <p:sp>
        <p:nvSpPr>
          <p:cNvPr id="35" name="Text 28"/>
          <p:cNvSpPr/>
          <p:nvPr/>
        </p:nvSpPr>
        <p:spPr>
          <a:xfrm>
            <a:off x="1124712" y="4270248"/>
            <a:ext cx="2377440" cy="530352"/>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Tool / function results</a:t>
            </a:r>
            <a:endParaRPr lang="en-US" sz="1250" dirty="0"/>
          </a:p>
        </p:txBody>
      </p:sp>
      <p:sp>
        <p:nvSpPr>
          <p:cNvPr id="36" name="Text 29"/>
          <p:cNvSpPr/>
          <p:nvPr/>
        </p:nvSpPr>
        <p:spPr>
          <a:xfrm>
            <a:off x="3566160" y="4270248"/>
            <a:ext cx="6248095" cy="530352"/>
          </a:xfrm>
          <a:prstGeom prst="rect">
            <a:avLst/>
          </a:prstGeom>
          <a:noFill/>
          <a:ln/>
        </p:spPr>
        <p:txBody>
          <a:bodyPr wrap="square" lIns="0" tIns="0" rIns="0" bIns="0" rtlCol="0" anchor="ctr"/>
          <a:lstStyle/>
          <a:p>
            <a:pPr indent="0" marL="0">
              <a:buNone/>
            </a:pPr>
            <a:r>
              <a:rPr lang="en-US" sz="1100" dirty="0">
                <a:solidFill>
                  <a:srgbClr val="63666A"/>
                </a:solidFill>
                <a:latin typeface="Arial" pitchFamily="34" charset="0"/>
                <a:ea typeface="Arial" pitchFamily="34" charset="-122"/>
                <a:cs typeface="Arial" pitchFamily="34" charset="-120"/>
              </a:rPr>
              <a:t>Output from something the model did — injected back as content</a:t>
            </a:r>
            <a:endParaRPr lang="en-US" sz="1100" dirty="0"/>
          </a:p>
        </p:txBody>
      </p:sp>
      <p:sp>
        <p:nvSpPr>
          <p:cNvPr id="37" name="Shape 30"/>
          <p:cNvSpPr/>
          <p:nvPr/>
        </p:nvSpPr>
        <p:spPr>
          <a:xfrm>
            <a:off x="9951415" y="4379976"/>
            <a:ext cx="1600200" cy="310896"/>
          </a:xfrm>
          <a:prstGeom prst="roundRect">
            <a:avLst>
              <a:gd name="adj" fmla="val 50000"/>
            </a:avLst>
          </a:prstGeom>
          <a:solidFill>
            <a:srgbClr val="FFFFFF"/>
          </a:solidFill>
          <a:ln w="9525">
            <a:solidFill>
              <a:srgbClr val="D9D9D9"/>
            </a:solidFill>
            <a:prstDash val="solid"/>
          </a:ln>
        </p:spPr>
      </p:sp>
      <p:sp>
        <p:nvSpPr>
          <p:cNvPr id="38" name="Text 31"/>
          <p:cNvSpPr/>
          <p:nvPr/>
        </p:nvSpPr>
        <p:spPr>
          <a:xfrm>
            <a:off x="9951415" y="4379976"/>
            <a:ext cx="1600200" cy="310896"/>
          </a:xfrm>
          <a:prstGeom prst="rect">
            <a:avLst/>
          </a:prstGeom>
          <a:noFill/>
          <a:ln/>
        </p:spPr>
        <p:txBody>
          <a:bodyPr wrap="square" lIns="0" tIns="0" rIns="0" bIns="0" rtlCol="0" anchor="ctr"/>
          <a:lstStyle/>
          <a:p>
            <a:pPr algn="ctr" indent="0" marL="0">
              <a:buNone/>
            </a:pPr>
            <a:r>
              <a:rPr lang="en-US" sz="900" b="1" dirty="0">
                <a:solidFill>
                  <a:srgbClr val="DB0011"/>
                </a:solidFill>
                <a:latin typeface="Arial" pitchFamily="34" charset="0"/>
                <a:ea typeface="Arial" pitchFamily="34" charset="-122"/>
                <a:cs typeface="Arial" pitchFamily="34" charset="-120"/>
              </a:rPr>
              <a:t>As returned</a:t>
            </a:r>
            <a:endParaRPr lang="en-US" sz="900" dirty="0"/>
          </a:p>
        </p:txBody>
      </p:sp>
      <p:sp>
        <p:nvSpPr>
          <p:cNvPr id="39" name="Text 32"/>
          <p:cNvSpPr/>
          <p:nvPr/>
        </p:nvSpPr>
        <p:spPr>
          <a:xfrm>
            <a:off x="502920" y="4983480"/>
            <a:ext cx="11185855" cy="457200"/>
          </a:xfrm>
          <a:prstGeom prst="rect">
            <a:avLst/>
          </a:prstGeom>
          <a:noFill/>
          <a:ln/>
        </p:spPr>
        <p:txBody>
          <a:bodyPr wrap="square" lIns="0" tIns="0" rIns="0" bIns="0" rtlCol="0" anchor="ctr"/>
          <a:lstStyle/>
          <a:p>
            <a:pPr indent="0" marL="0">
              <a:buNone/>
            </a:pPr>
            <a:r>
              <a:rPr lang="en-US" sz="1350" b="1" i="1" dirty="0">
                <a:solidFill>
                  <a:srgbClr val="DB0011"/>
                </a:solidFill>
                <a:latin typeface="Arial" pitchFamily="34" charset="0"/>
                <a:ea typeface="Arial" pitchFamily="34" charset="-122"/>
                <a:cs typeface="Arial" pitchFamily="34" charset="-120"/>
              </a:rPr>
              <a:t>Most “my prompt isn't working” problems are a channel problem before they're a wording problem.</a:t>
            </a:r>
            <a:endParaRPr lang="en-US" sz="1350" dirty="0"/>
          </a:p>
        </p:txBody>
      </p:sp>
      <p:sp>
        <p:nvSpPr>
          <p:cNvPr id="40" name="Text 33"/>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Prompt Engineering Overview, platform.claude.com</a:t>
            </a:r>
            <a:endParaRPr lang="en-US" sz="900" dirty="0"/>
          </a:p>
        </p:txBody>
      </p:sp>
      <p:sp>
        <p:nvSpPr>
          <p:cNvPr id="41" name="Text 34"/>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5 / 24</a:t>
            </a:r>
            <a:endParaRPr lang="en-US" sz="900" dirty="0"/>
          </a:p>
        </p:txBody>
      </p:sp>
      <p:sp>
        <p:nvSpPr>
          <p:cNvPr id="42" name="Shape 35"/>
          <p:cNvSpPr/>
          <p:nvPr/>
        </p:nvSpPr>
        <p:spPr>
          <a:xfrm>
            <a:off x="11263579" y="6437376"/>
            <a:ext cx="283464" cy="283464"/>
          </a:xfrm>
          <a:prstGeom prst="rect">
            <a:avLst/>
          </a:prstGeom>
          <a:solidFill>
            <a:srgbClr val="FFFFFF"/>
          </a:solidFill>
          <a:ln/>
        </p:spPr>
      </p:sp>
      <p:sp>
        <p:nvSpPr>
          <p:cNvPr id="43" name="Shape 36"/>
          <p:cNvSpPr/>
          <p:nvPr/>
        </p:nvSpPr>
        <p:spPr>
          <a:xfrm rot="10800000">
            <a:off x="11263579" y="6437376"/>
            <a:ext cx="283464" cy="141732"/>
          </a:xfrm>
          <a:prstGeom prst="triangle">
            <a:avLst/>
          </a:prstGeom>
          <a:solidFill>
            <a:srgbClr val="DB0011"/>
          </a:solidFill>
          <a:ln/>
        </p:spPr>
      </p:sp>
      <p:sp>
        <p:nvSpPr>
          <p:cNvPr id="44" name="Shape 37"/>
          <p:cNvSpPr/>
          <p:nvPr/>
        </p:nvSpPr>
        <p:spPr>
          <a:xfrm>
            <a:off x="11263579" y="6579108"/>
            <a:ext cx="283464" cy="141732"/>
          </a:xfrm>
          <a:prstGeom prst="triangle">
            <a:avLst/>
          </a:prstGeom>
          <a:solidFill>
            <a:srgbClr val="DB0011"/>
          </a:solidFill>
          <a:ln/>
        </p:spPr>
      </p:sp>
      <p:sp>
        <p:nvSpPr>
          <p:cNvPr id="45" name="Shape 38"/>
          <p:cNvSpPr/>
          <p:nvPr/>
        </p:nvSpPr>
        <p:spPr>
          <a:xfrm rot="16200000">
            <a:off x="11121847" y="6437376"/>
            <a:ext cx="141732" cy="283464"/>
          </a:xfrm>
          <a:prstGeom prst="triangle">
            <a:avLst/>
          </a:prstGeom>
          <a:solidFill>
            <a:srgbClr val="DB0011"/>
          </a:solidFill>
          <a:ln/>
        </p:spPr>
      </p:sp>
      <p:sp>
        <p:nvSpPr>
          <p:cNvPr id="46" name="Shape 39"/>
          <p:cNvSpPr/>
          <p:nvPr/>
        </p:nvSpPr>
        <p:spPr>
          <a:xfrm rot="5400000">
            <a:off x="11547043" y="6437376"/>
            <a:ext cx="141732" cy="283464"/>
          </a:xfrm>
          <a:prstGeom prst="triangle">
            <a:avLst/>
          </a:prstGeom>
          <a:solidFill>
            <a:srgbClr val="DB0011"/>
          </a:solidFill>
          <a:ln/>
        </p:spPr>
      </p:sp>
      <p:sp>
        <p:nvSpPr>
          <p:cNvPr id="47" name="Text 40"/>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§2.1 · CORE TECHNIQUE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Be explicit and direct</a:t>
            </a:r>
            <a:endParaRPr lang="en-US" sz="2800" dirty="0"/>
          </a:p>
        </p:txBody>
      </p:sp>
      <p:sp>
        <p:nvSpPr>
          <p:cNvPr id="4" name="Text 2"/>
          <p:cNvSpPr/>
          <p:nvPr/>
        </p:nvSpPr>
        <p:spPr>
          <a:xfrm>
            <a:off x="502920" y="1691640"/>
            <a:ext cx="11185855" cy="640080"/>
          </a:xfrm>
          <a:prstGeom prst="rect">
            <a:avLst/>
          </a:prstGeom>
          <a:noFill/>
          <a:ln/>
        </p:spPr>
        <p:txBody>
          <a:bodyPr wrap="square" lIns="0" tIns="0" rIns="0" bIns="0" rtlCol="0" anchor="ctr"/>
          <a:lstStyle/>
          <a:p>
            <a:pPr indent="0" marL="0">
              <a:lnSpc>
                <a:spcPct val="120000"/>
              </a:lnSpc>
              <a:buNone/>
            </a:pPr>
            <a:r>
              <a:rPr lang="en-US" sz="1400" dirty="0">
                <a:solidFill>
                  <a:srgbClr val="1A1A1A"/>
                </a:solidFill>
                <a:latin typeface="Arial" pitchFamily="34" charset="0"/>
                <a:ea typeface="Arial" pitchFamily="34" charset="-122"/>
                <a:cs typeface="Arial" pitchFamily="34" charset="-120"/>
              </a:rPr>
              <a:t>The golden rule: if a colleague with minimal context would be confused by your instruction, the model will be too. “Above and beyond” behavior has to be requested — it's never assumed.</a:t>
            </a:r>
            <a:endParaRPr lang="en-US" sz="1400" dirty="0"/>
          </a:p>
        </p:txBody>
      </p:sp>
      <p:sp>
        <p:nvSpPr>
          <p:cNvPr id="5" name="Shape 3"/>
          <p:cNvSpPr/>
          <p:nvPr/>
        </p:nvSpPr>
        <p:spPr>
          <a:xfrm>
            <a:off x="502920" y="2880360"/>
            <a:ext cx="5455768" cy="1920240"/>
          </a:xfrm>
          <a:prstGeom prst="roundRect">
            <a:avLst>
              <a:gd name="adj" fmla="val 3810"/>
            </a:avLst>
          </a:prstGeom>
          <a:solidFill>
            <a:srgbClr val="EDEDED"/>
          </a:solidFill>
          <a:ln/>
        </p:spPr>
      </p:sp>
      <p:sp>
        <p:nvSpPr>
          <p:cNvPr id="6" name="Shape 4"/>
          <p:cNvSpPr/>
          <p:nvPr/>
        </p:nvSpPr>
        <p:spPr>
          <a:xfrm>
            <a:off x="6233008" y="2880360"/>
            <a:ext cx="5455768" cy="1920240"/>
          </a:xfrm>
          <a:prstGeom prst="roundRect">
            <a:avLst>
              <a:gd name="adj" fmla="val 3810"/>
            </a:avLst>
          </a:prstGeom>
          <a:solidFill>
            <a:srgbClr val="FBE9E9"/>
          </a:solidFill>
          <a:ln/>
        </p:spPr>
      </p:sp>
      <p:sp>
        <p:nvSpPr>
          <p:cNvPr id="7" name="Text 5"/>
          <p:cNvSpPr/>
          <p:nvPr/>
        </p:nvSpPr>
        <p:spPr>
          <a:xfrm>
            <a:off x="722376" y="3044952"/>
            <a:ext cx="5016856" cy="274320"/>
          </a:xfrm>
          <a:prstGeom prst="rect">
            <a:avLst/>
          </a:prstGeom>
          <a:noFill/>
          <a:ln/>
        </p:spPr>
        <p:txBody>
          <a:bodyPr wrap="square" lIns="0" tIns="0" rIns="0" bIns="0" rtlCol="0" anchor="ctr"/>
          <a:lstStyle/>
          <a:p>
            <a:pPr indent="0" marL="0">
              <a:buNone/>
            </a:pPr>
            <a:r>
              <a:rPr lang="en-US" sz="1100" b="1" spc="100" kern="0" dirty="0">
                <a:solidFill>
                  <a:srgbClr val="63666A"/>
                </a:solidFill>
                <a:latin typeface="Arial" pitchFamily="34" charset="0"/>
                <a:ea typeface="Arial" pitchFamily="34" charset="-122"/>
                <a:cs typeface="Arial" pitchFamily="34" charset="-120"/>
              </a:rPr>
              <a:t>WEAKER</a:t>
            </a:r>
            <a:endParaRPr lang="en-US" sz="1100" dirty="0"/>
          </a:p>
        </p:txBody>
      </p:sp>
      <p:sp>
        <p:nvSpPr>
          <p:cNvPr id="8" name="Text 6"/>
          <p:cNvSpPr/>
          <p:nvPr/>
        </p:nvSpPr>
        <p:spPr>
          <a:xfrm>
            <a:off x="722376" y="3355848"/>
            <a:ext cx="5016856" cy="1243584"/>
          </a:xfrm>
          <a:prstGeom prst="rect">
            <a:avLst/>
          </a:prstGeom>
          <a:noFill/>
          <a:ln/>
        </p:spPr>
        <p:txBody>
          <a:bodyPr wrap="square" lIns="0" tIns="0" rIns="0" bIns="0" rtlCol="0" anchor="t"/>
          <a:lstStyle/>
          <a:p>
            <a:pPr indent="0" marL="0">
              <a:lnSpc>
                <a:spcPct val="120000"/>
              </a:lnSpc>
              <a:buNone/>
            </a:pPr>
            <a:r>
              <a:rPr lang="en-US" sz="1300" dirty="0">
                <a:solidFill>
                  <a:srgbClr val="1A1A1A"/>
                </a:solidFill>
                <a:latin typeface="Arial" pitchFamily="34" charset="0"/>
                <a:ea typeface="Arial" pitchFamily="34" charset="-122"/>
                <a:cs typeface="Arial" pitchFamily="34" charset="-120"/>
              </a:rPr>
              <a:t>“Create an analytics dashboard.”</a:t>
            </a:r>
            <a:endParaRPr lang="en-US" sz="1300" dirty="0"/>
          </a:p>
        </p:txBody>
      </p:sp>
      <p:sp>
        <p:nvSpPr>
          <p:cNvPr id="9" name="Text 7"/>
          <p:cNvSpPr/>
          <p:nvPr/>
        </p:nvSpPr>
        <p:spPr>
          <a:xfrm>
            <a:off x="6452464" y="3044952"/>
            <a:ext cx="5016856" cy="274320"/>
          </a:xfrm>
          <a:prstGeom prst="rect">
            <a:avLst/>
          </a:prstGeom>
          <a:noFill/>
          <a:ln/>
        </p:spPr>
        <p:txBody>
          <a:bodyPr wrap="square" lIns="0" tIns="0" rIns="0" bIns="0" rtlCol="0" anchor="ctr"/>
          <a:lstStyle/>
          <a:p>
            <a:pPr indent="0" marL="0">
              <a:buNone/>
            </a:pPr>
            <a:r>
              <a:rPr lang="en-US" sz="1100" b="1" spc="100" kern="0" dirty="0">
                <a:solidFill>
                  <a:srgbClr val="DB0011"/>
                </a:solidFill>
                <a:latin typeface="Arial" pitchFamily="34" charset="0"/>
                <a:ea typeface="Arial" pitchFamily="34" charset="-122"/>
                <a:cs typeface="Arial" pitchFamily="34" charset="-120"/>
              </a:rPr>
              <a:t>BETTER</a:t>
            </a:r>
            <a:endParaRPr lang="en-US" sz="1100" dirty="0"/>
          </a:p>
        </p:txBody>
      </p:sp>
      <p:sp>
        <p:nvSpPr>
          <p:cNvPr id="10" name="Text 8"/>
          <p:cNvSpPr/>
          <p:nvPr/>
        </p:nvSpPr>
        <p:spPr>
          <a:xfrm>
            <a:off x="6452464" y="3355848"/>
            <a:ext cx="5016856" cy="1243584"/>
          </a:xfrm>
          <a:prstGeom prst="rect">
            <a:avLst/>
          </a:prstGeom>
          <a:noFill/>
          <a:ln/>
        </p:spPr>
        <p:txBody>
          <a:bodyPr wrap="square" lIns="0" tIns="0" rIns="0" bIns="0" rtlCol="0" anchor="t"/>
          <a:lstStyle/>
          <a:p>
            <a:pPr indent="0" marL="0">
              <a:lnSpc>
                <a:spcPct val="120000"/>
              </a:lnSpc>
              <a:buNone/>
            </a:pPr>
            <a:r>
              <a:rPr lang="en-US" sz="1300" dirty="0">
                <a:solidFill>
                  <a:srgbClr val="1A1A1A"/>
                </a:solidFill>
                <a:latin typeface="Arial" pitchFamily="34" charset="0"/>
                <a:ea typeface="Arial" pitchFamily="34" charset="-122"/>
                <a:cs typeface="Arial" pitchFamily="34" charset="-120"/>
              </a:rPr>
              <a:t>“Create an analytics dashboard. Include as many relevant features and interactions as possible. Go beyond the basics to create a fully-featured implementation.”</a:t>
            </a:r>
            <a:endParaRPr lang="en-US" sz="1300" dirty="0"/>
          </a:p>
        </p:txBody>
      </p:sp>
      <p:sp>
        <p:nvSpPr>
          <p:cNvPr id="11" name="Text 9"/>
          <p:cNvSpPr/>
          <p:nvPr/>
        </p:nvSpPr>
        <p:spPr>
          <a:xfrm>
            <a:off x="502920" y="5074920"/>
            <a:ext cx="11185855" cy="457200"/>
          </a:xfrm>
          <a:prstGeom prst="rect">
            <a:avLst/>
          </a:prstGeom>
          <a:noFill/>
          <a:ln/>
        </p:spPr>
        <p:txBody>
          <a:bodyPr wrap="square" lIns="0" tIns="0" rIns="0" bIns="0" rtlCol="0" anchor="ctr"/>
          <a:lstStyle/>
          <a:p>
            <a:pPr indent="0" marL="0">
              <a:buNone/>
            </a:pPr>
            <a:r>
              <a:rPr lang="en-US" sz="1250" i="1" dirty="0">
                <a:solidFill>
                  <a:srgbClr val="63666A"/>
                </a:solidFill>
                <a:latin typeface="Arial" pitchFamily="34" charset="0"/>
                <a:ea typeface="Arial" pitchFamily="34" charset="-122"/>
                <a:cs typeface="Arial" pitchFamily="34" charset="-120"/>
              </a:rPr>
              <a:t>Specify format and constraints up front — asking again “as a table” afterward costs a full extra round trip you didn't need.</a:t>
            </a:r>
            <a:endParaRPr lang="en-US" sz="1250" dirty="0"/>
          </a:p>
        </p:txBody>
      </p:sp>
      <p:sp>
        <p:nvSpPr>
          <p:cNvPr id="12" name="Text 10"/>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Claude Prompting Best Practices</a:t>
            </a:r>
            <a:endParaRPr lang="en-US" sz="900" dirty="0"/>
          </a:p>
        </p:txBody>
      </p:sp>
      <p:sp>
        <p:nvSpPr>
          <p:cNvPr id="13" name="Text 11"/>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6 / 24</a:t>
            </a:r>
            <a:endParaRPr lang="en-US" sz="900" dirty="0"/>
          </a:p>
        </p:txBody>
      </p:sp>
      <p:sp>
        <p:nvSpPr>
          <p:cNvPr id="14" name="Shape 12"/>
          <p:cNvSpPr/>
          <p:nvPr/>
        </p:nvSpPr>
        <p:spPr>
          <a:xfrm>
            <a:off x="11263579" y="6437376"/>
            <a:ext cx="283464" cy="283464"/>
          </a:xfrm>
          <a:prstGeom prst="rect">
            <a:avLst/>
          </a:prstGeom>
          <a:solidFill>
            <a:srgbClr val="FFFFFF"/>
          </a:solidFill>
          <a:ln/>
        </p:spPr>
      </p:sp>
      <p:sp>
        <p:nvSpPr>
          <p:cNvPr id="15" name="Shape 13"/>
          <p:cNvSpPr/>
          <p:nvPr/>
        </p:nvSpPr>
        <p:spPr>
          <a:xfrm rot="10800000">
            <a:off x="11263579" y="6437376"/>
            <a:ext cx="283464" cy="141732"/>
          </a:xfrm>
          <a:prstGeom prst="triangle">
            <a:avLst/>
          </a:prstGeom>
          <a:solidFill>
            <a:srgbClr val="DB0011"/>
          </a:solidFill>
          <a:ln/>
        </p:spPr>
      </p:sp>
      <p:sp>
        <p:nvSpPr>
          <p:cNvPr id="16" name="Shape 14"/>
          <p:cNvSpPr/>
          <p:nvPr/>
        </p:nvSpPr>
        <p:spPr>
          <a:xfrm>
            <a:off x="11263579" y="6579108"/>
            <a:ext cx="283464" cy="141732"/>
          </a:xfrm>
          <a:prstGeom prst="triangle">
            <a:avLst/>
          </a:prstGeom>
          <a:solidFill>
            <a:srgbClr val="DB0011"/>
          </a:solidFill>
          <a:ln/>
        </p:spPr>
      </p:sp>
      <p:sp>
        <p:nvSpPr>
          <p:cNvPr id="17" name="Shape 15"/>
          <p:cNvSpPr/>
          <p:nvPr/>
        </p:nvSpPr>
        <p:spPr>
          <a:xfrm rot="16200000">
            <a:off x="11121847" y="6437376"/>
            <a:ext cx="141732" cy="283464"/>
          </a:xfrm>
          <a:prstGeom prst="triangle">
            <a:avLst/>
          </a:prstGeom>
          <a:solidFill>
            <a:srgbClr val="DB0011"/>
          </a:solidFill>
          <a:ln/>
        </p:spPr>
      </p:sp>
      <p:sp>
        <p:nvSpPr>
          <p:cNvPr id="18" name="Shape 16"/>
          <p:cNvSpPr/>
          <p:nvPr/>
        </p:nvSpPr>
        <p:spPr>
          <a:xfrm rot="5400000">
            <a:off x="11547043" y="6437376"/>
            <a:ext cx="141732" cy="283464"/>
          </a:xfrm>
          <a:prstGeom prst="triangle">
            <a:avLst/>
          </a:prstGeom>
          <a:solidFill>
            <a:srgbClr val="DB0011"/>
          </a:solidFill>
          <a:ln/>
        </p:spPr>
      </p:sp>
      <p:sp>
        <p:nvSpPr>
          <p:cNvPr id="19" name="Text 17"/>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§2.2 · CORE TECHNIQUE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Explain why, not just what</a:t>
            </a:r>
            <a:endParaRPr lang="en-US" sz="2800" dirty="0"/>
          </a:p>
        </p:txBody>
      </p:sp>
      <p:sp>
        <p:nvSpPr>
          <p:cNvPr id="4" name="Text 2"/>
          <p:cNvSpPr/>
          <p:nvPr/>
        </p:nvSpPr>
        <p:spPr>
          <a:xfrm>
            <a:off x="502920" y="1691640"/>
            <a:ext cx="11185855" cy="640080"/>
          </a:xfrm>
          <a:prstGeom prst="rect">
            <a:avLst/>
          </a:prstGeom>
          <a:noFill/>
          <a:ln/>
        </p:spPr>
        <p:txBody>
          <a:bodyPr wrap="square" lIns="0" tIns="0" rIns="0" bIns="0" rtlCol="0" anchor="ctr"/>
          <a:lstStyle/>
          <a:p>
            <a:pPr indent="0" marL="0">
              <a:lnSpc>
                <a:spcPct val="120000"/>
              </a:lnSpc>
              <a:buNone/>
            </a:pPr>
            <a:r>
              <a:rPr lang="en-US" sz="1400" dirty="0">
                <a:solidFill>
                  <a:srgbClr val="1A1A1A"/>
                </a:solidFill>
                <a:latin typeface="Arial" pitchFamily="34" charset="0"/>
                <a:ea typeface="Arial" pitchFamily="34" charset="-122"/>
                <a:cs typeface="Arial" pitchFamily="34" charset="-120"/>
              </a:rPr>
              <a:t>A rule with a reason lets the model generalize correctly to cases you never listed. A rule without one only ever covers the literal cases you thought to write down.</a:t>
            </a:r>
            <a:endParaRPr lang="en-US" sz="1400" dirty="0"/>
          </a:p>
        </p:txBody>
      </p:sp>
      <p:sp>
        <p:nvSpPr>
          <p:cNvPr id="5" name="Shape 3"/>
          <p:cNvSpPr/>
          <p:nvPr/>
        </p:nvSpPr>
        <p:spPr>
          <a:xfrm>
            <a:off x="502920" y="2880360"/>
            <a:ext cx="5455768" cy="1920240"/>
          </a:xfrm>
          <a:prstGeom prst="roundRect">
            <a:avLst>
              <a:gd name="adj" fmla="val 3810"/>
            </a:avLst>
          </a:prstGeom>
          <a:solidFill>
            <a:srgbClr val="EDEDED"/>
          </a:solidFill>
          <a:ln/>
        </p:spPr>
      </p:sp>
      <p:sp>
        <p:nvSpPr>
          <p:cNvPr id="6" name="Shape 4"/>
          <p:cNvSpPr/>
          <p:nvPr/>
        </p:nvSpPr>
        <p:spPr>
          <a:xfrm>
            <a:off x="6233008" y="2880360"/>
            <a:ext cx="5455768" cy="1920240"/>
          </a:xfrm>
          <a:prstGeom prst="roundRect">
            <a:avLst>
              <a:gd name="adj" fmla="val 3810"/>
            </a:avLst>
          </a:prstGeom>
          <a:solidFill>
            <a:srgbClr val="FBE9E9"/>
          </a:solidFill>
          <a:ln/>
        </p:spPr>
      </p:sp>
      <p:sp>
        <p:nvSpPr>
          <p:cNvPr id="7" name="Text 5"/>
          <p:cNvSpPr/>
          <p:nvPr/>
        </p:nvSpPr>
        <p:spPr>
          <a:xfrm>
            <a:off x="722376" y="3044952"/>
            <a:ext cx="5016856" cy="274320"/>
          </a:xfrm>
          <a:prstGeom prst="rect">
            <a:avLst/>
          </a:prstGeom>
          <a:noFill/>
          <a:ln/>
        </p:spPr>
        <p:txBody>
          <a:bodyPr wrap="square" lIns="0" tIns="0" rIns="0" bIns="0" rtlCol="0" anchor="ctr"/>
          <a:lstStyle/>
          <a:p>
            <a:pPr indent="0" marL="0">
              <a:buNone/>
            </a:pPr>
            <a:r>
              <a:rPr lang="en-US" sz="1100" b="1" spc="100" kern="0" dirty="0">
                <a:solidFill>
                  <a:srgbClr val="63666A"/>
                </a:solidFill>
                <a:latin typeface="Arial" pitchFamily="34" charset="0"/>
                <a:ea typeface="Arial" pitchFamily="34" charset="-122"/>
                <a:cs typeface="Arial" pitchFamily="34" charset="-120"/>
              </a:rPr>
              <a:t>WEAKER</a:t>
            </a:r>
            <a:endParaRPr lang="en-US" sz="1100" dirty="0"/>
          </a:p>
        </p:txBody>
      </p:sp>
      <p:sp>
        <p:nvSpPr>
          <p:cNvPr id="8" name="Text 6"/>
          <p:cNvSpPr/>
          <p:nvPr/>
        </p:nvSpPr>
        <p:spPr>
          <a:xfrm>
            <a:off x="722376" y="3355848"/>
            <a:ext cx="5016856" cy="1243584"/>
          </a:xfrm>
          <a:prstGeom prst="rect">
            <a:avLst/>
          </a:prstGeom>
          <a:noFill/>
          <a:ln/>
        </p:spPr>
        <p:txBody>
          <a:bodyPr wrap="square" lIns="0" tIns="0" rIns="0" bIns="0" rtlCol="0" anchor="t"/>
          <a:lstStyle/>
          <a:p>
            <a:pPr indent="0" marL="0">
              <a:lnSpc>
                <a:spcPct val="120000"/>
              </a:lnSpc>
              <a:buNone/>
            </a:pPr>
            <a:r>
              <a:rPr lang="en-US" sz="1300" dirty="0">
                <a:solidFill>
                  <a:srgbClr val="1A1A1A"/>
                </a:solidFill>
                <a:latin typeface="Arial" pitchFamily="34" charset="0"/>
                <a:ea typeface="Arial" pitchFamily="34" charset="-122"/>
                <a:cs typeface="Arial" pitchFamily="34" charset="-120"/>
              </a:rPr>
              <a:t>“NEVER use ellipses.”</a:t>
            </a:r>
            <a:endParaRPr lang="en-US" sz="1300" dirty="0"/>
          </a:p>
        </p:txBody>
      </p:sp>
      <p:sp>
        <p:nvSpPr>
          <p:cNvPr id="9" name="Text 7"/>
          <p:cNvSpPr/>
          <p:nvPr/>
        </p:nvSpPr>
        <p:spPr>
          <a:xfrm>
            <a:off x="6452464" y="3044952"/>
            <a:ext cx="5016856" cy="274320"/>
          </a:xfrm>
          <a:prstGeom prst="rect">
            <a:avLst/>
          </a:prstGeom>
          <a:noFill/>
          <a:ln/>
        </p:spPr>
        <p:txBody>
          <a:bodyPr wrap="square" lIns="0" tIns="0" rIns="0" bIns="0" rtlCol="0" anchor="ctr"/>
          <a:lstStyle/>
          <a:p>
            <a:pPr indent="0" marL="0">
              <a:buNone/>
            </a:pPr>
            <a:r>
              <a:rPr lang="en-US" sz="1100" b="1" spc="100" kern="0" dirty="0">
                <a:solidFill>
                  <a:srgbClr val="DB0011"/>
                </a:solidFill>
                <a:latin typeface="Arial" pitchFamily="34" charset="0"/>
                <a:ea typeface="Arial" pitchFamily="34" charset="-122"/>
                <a:cs typeface="Arial" pitchFamily="34" charset="-120"/>
              </a:rPr>
              <a:t>BETTER</a:t>
            </a:r>
            <a:endParaRPr lang="en-US" sz="1100" dirty="0"/>
          </a:p>
        </p:txBody>
      </p:sp>
      <p:sp>
        <p:nvSpPr>
          <p:cNvPr id="10" name="Text 8"/>
          <p:cNvSpPr/>
          <p:nvPr/>
        </p:nvSpPr>
        <p:spPr>
          <a:xfrm>
            <a:off x="6452464" y="3355848"/>
            <a:ext cx="5016856" cy="1243584"/>
          </a:xfrm>
          <a:prstGeom prst="rect">
            <a:avLst/>
          </a:prstGeom>
          <a:noFill/>
          <a:ln/>
        </p:spPr>
        <p:txBody>
          <a:bodyPr wrap="square" lIns="0" tIns="0" rIns="0" bIns="0" rtlCol="0" anchor="t"/>
          <a:lstStyle/>
          <a:p>
            <a:pPr indent="0" marL="0">
              <a:lnSpc>
                <a:spcPct val="120000"/>
              </a:lnSpc>
              <a:buNone/>
            </a:pPr>
            <a:r>
              <a:rPr lang="en-US" sz="1300" dirty="0">
                <a:solidFill>
                  <a:srgbClr val="1A1A1A"/>
                </a:solidFill>
                <a:latin typeface="Arial" pitchFamily="34" charset="0"/>
                <a:ea typeface="Arial" pitchFamily="34" charset="-122"/>
                <a:cs typeface="Arial" pitchFamily="34" charset="-120"/>
              </a:rPr>
              <a:t>“Your response will be read aloud by a text-to-speech engine, so never use ellipses, since the engine has no good way to pronounce them.”</a:t>
            </a:r>
            <a:endParaRPr lang="en-US" sz="1300" dirty="0"/>
          </a:p>
        </p:txBody>
      </p:sp>
      <p:sp>
        <p:nvSpPr>
          <p:cNvPr id="11" name="Text 9"/>
          <p:cNvSpPr/>
          <p:nvPr/>
        </p:nvSpPr>
        <p:spPr>
          <a:xfrm>
            <a:off x="502920" y="5074920"/>
            <a:ext cx="11185855" cy="457200"/>
          </a:xfrm>
          <a:prstGeom prst="rect">
            <a:avLst/>
          </a:prstGeom>
          <a:noFill/>
          <a:ln/>
        </p:spPr>
        <p:txBody>
          <a:bodyPr wrap="square" lIns="0" tIns="0" rIns="0" bIns="0" rtlCol="0" anchor="ctr"/>
          <a:lstStyle/>
          <a:p>
            <a:pPr indent="0" marL="0">
              <a:buNone/>
            </a:pPr>
            <a:r>
              <a:rPr lang="en-US" sz="1250" i="1" dirty="0">
                <a:solidFill>
                  <a:srgbClr val="63666A"/>
                </a:solidFill>
                <a:latin typeface="Arial" pitchFamily="34" charset="0"/>
                <a:ea typeface="Arial" pitchFamily="34" charset="-122"/>
                <a:cs typeface="Arial" pitchFamily="34" charset="-120"/>
              </a:rPr>
              <a:t>The second version doesn't just suppress ellipses — it correctly generalizes to other things that would break a TTS engine you never explicitly listed.</a:t>
            </a:r>
            <a:endParaRPr lang="en-US" sz="1250" dirty="0"/>
          </a:p>
        </p:txBody>
      </p:sp>
      <p:sp>
        <p:nvSpPr>
          <p:cNvPr id="12" name="Text 10"/>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Claude Prompting Best Practices</a:t>
            </a:r>
            <a:endParaRPr lang="en-US" sz="900" dirty="0"/>
          </a:p>
        </p:txBody>
      </p:sp>
      <p:sp>
        <p:nvSpPr>
          <p:cNvPr id="13" name="Text 11"/>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7 / 24</a:t>
            </a:r>
            <a:endParaRPr lang="en-US" sz="900" dirty="0"/>
          </a:p>
        </p:txBody>
      </p:sp>
      <p:sp>
        <p:nvSpPr>
          <p:cNvPr id="14" name="Shape 12"/>
          <p:cNvSpPr/>
          <p:nvPr/>
        </p:nvSpPr>
        <p:spPr>
          <a:xfrm>
            <a:off x="11263579" y="6437376"/>
            <a:ext cx="283464" cy="283464"/>
          </a:xfrm>
          <a:prstGeom prst="rect">
            <a:avLst/>
          </a:prstGeom>
          <a:solidFill>
            <a:srgbClr val="FFFFFF"/>
          </a:solidFill>
          <a:ln/>
        </p:spPr>
      </p:sp>
      <p:sp>
        <p:nvSpPr>
          <p:cNvPr id="15" name="Shape 13"/>
          <p:cNvSpPr/>
          <p:nvPr/>
        </p:nvSpPr>
        <p:spPr>
          <a:xfrm rot="10800000">
            <a:off x="11263579" y="6437376"/>
            <a:ext cx="283464" cy="141732"/>
          </a:xfrm>
          <a:prstGeom prst="triangle">
            <a:avLst/>
          </a:prstGeom>
          <a:solidFill>
            <a:srgbClr val="DB0011"/>
          </a:solidFill>
          <a:ln/>
        </p:spPr>
      </p:sp>
      <p:sp>
        <p:nvSpPr>
          <p:cNvPr id="16" name="Shape 14"/>
          <p:cNvSpPr/>
          <p:nvPr/>
        </p:nvSpPr>
        <p:spPr>
          <a:xfrm>
            <a:off x="11263579" y="6579108"/>
            <a:ext cx="283464" cy="141732"/>
          </a:xfrm>
          <a:prstGeom prst="triangle">
            <a:avLst/>
          </a:prstGeom>
          <a:solidFill>
            <a:srgbClr val="DB0011"/>
          </a:solidFill>
          <a:ln/>
        </p:spPr>
      </p:sp>
      <p:sp>
        <p:nvSpPr>
          <p:cNvPr id="17" name="Shape 15"/>
          <p:cNvSpPr/>
          <p:nvPr/>
        </p:nvSpPr>
        <p:spPr>
          <a:xfrm rot="16200000">
            <a:off x="11121847" y="6437376"/>
            <a:ext cx="141732" cy="283464"/>
          </a:xfrm>
          <a:prstGeom prst="triangle">
            <a:avLst/>
          </a:prstGeom>
          <a:solidFill>
            <a:srgbClr val="DB0011"/>
          </a:solidFill>
          <a:ln/>
        </p:spPr>
      </p:sp>
      <p:sp>
        <p:nvSpPr>
          <p:cNvPr id="18" name="Shape 16"/>
          <p:cNvSpPr/>
          <p:nvPr/>
        </p:nvSpPr>
        <p:spPr>
          <a:xfrm rot="5400000">
            <a:off x="11547043" y="6437376"/>
            <a:ext cx="141732" cy="283464"/>
          </a:xfrm>
          <a:prstGeom prst="triangle">
            <a:avLst/>
          </a:prstGeom>
          <a:solidFill>
            <a:srgbClr val="DB0011"/>
          </a:solidFill>
          <a:ln/>
        </p:spPr>
      </p:sp>
      <p:sp>
        <p:nvSpPr>
          <p:cNvPr id="19" name="Text 17"/>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§2.3 · CORE TECHNIQUE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Use examples — few, and well-chosen</a:t>
            </a:r>
            <a:endParaRPr lang="en-US" sz="2700" dirty="0"/>
          </a:p>
        </p:txBody>
      </p:sp>
      <p:sp>
        <p:nvSpPr>
          <p:cNvPr id="4" name="Shape 2"/>
          <p:cNvSpPr/>
          <p:nvPr/>
        </p:nvSpPr>
        <p:spPr>
          <a:xfrm>
            <a:off x="502920" y="1783080"/>
            <a:ext cx="3557930" cy="1828800"/>
          </a:xfrm>
          <a:prstGeom prst="roundRect">
            <a:avLst>
              <a:gd name="adj" fmla="val 4000"/>
            </a:avLst>
          </a:prstGeom>
          <a:solidFill>
            <a:srgbClr val="F4F4F5"/>
          </a:solidFill>
          <a:ln/>
        </p:spPr>
      </p:sp>
      <p:sp>
        <p:nvSpPr>
          <p:cNvPr id="5" name="Shape 3"/>
          <p:cNvSpPr/>
          <p:nvPr/>
        </p:nvSpPr>
        <p:spPr>
          <a:xfrm>
            <a:off x="704088" y="1965960"/>
            <a:ext cx="457200" cy="457200"/>
          </a:xfrm>
          <a:prstGeom prst="ellipse">
            <a:avLst/>
          </a:prstGeom>
          <a:solidFill>
            <a:srgbClr val="DB0011"/>
          </a:solidFill>
          <a:ln/>
        </p:spPr>
      </p:sp>
      <p:pic>
        <p:nvPicPr>
          <p:cNvPr id="6" name="Image 0" descr="preencoded.png">    </p:cNvPr>
          <p:cNvPicPr>
            <a:picLocks noChangeAspect="1"/>
          </p:cNvPicPr>
          <p:nvPr/>
        </p:nvPicPr>
        <p:blipFill>
          <a:blip r:embed="rId1"/>
          <a:stretch>
            <a:fillRect/>
          </a:stretch>
        </p:blipFill>
        <p:spPr>
          <a:xfrm>
            <a:off x="768096" y="2029968"/>
            <a:ext cx="329184" cy="329184"/>
          </a:xfrm>
          <a:prstGeom prst="rect">
            <a:avLst/>
          </a:prstGeom>
        </p:spPr>
      </p:pic>
      <p:sp>
        <p:nvSpPr>
          <p:cNvPr id="7" name="Text 4"/>
          <p:cNvSpPr/>
          <p:nvPr/>
        </p:nvSpPr>
        <p:spPr>
          <a:xfrm>
            <a:off x="704088" y="2514600"/>
            <a:ext cx="315559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Relevant</a:t>
            </a:r>
            <a:endParaRPr lang="en-US" sz="1400" dirty="0"/>
          </a:p>
        </p:txBody>
      </p:sp>
      <p:sp>
        <p:nvSpPr>
          <p:cNvPr id="8" name="Text 5"/>
          <p:cNvSpPr/>
          <p:nvPr/>
        </p:nvSpPr>
        <p:spPr>
          <a:xfrm>
            <a:off x="704088" y="2862072"/>
            <a:ext cx="3155594" cy="6400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Mirror your actual use case, not a simplified toy version of it.</a:t>
            </a:r>
            <a:endParaRPr lang="en-US" sz="1150" dirty="0"/>
          </a:p>
        </p:txBody>
      </p:sp>
      <p:sp>
        <p:nvSpPr>
          <p:cNvPr id="9" name="Shape 6"/>
          <p:cNvSpPr/>
          <p:nvPr/>
        </p:nvSpPr>
        <p:spPr>
          <a:xfrm>
            <a:off x="4316882" y="1783080"/>
            <a:ext cx="3557930" cy="1828800"/>
          </a:xfrm>
          <a:prstGeom prst="roundRect">
            <a:avLst>
              <a:gd name="adj" fmla="val 4000"/>
            </a:avLst>
          </a:prstGeom>
          <a:solidFill>
            <a:srgbClr val="F4F4F5"/>
          </a:solidFill>
          <a:ln/>
        </p:spPr>
      </p:sp>
      <p:sp>
        <p:nvSpPr>
          <p:cNvPr id="10" name="Shape 7"/>
          <p:cNvSpPr/>
          <p:nvPr/>
        </p:nvSpPr>
        <p:spPr>
          <a:xfrm>
            <a:off x="4518050" y="1965960"/>
            <a:ext cx="457200" cy="457200"/>
          </a:xfrm>
          <a:prstGeom prst="ellipse">
            <a:avLst/>
          </a:prstGeom>
          <a:solidFill>
            <a:srgbClr val="DB0011"/>
          </a:solidFill>
          <a:ln/>
        </p:spPr>
      </p:sp>
      <p:pic>
        <p:nvPicPr>
          <p:cNvPr id="11" name="Image 1" descr="preencoded.png">    </p:cNvPr>
          <p:cNvPicPr>
            <a:picLocks noChangeAspect="1"/>
          </p:cNvPicPr>
          <p:nvPr/>
        </p:nvPicPr>
        <p:blipFill>
          <a:blip r:embed="rId2"/>
          <a:stretch>
            <a:fillRect/>
          </a:stretch>
        </p:blipFill>
        <p:spPr>
          <a:xfrm>
            <a:off x="4582058" y="2029968"/>
            <a:ext cx="329184" cy="329184"/>
          </a:xfrm>
          <a:prstGeom prst="rect">
            <a:avLst/>
          </a:prstGeom>
        </p:spPr>
      </p:pic>
      <p:sp>
        <p:nvSpPr>
          <p:cNvPr id="12" name="Text 8"/>
          <p:cNvSpPr/>
          <p:nvPr/>
        </p:nvSpPr>
        <p:spPr>
          <a:xfrm>
            <a:off x="4518050" y="2514600"/>
            <a:ext cx="315559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Diverse</a:t>
            </a:r>
            <a:endParaRPr lang="en-US" sz="1400" dirty="0"/>
          </a:p>
        </p:txBody>
      </p:sp>
      <p:sp>
        <p:nvSpPr>
          <p:cNvPr id="13" name="Text 9"/>
          <p:cNvSpPr/>
          <p:nvPr/>
        </p:nvSpPr>
        <p:spPr>
          <a:xfrm>
            <a:off x="4518050" y="2862072"/>
            <a:ext cx="3155594" cy="6400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Cover edge cases so the model doesn't pick up an unintended incidental pattern.</a:t>
            </a:r>
            <a:endParaRPr lang="en-US" sz="1150" dirty="0"/>
          </a:p>
        </p:txBody>
      </p:sp>
      <p:sp>
        <p:nvSpPr>
          <p:cNvPr id="14" name="Shape 10"/>
          <p:cNvSpPr/>
          <p:nvPr/>
        </p:nvSpPr>
        <p:spPr>
          <a:xfrm>
            <a:off x="8130845" y="1783080"/>
            <a:ext cx="3557930" cy="1828800"/>
          </a:xfrm>
          <a:prstGeom prst="roundRect">
            <a:avLst>
              <a:gd name="adj" fmla="val 4000"/>
            </a:avLst>
          </a:prstGeom>
          <a:solidFill>
            <a:srgbClr val="F4F4F5"/>
          </a:solidFill>
          <a:ln/>
        </p:spPr>
      </p:sp>
      <p:sp>
        <p:nvSpPr>
          <p:cNvPr id="15" name="Shape 11"/>
          <p:cNvSpPr/>
          <p:nvPr/>
        </p:nvSpPr>
        <p:spPr>
          <a:xfrm>
            <a:off x="8332013" y="1965960"/>
            <a:ext cx="457200" cy="457200"/>
          </a:xfrm>
          <a:prstGeom prst="ellipse">
            <a:avLst/>
          </a:prstGeom>
          <a:solidFill>
            <a:srgbClr val="DB0011"/>
          </a:solidFill>
          <a:ln/>
        </p:spPr>
      </p:sp>
      <p:pic>
        <p:nvPicPr>
          <p:cNvPr id="16" name="Image 2" descr="preencoded.png">    </p:cNvPr>
          <p:cNvPicPr>
            <a:picLocks noChangeAspect="1"/>
          </p:cNvPicPr>
          <p:nvPr/>
        </p:nvPicPr>
        <p:blipFill>
          <a:blip r:embed="rId3"/>
          <a:stretch>
            <a:fillRect/>
          </a:stretch>
        </p:blipFill>
        <p:spPr>
          <a:xfrm>
            <a:off x="8396021" y="2029968"/>
            <a:ext cx="329184" cy="329184"/>
          </a:xfrm>
          <a:prstGeom prst="rect">
            <a:avLst/>
          </a:prstGeom>
        </p:spPr>
      </p:pic>
      <p:sp>
        <p:nvSpPr>
          <p:cNvPr id="17" name="Text 12"/>
          <p:cNvSpPr/>
          <p:nvPr/>
        </p:nvSpPr>
        <p:spPr>
          <a:xfrm>
            <a:off x="8332013" y="2514600"/>
            <a:ext cx="315559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Clearly delimited</a:t>
            </a:r>
            <a:endParaRPr lang="en-US" sz="1400" dirty="0"/>
          </a:p>
        </p:txBody>
      </p:sp>
      <p:sp>
        <p:nvSpPr>
          <p:cNvPr id="18" name="Text 13"/>
          <p:cNvSpPr/>
          <p:nvPr/>
        </p:nvSpPr>
        <p:spPr>
          <a:xfrm>
            <a:off x="8332013" y="2862072"/>
            <a:ext cx="3155594" cy="6400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Wrap each example so the model can tell demonstration apart from live task.</a:t>
            </a:r>
            <a:endParaRPr lang="en-US" sz="1150" dirty="0"/>
          </a:p>
        </p:txBody>
      </p:sp>
      <p:sp>
        <p:nvSpPr>
          <p:cNvPr id="19" name="Shape 14"/>
          <p:cNvSpPr/>
          <p:nvPr/>
        </p:nvSpPr>
        <p:spPr>
          <a:xfrm>
            <a:off x="502920" y="3794760"/>
            <a:ext cx="11185855" cy="868680"/>
          </a:xfrm>
          <a:prstGeom prst="roundRect">
            <a:avLst>
              <a:gd name="adj" fmla="val 8421"/>
            </a:avLst>
          </a:prstGeom>
          <a:solidFill>
            <a:srgbClr val="141414"/>
          </a:solidFill>
          <a:ln/>
        </p:spPr>
      </p:sp>
      <p:sp>
        <p:nvSpPr>
          <p:cNvPr id="20" name="Text 15"/>
          <p:cNvSpPr/>
          <p:nvPr/>
        </p:nvSpPr>
        <p:spPr>
          <a:xfrm>
            <a:off x="740664" y="3794760"/>
            <a:ext cx="10710367" cy="868680"/>
          </a:xfrm>
          <a:prstGeom prst="rect">
            <a:avLst/>
          </a:prstGeom>
          <a:noFill/>
          <a:ln/>
        </p:spPr>
        <p:txBody>
          <a:bodyPr wrap="square" lIns="0" tIns="0" rIns="0" bIns="0" rtlCol="0" anchor="ctr"/>
          <a:lstStyle/>
          <a:p>
            <a:pPr indent="0" marL="0">
              <a:lnSpc>
                <a:spcPct val="125000"/>
              </a:lnSpc>
              <a:buNone/>
            </a:pPr>
            <a:r>
              <a:rPr lang="en-US" sz="1300" dirty="0">
                <a:solidFill>
                  <a:srgbClr val="B7B9BB"/>
                </a:solidFill>
                <a:latin typeface="Arial" pitchFamily="34" charset="0"/>
                <a:ea typeface="Arial" pitchFamily="34" charset="-122"/>
                <a:cs typeface="Arial" pitchFamily="34" charset="-120"/>
              </a:rPr>
              <a:t>Current consensus breaks from old “more examples = better” folklore:  </a:t>
            </a:r>
            <a:pPr indent="0" marL="0">
              <a:lnSpc>
                <a:spcPct val="125000"/>
              </a:lnSpc>
              <a:buNone/>
            </a:pPr>
            <a:r>
              <a:rPr lang="en-US" sz="1300" b="1" dirty="0">
                <a:solidFill>
                  <a:srgbClr val="FFFFFF"/>
                </a:solidFill>
                <a:latin typeface="Arial" pitchFamily="34" charset="0"/>
                <a:ea typeface="Arial" pitchFamily="34" charset="-122"/>
                <a:cs typeface="Arial" pitchFamily="34" charset="-120"/>
              </a:rPr>
              <a:t>Anthropic recommends 3–5</a:t>
            </a:r>
            <a:pPr indent="0" marL="0">
              <a:lnSpc>
                <a:spcPct val="125000"/>
              </a:lnSpc>
              <a:buNone/>
            </a:pPr>
            <a:r>
              <a:rPr lang="en-US" sz="1300" dirty="0">
                <a:solidFill>
                  <a:srgbClr val="B7B9BB"/>
                </a:solidFill>
                <a:latin typeface="Arial" pitchFamily="34" charset="0"/>
                <a:ea typeface="Arial" pitchFamily="34" charset="-122"/>
                <a:cs typeface="Arial" pitchFamily="34" charset="-120"/>
              </a:rPr>
              <a:t>  well-crafted examples.  </a:t>
            </a:r>
            <a:pPr indent="0" marL="0">
              <a:lnSpc>
                <a:spcPct val="125000"/>
              </a:lnSpc>
              <a:buNone/>
            </a:pPr>
            <a:r>
              <a:rPr lang="en-US" sz="1300" b="1" dirty="0">
                <a:solidFill>
                  <a:srgbClr val="FFFFFF"/>
                </a:solidFill>
                <a:latin typeface="Arial" pitchFamily="34" charset="0"/>
                <a:ea typeface="Arial" pitchFamily="34" charset="-122"/>
                <a:cs typeface="Arial" pitchFamily="34" charset="-120"/>
              </a:rPr>
              <a:t>Google recommends 2–3</a:t>
            </a:r>
            <a:pPr indent="0" marL="0">
              <a:lnSpc>
                <a:spcPct val="125000"/>
              </a:lnSpc>
              <a:buNone/>
            </a:pPr>
            <a:r>
              <a:rPr lang="en-US" sz="1300" dirty="0">
                <a:solidFill>
                  <a:srgbClr val="B7B9BB"/>
                </a:solidFill>
                <a:latin typeface="Arial" pitchFamily="34" charset="0"/>
                <a:ea typeface="Arial" pitchFamily="34" charset="-122"/>
                <a:cs typeface="Arial" pitchFamily="34" charset="-120"/>
              </a:rPr>
              <a:t>, warning that too many can cause overfitting to incidental patterns.</a:t>
            </a:r>
            <a:endParaRPr lang="en-US" sz="1300" dirty="0"/>
          </a:p>
        </p:txBody>
      </p:sp>
      <p:sp>
        <p:nvSpPr>
          <p:cNvPr id="21" name="Text 16"/>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Claude Prompting Best Practices · Google — Gemini API Prompting Strategies</a:t>
            </a:r>
            <a:endParaRPr lang="en-US" sz="900" dirty="0"/>
          </a:p>
        </p:txBody>
      </p:sp>
      <p:sp>
        <p:nvSpPr>
          <p:cNvPr id="22" name="Text 17"/>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8 / 24</a:t>
            </a:r>
            <a:endParaRPr lang="en-US" sz="900" dirty="0"/>
          </a:p>
        </p:txBody>
      </p:sp>
      <p:sp>
        <p:nvSpPr>
          <p:cNvPr id="23" name="Shape 18"/>
          <p:cNvSpPr/>
          <p:nvPr/>
        </p:nvSpPr>
        <p:spPr>
          <a:xfrm>
            <a:off x="11263579" y="6437376"/>
            <a:ext cx="283464" cy="283464"/>
          </a:xfrm>
          <a:prstGeom prst="rect">
            <a:avLst/>
          </a:prstGeom>
          <a:solidFill>
            <a:srgbClr val="FFFFFF"/>
          </a:solidFill>
          <a:ln/>
        </p:spPr>
      </p:sp>
      <p:sp>
        <p:nvSpPr>
          <p:cNvPr id="24" name="Shape 19"/>
          <p:cNvSpPr/>
          <p:nvPr/>
        </p:nvSpPr>
        <p:spPr>
          <a:xfrm rot="10800000">
            <a:off x="11263579" y="6437376"/>
            <a:ext cx="283464" cy="141732"/>
          </a:xfrm>
          <a:prstGeom prst="triangle">
            <a:avLst/>
          </a:prstGeom>
          <a:solidFill>
            <a:srgbClr val="DB0011"/>
          </a:solidFill>
          <a:ln/>
        </p:spPr>
      </p:sp>
      <p:sp>
        <p:nvSpPr>
          <p:cNvPr id="25" name="Shape 20"/>
          <p:cNvSpPr/>
          <p:nvPr/>
        </p:nvSpPr>
        <p:spPr>
          <a:xfrm>
            <a:off x="11263579" y="6579108"/>
            <a:ext cx="283464" cy="141732"/>
          </a:xfrm>
          <a:prstGeom prst="triangle">
            <a:avLst/>
          </a:prstGeom>
          <a:solidFill>
            <a:srgbClr val="DB0011"/>
          </a:solidFill>
          <a:ln/>
        </p:spPr>
      </p:sp>
      <p:sp>
        <p:nvSpPr>
          <p:cNvPr id="26" name="Shape 21"/>
          <p:cNvSpPr/>
          <p:nvPr/>
        </p:nvSpPr>
        <p:spPr>
          <a:xfrm rot="16200000">
            <a:off x="11121847" y="6437376"/>
            <a:ext cx="141732" cy="283464"/>
          </a:xfrm>
          <a:prstGeom prst="triangle">
            <a:avLst/>
          </a:prstGeom>
          <a:solidFill>
            <a:srgbClr val="DB0011"/>
          </a:solidFill>
          <a:ln/>
        </p:spPr>
      </p:sp>
      <p:sp>
        <p:nvSpPr>
          <p:cNvPr id="27" name="Shape 22"/>
          <p:cNvSpPr/>
          <p:nvPr/>
        </p:nvSpPr>
        <p:spPr>
          <a:xfrm rot="5400000">
            <a:off x="11547043" y="6437376"/>
            <a:ext cx="141732" cy="283464"/>
          </a:xfrm>
          <a:prstGeom prst="triangle">
            <a:avLst/>
          </a:prstGeom>
          <a:solidFill>
            <a:srgbClr val="DB0011"/>
          </a:solidFill>
          <a:ln/>
        </p:spPr>
      </p:sp>
      <p:sp>
        <p:nvSpPr>
          <p:cNvPr id="28" name="Text 23"/>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§2.4 · CORE TECHNIQUE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900" b="1" dirty="0">
                <a:solidFill>
                  <a:srgbClr val="1A1A1A"/>
                </a:solidFill>
                <a:latin typeface="Arial" pitchFamily="34" charset="0"/>
                <a:ea typeface="Arial" pitchFamily="34" charset="-122"/>
                <a:cs typeface="Arial" pitchFamily="34" charset="-120"/>
              </a:rPr>
              <a:t>Give the model a role</a:t>
            </a:r>
            <a:endParaRPr lang="en-US" sz="2900" dirty="0"/>
          </a:p>
        </p:txBody>
      </p:sp>
      <p:sp>
        <p:nvSpPr>
          <p:cNvPr id="4" name="Shape 2"/>
          <p:cNvSpPr/>
          <p:nvPr/>
        </p:nvSpPr>
        <p:spPr>
          <a:xfrm>
            <a:off x="502920" y="2286000"/>
            <a:ext cx="868680" cy="868680"/>
          </a:xfrm>
          <a:prstGeom prst="ellipse">
            <a:avLst/>
          </a:prstGeom>
          <a:solidFill>
            <a:srgbClr val="DB0011"/>
          </a:solidFill>
          <a:ln/>
        </p:spPr>
      </p:sp>
      <p:pic>
        <p:nvPicPr>
          <p:cNvPr id="5" name="Image 0" descr="preencoded.png">    </p:cNvPr>
          <p:cNvPicPr>
            <a:picLocks noChangeAspect="1"/>
          </p:cNvPicPr>
          <p:nvPr/>
        </p:nvPicPr>
        <p:blipFill>
          <a:blip r:embed="rId1"/>
          <a:stretch>
            <a:fillRect/>
          </a:stretch>
        </p:blipFill>
        <p:spPr>
          <a:xfrm>
            <a:off x="624535" y="2407615"/>
            <a:ext cx="625450" cy="625450"/>
          </a:xfrm>
          <a:prstGeom prst="rect">
            <a:avLst/>
          </a:prstGeom>
        </p:spPr>
      </p:pic>
      <p:sp>
        <p:nvSpPr>
          <p:cNvPr id="6" name="Text 3"/>
          <p:cNvSpPr/>
          <p:nvPr/>
        </p:nvSpPr>
        <p:spPr>
          <a:xfrm>
            <a:off x="1645920" y="2286000"/>
            <a:ext cx="10042855" cy="868680"/>
          </a:xfrm>
          <a:prstGeom prst="rect">
            <a:avLst/>
          </a:prstGeom>
          <a:noFill/>
          <a:ln/>
        </p:spPr>
        <p:txBody>
          <a:bodyPr wrap="square" lIns="0" tIns="0" rIns="0" bIns="0" rtlCol="0" anchor="ctr"/>
          <a:lstStyle/>
          <a:p>
            <a:pPr indent="0" marL="0">
              <a:buNone/>
            </a:pPr>
            <a:r>
              <a:rPr lang="en-US" sz="2200" b="1" i="1" dirty="0">
                <a:solidFill>
                  <a:srgbClr val="1A1A1A"/>
                </a:solidFill>
                <a:latin typeface="Arial" pitchFamily="34" charset="0"/>
                <a:ea typeface="Arial" pitchFamily="34" charset="-122"/>
                <a:cs typeface="Arial" pitchFamily="34" charset="-120"/>
              </a:rPr>
              <a:t>“You are a senior credit-risk analyst.”</a:t>
            </a:r>
            <a:endParaRPr lang="en-US" sz="2200" dirty="0"/>
          </a:p>
        </p:txBody>
      </p:sp>
      <p:sp>
        <p:nvSpPr>
          <p:cNvPr id="7" name="Text 4"/>
          <p:cNvSpPr/>
          <p:nvPr/>
        </p:nvSpPr>
        <p:spPr>
          <a:xfrm>
            <a:off x="502920" y="3429000"/>
            <a:ext cx="11185855" cy="777240"/>
          </a:xfrm>
          <a:prstGeom prst="rect">
            <a:avLst/>
          </a:prstGeom>
          <a:noFill/>
          <a:ln/>
        </p:spPr>
        <p:txBody>
          <a:bodyPr wrap="square" lIns="0" tIns="0" rIns="0" bIns="0" rtlCol="0" anchor="ctr"/>
          <a:lstStyle/>
          <a:p>
            <a:pPr indent="0" marL="0">
              <a:lnSpc>
                <a:spcPct val="125000"/>
              </a:lnSpc>
              <a:buNone/>
            </a:pPr>
            <a:r>
              <a:rPr lang="en-US" sz="1400" dirty="0">
                <a:solidFill>
                  <a:srgbClr val="1A1A1A"/>
                </a:solidFill>
                <a:latin typeface="Arial" pitchFamily="34" charset="0"/>
                <a:ea typeface="Arial" pitchFamily="34" charset="-122"/>
                <a:cs typeface="Arial" pitchFamily="34" charset="-120"/>
              </a:rPr>
              <a:t>A one-line role in the system message measurably focuses tone, vocabulary, and the implicit assumptions the model brings to ambiguous parts of a task. Cheap, worth doing by default for any non-trivial use case.</a:t>
            </a:r>
            <a:endParaRPr lang="en-US" sz="1400" dirty="0"/>
          </a:p>
        </p:txBody>
      </p:sp>
      <p:sp>
        <p:nvSpPr>
          <p:cNvPr id="8" name="Shape 5"/>
          <p:cNvSpPr/>
          <p:nvPr/>
        </p:nvSpPr>
        <p:spPr>
          <a:xfrm>
            <a:off x="502920" y="4434840"/>
            <a:ext cx="11185855" cy="1188720"/>
          </a:xfrm>
          <a:prstGeom prst="roundRect">
            <a:avLst>
              <a:gd name="adj" fmla="val 6154"/>
            </a:avLst>
          </a:prstGeom>
          <a:solidFill>
            <a:srgbClr val="FBE9E9"/>
          </a:solidFill>
          <a:ln/>
        </p:spPr>
      </p:sp>
      <p:sp>
        <p:nvSpPr>
          <p:cNvPr id="9" name="Text 6"/>
          <p:cNvSpPr/>
          <p:nvPr/>
        </p:nvSpPr>
        <p:spPr>
          <a:xfrm>
            <a:off x="740664" y="4434840"/>
            <a:ext cx="10710367" cy="118872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Arial" pitchFamily="34" charset="0"/>
                <a:ea typeface="Arial" pitchFamily="34" charset="-122"/>
                <a:cs typeface="Arial" pitchFamily="34" charset="-120"/>
              </a:rPr>
              <a:t>Commonly misunderstood nuance: a role is a style lever, not a capability lever. “You are a Nobel laureate physicist” changes vocabulary and confidence of tone — it will not make an otherwise-wrong physics answer correct.</a:t>
            </a:r>
            <a:endParaRPr lang="en-US" sz="1300" dirty="0"/>
          </a:p>
        </p:txBody>
      </p:sp>
      <p:sp>
        <p:nvSpPr>
          <p:cNvPr id="10" name="Text 7"/>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Claude Prompting Best Practices</a:t>
            </a:r>
            <a:endParaRPr lang="en-US" sz="900" dirty="0"/>
          </a:p>
        </p:txBody>
      </p:sp>
      <p:sp>
        <p:nvSpPr>
          <p:cNvPr id="11" name="Text 8"/>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9 / 24</a:t>
            </a:r>
            <a:endParaRPr lang="en-US" sz="900" dirty="0"/>
          </a:p>
        </p:txBody>
      </p:sp>
      <p:sp>
        <p:nvSpPr>
          <p:cNvPr id="12" name="Shape 9"/>
          <p:cNvSpPr/>
          <p:nvPr/>
        </p:nvSpPr>
        <p:spPr>
          <a:xfrm>
            <a:off x="11263579" y="6437376"/>
            <a:ext cx="283464" cy="283464"/>
          </a:xfrm>
          <a:prstGeom prst="rect">
            <a:avLst/>
          </a:prstGeom>
          <a:solidFill>
            <a:srgbClr val="FFFFFF"/>
          </a:solidFill>
          <a:ln/>
        </p:spPr>
      </p:sp>
      <p:sp>
        <p:nvSpPr>
          <p:cNvPr id="13" name="Shape 10"/>
          <p:cNvSpPr/>
          <p:nvPr/>
        </p:nvSpPr>
        <p:spPr>
          <a:xfrm rot="10800000">
            <a:off x="11263579" y="6437376"/>
            <a:ext cx="283464" cy="141732"/>
          </a:xfrm>
          <a:prstGeom prst="triangle">
            <a:avLst/>
          </a:prstGeom>
          <a:solidFill>
            <a:srgbClr val="DB0011"/>
          </a:solidFill>
          <a:ln/>
        </p:spPr>
      </p:sp>
      <p:sp>
        <p:nvSpPr>
          <p:cNvPr id="14" name="Shape 11"/>
          <p:cNvSpPr/>
          <p:nvPr/>
        </p:nvSpPr>
        <p:spPr>
          <a:xfrm>
            <a:off x="11263579" y="6579108"/>
            <a:ext cx="283464" cy="141732"/>
          </a:xfrm>
          <a:prstGeom prst="triangle">
            <a:avLst/>
          </a:prstGeom>
          <a:solidFill>
            <a:srgbClr val="DB0011"/>
          </a:solidFill>
          <a:ln/>
        </p:spPr>
      </p:sp>
      <p:sp>
        <p:nvSpPr>
          <p:cNvPr id="15" name="Shape 12"/>
          <p:cNvSpPr/>
          <p:nvPr/>
        </p:nvSpPr>
        <p:spPr>
          <a:xfrm rot="16200000">
            <a:off x="11121847" y="6437376"/>
            <a:ext cx="141732" cy="283464"/>
          </a:xfrm>
          <a:prstGeom prst="triangle">
            <a:avLst/>
          </a:prstGeom>
          <a:solidFill>
            <a:srgbClr val="DB0011"/>
          </a:solidFill>
          <a:ln/>
        </p:spPr>
      </p:sp>
      <p:sp>
        <p:nvSpPr>
          <p:cNvPr id="16" name="Shape 13"/>
          <p:cNvSpPr/>
          <p:nvPr/>
        </p:nvSpPr>
        <p:spPr>
          <a:xfrm rot="5400000">
            <a:off x="11547043" y="6437376"/>
            <a:ext cx="141732" cy="283464"/>
          </a:xfrm>
          <a:prstGeom prst="triangle">
            <a:avLst/>
          </a:prstGeom>
          <a:solidFill>
            <a:srgbClr val="DB0011"/>
          </a:solidFill>
          <a:ln/>
        </p:spPr>
      </p:sp>
      <p:sp>
        <p:nvSpPr>
          <p:cNvPr id="17" name="Text 14"/>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§3.1 · STRUCTURING PROMPTS</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900" b="1" dirty="0">
                <a:solidFill>
                  <a:srgbClr val="1A1A1A"/>
                </a:solidFill>
                <a:latin typeface="Arial" pitchFamily="34" charset="0"/>
                <a:ea typeface="Arial" pitchFamily="34" charset="-122"/>
                <a:cs typeface="Arial" pitchFamily="34" charset="-120"/>
              </a:rPr>
              <a:t>Delimiters and XML tags</a:t>
            </a:r>
            <a:endParaRPr lang="en-US" sz="2900" dirty="0"/>
          </a:p>
        </p:txBody>
      </p:sp>
      <p:sp>
        <p:nvSpPr>
          <p:cNvPr id="4" name="Shape 2"/>
          <p:cNvSpPr/>
          <p:nvPr/>
        </p:nvSpPr>
        <p:spPr>
          <a:xfrm>
            <a:off x="502920" y="1783080"/>
            <a:ext cx="5943600" cy="3063240"/>
          </a:xfrm>
          <a:prstGeom prst="roundRect">
            <a:avLst>
              <a:gd name="adj" fmla="val 2388"/>
            </a:avLst>
          </a:prstGeom>
          <a:solidFill>
            <a:srgbClr val="141414"/>
          </a:solidFill>
          <a:ln/>
        </p:spPr>
      </p:sp>
      <p:sp>
        <p:nvSpPr>
          <p:cNvPr id="5" name="Text 3"/>
          <p:cNvSpPr/>
          <p:nvPr/>
        </p:nvSpPr>
        <p:spPr>
          <a:xfrm>
            <a:off x="777240" y="1965960"/>
            <a:ext cx="5394960" cy="2743200"/>
          </a:xfrm>
          <a:prstGeom prst="rect">
            <a:avLst/>
          </a:prstGeom>
          <a:noFill/>
          <a:ln/>
        </p:spPr>
        <p:txBody>
          <a:bodyPr wrap="square" lIns="0" tIns="0" rIns="0" bIns="0" rtlCol="0" anchor="ctr"/>
          <a:lstStyle/>
          <a:p>
            <a:pPr indent="0" marL="0">
              <a:lnSpc>
                <a:spcPct val="125000"/>
              </a:lnSpc>
              <a:buNone/>
            </a:pPr>
            <a:r>
              <a:rPr lang="en-US" sz="1150" dirty="0">
                <a:solidFill>
                  <a:srgbClr val="DB0011"/>
                </a:solidFill>
                <a:latin typeface="Courier New" pitchFamily="34" charset="0"/>
                <a:ea typeface="Courier New" pitchFamily="34" charset="-122"/>
                <a:cs typeface="Courier New" pitchFamily="34" charset="-120"/>
              </a:rPr>
              <a:t>&lt;instructions&gt;
</a:t>
            </a:r>
            <a:pPr indent="0" marL="0">
              <a:lnSpc>
                <a:spcPct val="125000"/>
              </a:lnSpc>
              <a:buNone/>
            </a:pPr>
            <a:r>
              <a:rPr lang="en-US" sz="1150" dirty="0">
                <a:solidFill>
                  <a:srgbClr val="FFFFFF"/>
                </a:solidFill>
                <a:latin typeface="Courier New" pitchFamily="34" charset="0"/>
                <a:ea typeface="Courier New" pitchFamily="34" charset="-122"/>
                <a:cs typeface="Courier New" pitchFamily="34" charset="-120"/>
              </a:rPr>
              <a:t>  Summarize the attached earnings call.
</a:t>
            </a:r>
            <a:pPr indent="0" marL="0">
              <a:lnSpc>
                <a:spcPct val="125000"/>
              </a:lnSpc>
              <a:buNone/>
            </a:pPr>
            <a:r>
              <a:rPr lang="en-US" sz="1150" dirty="0">
                <a:solidFill>
                  <a:srgbClr val="FFFFFF"/>
                </a:solidFill>
                <a:latin typeface="Courier New" pitchFamily="34" charset="0"/>
                <a:ea typeface="Courier New" pitchFamily="34" charset="-122"/>
                <a:cs typeface="Courier New" pitchFamily="34" charset="-120"/>
              </a:rPr>
              <a:t>  Focus only on forward-looking guidance.
</a:t>
            </a:r>
            <a:pPr indent="0" marL="0">
              <a:lnSpc>
                <a:spcPct val="125000"/>
              </a:lnSpc>
              <a:buNone/>
            </a:pPr>
            <a:r>
              <a:rPr lang="en-US" sz="1150" dirty="0">
                <a:solidFill>
                  <a:srgbClr val="DB0011"/>
                </a:solidFill>
                <a:latin typeface="Courier New" pitchFamily="34" charset="0"/>
                <a:ea typeface="Courier New" pitchFamily="34" charset="-122"/>
                <a:cs typeface="Courier New" pitchFamily="34" charset="-120"/>
              </a:rPr>
              <a:t>&lt;/instructions&gt;
</a:t>
            </a:r>
            <a:pPr indent="0" marL="0">
              <a:lnSpc>
                <a:spcPct val="125000"/>
              </a:lnSpc>
              <a:buNone/>
            </a:pPr>
            <a:r>
              <a:rPr lang="en-US" sz="1150" dirty="0">
                <a:solidFill>
                  <a:srgbClr val="FFFFFF"/>
                </a:solidFill>
                <a:latin typeface="Courier New" pitchFamily="34" charset="0"/>
                <a:ea typeface="Courier New" pitchFamily="34" charset="-122"/>
                <a:cs typeface="Courier New" pitchFamily="34" charset="-120"/>
              </a:rPr>
              <a:t>
</a:t>
            </a:r>
            <a:pPr indent="0" marL="0">
              <a:lnSpc>
                <a:spcPct val="125000"/>
              </a:lnSpc>
              <a:buNone/>
            </a:pPr>
            <a:r>
              <a:rPr lang="en-US" sz="1150" dirty="0">
                <a:solidFill>
                  <a:srgbClr val="DB0011"/>
                </a:solidFill>
                <a:latin typeface="Courier New" pitchFamily="34" charset="0"/>
                <a:ea typeface="Courier New" pitchFamily="34" charset="-122"/>
                <a:cs typeface="Courier New" pitchFamily="34" charset="-120"/>
              </a:rPr>
              <a:t>&lt;context&gt;
</a:t>
            </a:r>
            <a:pPr indent="0" marL="0">
              <a:lnSpc>
                <a:spcPct val="125000"/>
              </a:lnSpc>
              <a:buNone/>
            </a:pPr>
            <a:r>
              <a:rPr lang="en-US" sz="1150" dirty="0">
                <a:solidFill>
                  <a:srgbClr val="FFFFFF"/>
                </a:solidFill>
                <a:latin typeface="Courier New" pitchFamily="34" charset="0"/>
                <a:ea typeface="Courier New" pitchFamily="34" charset="-122"/>
                <a:cs typeface="Courier New" pitchFamily="34" charset="-120"/>
              </a:rPr>
              <a:t>  For a portfolio manager who already knows
</a:t>
            </a:r>
            <a:pPr indent="0" marL="0">
              <a:lnSpc>
                <a:spcPct val="125000"/>
              </a:lnSpc>
              <a:buNone/>
            </a:pPr>
            <a:r>
              <a:rPr lang="en-US" sz="1150" dirty="0">
                <a:solidFill>
                  <a:srgbClr val="FFFFFF"/>
                </a:solidFill>
                <a:latin typeface="Courier New" pitchFamily="34" charset="0"/>
                <a:ea typeface="Courier New" pitchFamily="34" charset="-122"/>
                <a:cs typeface="Courier New" pitchFamily="34" charset="-120"/>
              </a:rPr>
              <a:t>  the company; skip background explanation.
</a:t>
            </a:r>
            <a:pPr indent="0" marL="0">
              <a:lnSpc>
                <a:spcPct val="125000"/>
              </a:lnSpc>
              <a:buNone/>
            </a:pPr>
            <a:r>
              <a:rPr lang="en-US" sz="1150" dirty="0">
                <a:solidFill>
                  <a:srgbClr val="DB0011"/>
                </a:solidFill>
                <a:latin typeface="Courier New" pitchFamily="34" charset="0"/>
                <a:ea typeface="Courier New" pitchFamily="34" charset="-122"/>
                <a:cs typeface="Courier New" pitchFamily="34" charset="-120"/>
              </a:rPr>
              <a:t>&lt;/context&gt;
</a:t>
            </a:r>
            <a:pPr indent="0" marL="0">
              <a:lnSpc>
                <a:spcPct val="125000"/>
              </a:lnSpc>
              <a:buNone/>
            </a:pPr>
            <a:r>
              <a:rPr lang="en-US" sz="1150" dirty="0">
                <a:solidFill>
                  <a:srgbClr val="FFFFFF"/>
                </a:solidFill>
                <a:latin typeface="Courier New" pitchFamily="34" charset="0"/>
                <a:ea typeface="Courier New" pitchFamily="34" charset="-122"/>
                <a:cs typeface="Courier New" pitchFamily="34" charset="-120"/>
              </a:rPr>
              <a:t>
</a:t>
            </a:r>
            <a:pPr indent="0" marL="0">
              <a:lnSpc>
                <a:spcPct val="125000"/>
              </a:lnSpc>
              <a:buNone/>
            </a:pPr>
            <a:r>
              <a:rPr lang="en-US" sz="1150" dirty="0">
                <a:solidFill>
                  <a:srgbClr val="DB0011"/>
                </a:solidFill>
                <a:latin typeface="Courier New" pitchFamily="34" charset="0"/>
                <a:ea typeface="Courier New" pitchFamily="34" charset="-122"/>
                <a:cs typeface="Courier New" pitchFamily="34" charset="-120"/>
              </a:rPr>
              <a:t>&lt;transcript&gt;
</a:t>
            </a:r>
            <a:pPr indent="0" marL="0">
              <a:lnSpc>
                <a:spcPct val="125000"/>
              </a:lnSpc>
              <a:buNone/>
            </a:pPr>
            <a:r>
              <a:rPr lang="en-US" sz="1150" dirty="0">
                <a:solidFill>
                  <a:srgbClr val="FFFFFF"/>
                </a:solidFill>
                <a:latin typeface="Courier New" pitchFamily="34" charset="0"/>
                <a:ea typeface="Courier New" pitchFamily="34" charset="-122"/>
                <a:cs typeface="Courier New" pitchFamily="34" charset="-120"/>
              </a:rPr>
              <a:t>  {{TRANSCRIPT_TEXT}}
</a:t>
            </a:r>
            <a:pPr indent="0" marL="0">
              <a:lnSpc>
                <a:spcPct val="125000"/>
              </a:lnSpc>
              <a:buNone/>
            </a:pPr>
            <a:r>
              <a:rPr lang="en-US" sz="1150" dirty="0">
                <a:solidFill>
                  <a:srgbClr val="DB0011"/>
                </a:solidFill>
                <a:latin typeface="Courier New" pitchFamily="34" charset="0"/>
                <a:ea typeface="Courier New" pitchFamily="34" charset="-122"/>
                <a:cs typeface="Courier New" pitchFamily="34" charset="-120"/>
              </a:rPr>
              <a:t>&lt;/transcript&gt;
</a:t>
            </a:r>
            <a:endParaRPr lang="en-US" sz="1150" dirty="0"/>
          </a:p>
        </p:txBody>
      </p:sp>
      <p:sp>
        <p:nvSpPr>
          <p:cNvPr id="6" name="Shape 4"/>
          <p:cNvSpPr/>
          <p:nvPr/>
        </p:nvSpPr>
        <p:spPr>
          <a:xfrm>
            <a:off x="6766560" y="1783080"/>
            <a:ext cx="4922215" cy="1371600"/>
          </a:xfrm>
          <a:prstGeom prst="roundRect">
            <a:avLst>
              <a:gd name="adj" fmla="val 5333"/>
            </a:avLst>
          </a:prstGeom>
          <a:solidFill>
            <a:srgbClr val="F4F4F5"/>
          </a:solidFill>
          <a:ln/>
        </p:spPr>
      </p:sp>
      <p:sp>
        <p:nvSpPr>
          <p:cNvPr id="7" name="Shape 5"/>
          <p:cNvSpPr/>
          <p:nvPr/>
        </p:nvSpPr>
        <p:spPr>
          <a:xfrm>
            <a:off x="6967728" y="1965960"/>
            <a:ext cx="457200" cy="457200"/>
          </a:xfrm>
          <a:prstGeom prst="ellipse">
            <a:avLst/>
          </a:prstGeom>
          <a:solidFill>
            <a:srgbClr val="DB0011"/>
          </a:solidFill>
          <a:ln/>
        </p:spPr>
      </p:sp>
      <p:pic>
        <p:nvPicPr>
          <p:cNvPr id="8" name="Image 0" descr="preencoded.png">    </p:cNvPr>
          <p:cNvPicPr>
            <a:picLocks noChangeAspect="1"/>
          </p:cNvPicPr>
          <p:nvPr/>
        </p:nvPicPr>
        <p:blipFill>
          <a:blip r:embed="rId1"/>
          <a:stretch>
            <a:fillRect/>
          </a:stretch>
        </p:blipFill>
        <p:spPr>
          <a:xfrm>
            <a:off x="7031736" y="2029968"/>
            <a:ext cx="329184" cy="329184"/>
          </a:xfrm>
          <a:prstGeom prst="rect">
            <a:avLst/>
          </a:prstGeom>
        </p:spPr>
      </p:pic>
      <p:sp>
        <p:nvSpPr>
          <p:cNvPr id="9" name="Text 6"/>
          <p:cNvSpPr/>
          <p:nvPr/>
        </p:nvSpPr>
        <p:spPr>
          <a:xfrm>
            <a:off x="6967728" y="2514600"/>
            <a:ext cx="4519879"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No fixed schema needed</a:t>
            </a:r>
            <a:endParaRPr lang="en-US" sz="1400" dirty="0"/>
          </a:p>
        </p:txBody>
      </p:sp>
      <p:sp>
        <p:nvSpPr>
          <p:cNvPr id="10" name="Text 7"/>
          <p:cNvSpPr/>
          <p:nvPr/>
        </p:nvSpPr>
        <p:spPr>
          <a:xfrm>
            <a:off x="6967728" y="2862072"/>
            <a:ext cx="4519879" cy="1828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Descriptive, consistent names are what matters: &lt;instructions&gt;, &lt;context&gt;, &lt;document&gt;, &lt;example&gt;.</a:t>
            </a:r>
            <a:endParaRPr lang="en-US" sz="1150" dirty="0"/>
          </a:p>
        </p:txBody>
      </p:sp>
      <p:sp>
        <p:nvSpPr>
          <p:cNvPr id="11" name="Shape 8"/>
          <p:cNvSpPr/>
          <p:nvPr/>
        </p:nvSpPr>
        <p:spPr>
          <a:xfrm>
            <a:off x="6766560" y="3410712"/>
            <a:ext cx="4922215" cy="1371600"/>
          </a:xfrm>
          <a:prstGeom prst="roundRect">
            <a:avLst>
              <a:gd name="adj" fmla="val 5333"/>
            </a:avLst>
          </a:prstGeom>
          <a:solidFill>
            <a:srgbClr val="F4F4F5"/>
          </a:solidFill>
          <a:ln/>
        </p:spPr>
      </p:sp>
      <p:sp>
        <p:nvSpPr>
          <p:cNvPr id="12" name="Shape 9"/>
          <p:cNvSpPr/>
          <p:nvPr/>
        </p:nvSpPr>
        <p:spPr>
          <a:xfrm>
            <a:off x="6967728" y="3593592"/>
            <a:ext cx="457200" cy="457200"/>
          </a:xfrm>
          <a:prstGeom prst="ellipse">
            <a:avLst/>
          </a:prstGeom>
          <a:solidFill>
            <a:srgbClr val="DB0011"/>
          </a:solidFill>
          <a:ln/>
        </p:spPr>
      </p:sp>
      <p:pic>
        <p:nvPicPr>
          <p:cNvPr id="13" name="Image 1" descr="preencoded.png">    </p:cNvPr>
          <p:cNvPicPr>
            <a:picLocks noChangeAspect="1"/>
          </p:cNvPicPr>
          <p:nvPr/>
        </p:nvPicPr>
        <p:blipFill>
          <a:blip r:embed="rId2"/>
          <a:stretch>
            <a:fillRect/>
          </a:stretch>
        </p:blipFill>
        <p:spPr>
          <a:xfrm>
            <a:off x="7031736" y="3657600"/>
            <a:ext cx="329184" cy="329184"/>
          </a:xfrm>
          <a:prstGeom prst="rect">
            <a:avLst/>
          </a:prstGeom>
        </p:spPr>
      </p:pic>
      <p:sp>
        <p:nvSpPr>
          <p:cNvPr id="14" name="Text 10"/>
          <p:cNvSpPr/>
          <p:nvPr/>
        </p:nvSpPr>
        <p:spPr>
          <a:xfrm>
            <a:off x="6967728" y="4142232"/>
            <a:ext cx="4519879"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Claude is heavily trained on this</a:t>
            </a:r>
            <a:endParaRPr lang="en-US" sz="1400" dirty="0"/>
          </a:p>
        </p:txBody>
      </p:sp>
      <p:sp>
        <p:nvSpPr>
          <p:cNvPr id="15" name="Text 11"/>
          <p:cNvSpPr/>
          <p:nvPr/>
        </p:nvSpPr>
        <p:spPr>
          <a:xfrm>
            <a:off x="6967728" y="4489704"/>
            <a:ext cx="4519879" cy="18288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All major providers converge: use consistent delimiters to separate instructions, context, examples, and the live input.</a:t>
            </a:r>
            <a:endParaRPr lang="en-US" sz="1150" dirty="0"/>
          </a:p>
        </p:txBody>
      </p:sp>
      <p:sp>
        <p:nvSpPr>
          <p:cNvPr id="16" name="Text 12"/>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Claude Prompting Best Practices</a:t>
            </a:r>
            <a:endParaRPr lang="en-US" sz="900" dirty="0"/>
          </a:p>
        </p:txBody>
      </p:sp>
      <p:sp>
        <p:nvSpPr>
          <p:cNvPr id="17" name="Text 13"/>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10 / 24</a:t>
            </a:r>
            <a:endParaRPr lang="en-US" sz="900" dirty="0"/>
          </a:p>
        </p:txBody>
      </p:sp>
      <p:sp>
        <p:nvSpPr>
          <p:cNvPr id="18" name="Shape 14"/>
          <p:cNvSpPr/>
          <p:nvPr/>
        </p:nvSpPr>
        <p:spPr>
          <a:xfrm>
            <a:off x="11263579" y="6437376"/>
            <a:ext cx="283464" cy="283464"/>
          </a:xfrm>
          <a:prstGeom prst="rect">
            <a:avLst/>
          </a:prstGeom>
          <a:solidFill>
            <a:srgbClr val="FFFFFF"/>
          </a:solidFill>
          <a:ln/>
        </p:spPr>
      </p:sp>
      <p:sp>
        <p:nvSpPr>
          <p:cNvPr id="19" name="Shape 15"/>
          <p:cNvSpPr/>
          <p:nvPr/>
        </p:nvSpPr>
        <p:spPr>
          <a:xfrm rot="10800000">
            <a:off x="11263579" y="6437376"/>
            <a:ext cx="283464" cy="141732"/>
          </a:xfrm>
          <a:prstGeom prst="triangle">
            <a:avLst/>
          </a:prstGeom>
          <a:solidFill>
            <a:srgbClr val="DB0011"/>
          </a:solidFill>
          <a:ln/>
        </p:spPr>
      </p:sp>
      <p:sp>
        <p:nvSpPr>
          <p:cNvPr id="20" name="Shape 16"/>
          <p:cNvSpPr/>
          <p:nvPr/>
        </p:nvSpPr>
        <p:spPr>
          <a:xfrm>
            <a:off x="11263579" y="6579108"/>
            <a:ext cx="283464" cy="141732"/>
          </a:xfrm>
          <a:prstGeom prst="triangle">
            <a:avLst/>
          </a:prstGeom>
          <a:solidFill>
            <a:srgbClr val="DB0011"/>
          </a:solidFill>
          <a:ln/>
        </p:spPr>
      </p:sp>
      <p:sp>
        <p:nvSpPr>
          <p:cNvPr id="21" name="Shape 17"/>
          <p:cNvSpPr/>
          <p:nvPr/>
        </p:nvSpPr>
        <p:spPr>
          <a:xfrm rot="16200000">
            <a:off x="11121847" y="6437376"/>
            <a:ext cx="141732" cy="283464"/>
          </a:xfrm>
          <a:prstGeom prst="triangle">
            <a:avLst/>
          </a:prstGeom>
          <a:solidFill>
            <a:srgbClr val="DB0011"/>
          </a:solidFill>
          <a:ln/>
        </p:spPr>
      </p:sp>
      <p:sp>
        <p:nvSpPr>
          <p:cNvPr id="22" name="Shape 18"/>
          <p:cNvSpPr/>
          <p:nvPr/>
        </p:nvSpPr>
        <p:spPr>
          <a:xfrm rot="5400000">
            <a:off x="11547043" y="6437376"/>
            <a:ext cx="141732" cy="283464"/>
          </a:xfrm>
          <a:prstGeom prst="triangle">
            <a:avLst/>
          </a:prstGeom>
          <a:solidFill>
            <a:srgbClr val="DB0011"/>
          </a:solidFill>
          <a:ln/>
        </p:spPr>
      </p:sp>
      <p:sp>
        <p:nvSpPr>
          <p:cNvPr id="23" name="Text 19"/>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§3.2 · FOR 20K+ TOKEN PROMPTS</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400" b="1" dirty="0">
                <a:solidFill>
                  <a:srgbClr val="1A1A1A"/>
                </a:solidFill>
                <a:latin typeface="Arial" pitchFamily="34" charset="0"/>
                <a:ea typeface="Arial" pitchFamily="34" charset="-122"/>
                <a:cs typeface="Arial" pitchFamily="34" charset="-120"/>
              </a:rPr>
              <a:t>Long-context strategy: data first, query last</a:t>
            </a:r>
            <a:endParaRPr lang="en-US" sz="2400" dirty="0"/>
          </a:p>
        </p:txBody>
      </p:sp>
      <p:sp>
        <p:nvSpPr>
          <p:cNvPr id="4" name="Shape 2"/>
          <p:cNvSpPr/>
          <p:nvPr/>
        </p:nvSpPr>
        <p:spPr>
          <a:xfrm>
            <a:off x="502920" y="1783080"/>
            <a:ext cx="11185855" cy="914400"/>
          </a:xfrm>
          <a:prstGeom prst="roundRect">
            <a:avLst>
              <a:gd name="adj" fmla="val 8000"/>
            </a:avLst>
          </a:prstGeom>
          <a:solidFill>
            <a:srgbClr val="F4F4F5"/>
          </a:solidFill>
          <a:ln/>
        </p:spPr>
      </p:sp>
      <p:sp>
        <p:nvSpPr>
          <p:cNvPr id="5" name="Text 3"/>
          <p:cNvSpPr/>
          <p:nvPr/>
        </p:nvSpPr>
        <p:spPr>
          <a:xfrm>
            <a:off x="777240" y="1783080"/>
            <a:ext cx="10637215" cy="914400"/>
          </a:xfrm>
          <a:prstGeom prst="rect">
            <a:avLst/>
          </a:prstGeom>
          <a:noFill/>
          <a:ln/>
        </p:spPr>
        <p:txBody>
          <a:bodyPr wrap="square" lIns="0" tIns="0" rIns="0" bIns="0" rtlCol="0" anchor="ctr"/>
          <a:lstStyle/>
          <a:p>
            <a:pPr indent="0" marL="0">
              <a:buNone/>
            </a:pPr>
            <a:r>
              <a:rPr lang="en-US" sz="1500" b="1" dirty="0">
                <a:solidFill>
                  <a:srgbClr val="1A1A1A"/>
                </a:solidFill>
                <a:latin typeface="Arial" pitchFamily="34" charset="0"/>
                <a:ea typeface="Arial" pitchFamily="34" charset="-122"/>
                <a:cs typeface="Arial" pitchFamily="34" charset="-120"/>
              </a:rPr>
              <a:t>1. DOCUMENTS / CONTEXT  (near the top)</a:t>
            </a:r>
            <a:endParaRPr lang="en-US" sz="1500" dirty="0"/>
          </a:p>
        </p:txBody>
      </p:sp>
      <p:sp>
        <p:nvSpPr>
          <p:cNvPr id="6" name="Shape 4"/>
          <p:cNvSpPr/>
          <p:nvPr/>
        </p:nvSpPr>
        <p:spPr>
          <a:xfrm>
            <a:off x="5958688" y="2743200"/>
            <a:ext cx="274320" cy="274320"/>
          </a:xfrm>
          <a:prstGeom prst="downArrow">
            <a:avLst/>
          </a:prstGeom>
          <a:solidFill>
            <a:srgbClr val="DB0011"/>
          </a:solidFill>
          <a:ln/>
        </p:spPr>
      </p:sp>
      <p:sp>
        <p:nvSpPr>
          <p:cNvPr id="7" name="Shape 5"/>
          <p:cNvSpPr/>
          <p:nvPr/>
        </p:nvSpPr>
        <p:spPr>
          <a:xfrm>
            <a:off x="502920" y="3063240"/>
            <a:ext cx="11185855" cy="594360"/>
          </a:xfrm>
          <a:prstGeom prst="roundRect">
            <a:avLst>
              <a:gd name="adj" fmla="val 12308"/>
            </a:avLst>
          </a:prstGeom>
          <a:solidFill>
            <a:srgbClr val="DB0011"/>
          </a:solidFill>
          <a:ln/>
        </p:spPr>
      </p:sp>
      <p:sp>
        <p:nvSpPr>
          <p:cNvPr id="8" name="Text 6"/>
          <p:cNvSpPr/>
          <p:nvPr/>
        </p:nvSpPr>
        <p:spPr>
          <a:xfrm>
            <a:off x="777240" y="3063240"/>
            <a:ext cx="10637215" cy="5943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2. YOUR QUESTION  (right at the end, where attention is strongest)</a:t>
            </a:r>
            <a:endParaRPr lang="en-US" sz="1400" dirty="0"/>
          </a:p>
        </p:txBody>
      </p:sp>
      <p:sp>
        <p:nvSpPr>
          <p:cNvPr id="9" name="Text 7"/>
          <p:cNvSpPr/>
          <p:nvPr/>
        </p:nvSpPr>
        <p:spPr>
          <a:xfrm>
            <a:off x="502920" y="3931920"/>
            <a:ext cx="11185855" cy="914400"/>
          </a:xfrm>
          <a:prstGeom prst="rect">
            <a:avLst/>
          </a:prstGeom>
          <a:noFill/>
          <a:ln/>
        </p:spPr>
        <p:txBody>
          <a:bodyPr wrap="square" lIns="0" tIns="0" rIns="0" bIns="0" rtlCol="0" anchor="ctr"/>
          <a:lstStyle/>
          <a:p>
            <a:pPr indent="0" marL="0">
              <a:lnSpc>
                <a:spcPct val="130000"/>
              </a:lnSpc>
              <a:buNone/>
            </a:pPr>
            <a:r>
              <a:rPr lang="en-US" sz="1350" b="1" dirty="0">
                <a:solidFill>
                  <a:srgbClr val="DB0011"/>
                </a:solidFill>
                <a:latin typeface="Arial" pitchFamily="34" charset="0"/>
                <a:ea typeface="Arial" pitchFamily="34" charset="-122"/>
                <a:cs typeface="Arial" pitchFamily="34" charset="-120"/>
              </a:rPr>
              <a:t>Up to ~30% quality improvement</a:t>
            </a:r>
            <a:pPr indent="0" marL="0">
              <a:lnSpc>
                <a:spcPct val="130000"/>
              </a:lnSpc>
              <a:buNone/>
            </a:pPr>
            <a:r>
              <a:rPr lang="en-US" sz="1350" dirty="0">
                <a:solidFill>
                  <a:srgbClr val="1A1A1A"/>
                </a:solidFill>
                <a:latin typeface="Arial" pitchFamily="34" charset="0"/>
                <a:ea typeface="Arial" pitchFamily="34" charset="-122"/>
                <a:cs typeface="Arial" pitchFamily="34" charset="-120"/>
              </a:rPr>
              <a:t> measured on complex multi-document inputs (Anthropic). Wrap each document in its own tagged block with source metadata. For long documents, ask the model to quote relevant passages before concluding.</a:t>
            </a:r>
            <a:endParaRPr lang="en-US" sz="1350" dirty="0"/>
          </a:p>
        </p:txBody>
      </p:sp>
      <p:sp>
        <p:nvSpPr>
          <p:cNvPr id="10" name="Text 8"/>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Claude Prompting Best Practices · Liu et al., 2023</a:t>
            </a:r>
            <a:endParaRPr lang="en-US" sz="900" dirty="0"/>
          </a:p>
        </p:txBody>
      </p:sp>
      <p:sp>
        <p:nvSpPr>
          <p:cNvPr id="11" name="Text 9"/>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11 / 24</a:t>
            </a:r>
            <a:endParaRPr lang="en-US" sz="900" dirty="0"/>
          </a:p>
        </p:txBody>
      </p:sp>
      <p:sp>
        <p:nvSpPr>
          <p:cNvPr id="12" name="Shape 10"/>
          <p:cNvSpPr/>
          <p:nvPr/>
        </p:nvSpPr>
        <p:spPr>
          <a:xfrm>
            <a:off x="11263579" y="6437376"/>
            <a:ext cx="283464" cy="283464"/>
          </a:xfrm>
          <a:prstGeom prst="rect">
            <a:avLst/>
          </a:prstGeom>
          <a:solidFill>
            <a:srgbClr val="FFFFFF"/>
          </a:solidFill>
          <a:ln/>
        </p:spPr>
      </p:sp>
      <p:sp>
        <p:nvSpPr>
          <p:cNvPr id="13" name="Shape 11"/>
          <p:cNvSpPr/>
          <p:nvPr/>
        </p:nvSpPr>
        <p:spPr>
          <a:xfrm rot="10800000">
            <a:off x="11263579" y="6437376"/>
            <a:ext cx="283464" cy="141732"/>
          </a:xfrm>
          <a:prstGeom prst="triangle">
            <a:avLst/>
          </a:prstGeom>
          <a:solidFill>
            <a:srgbClr val="DB0011"/>
          </a:solidFill>
          <a:ln/>
        </p:spPr>
      </p:sp>
      <p:sp>
        <p:nvSpPr>
          <p:cNvPr id="14" name="Shape 12"/>
          <p:cNvSpPr/>
          <p:nvPr/>
        </p:nvSpPr>
        <p:spPr>
          <a:xfrm>
            <a:off x="11263579" y="6579108"/>
            <a:ext cx="283464" cy="141732"/>
          </a:xfrm>
          <a:prstGeom prst="triangle">
            <a:avLst/>
          </a:prstGeom>
          <a:solidFill>
            <a:srgbClr val="DB0011"/>
          </a:solidFill>
          <a:ln/>
        </p:spPr>
      </p:sp>
      <p:sp>
        <p:nvSpPr>
          <p:cNvPr id="15" name="Shape 13"/>
          <p:cNvSpPr/>
          <p:nvPr/>
        </p:nvSpPr>
        <p:spPr>
          <a:xfrm rot="16200000">
            <a:off x="11121847" y="6437376"/>
            <a:ext cx="141732" cy="283464"/>
          </a:xfrm>
          <a:prstGeom prst="triangle">
            <a:avLst/>
          </a:prstGeom>
          <a:solidFill>
            <a:srgbClr val="DB0011"/>
          </a:solidFill>
          <a:ln/>
        </p:spPr>
      </p:sp>
      <p:sp>
        <p:nvSpPr>
          <p:cNvPr id="16" name="Shape 14"/>
          <p:cNvSpPr/>
          <p:nvPr/>
        </p:nvSpPr>
        <p:spPr>
          <a:xfrm rot="5400000">
            <a:off x="11547043" y="6437376"/>
            <a:ext cx="141732" cy="283464"/>
          </a:xfrm>
          <a:prstGeom prst="triangle">
            <a:avLst/>
          </a:prstGeom>
          <a:solidFill>
            <a:srgbClr val="DB0011"/>
          </a:solidFill>
          <a:ln/>
        </p:spPr>
      </p:sp>
      <p:sp>
        <p:nvSpPr>
          <p:cNvPr id="17" name="Text 15"/>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02920" y="2331720"/>
            <a:ext cx="11185855" cy="457200"/>
          </a:xfrm>
          <a:prstGeom prst="rect">
            <a:avLst/>
          </a:prstGeom>
          <a:noFill/>
          <a:ln/>
        </p:spPr>
        <p:txBody>
          <a:bodyPr wrap="square" lIns="0" tIns="0" rIns="0" bIns="0" rtlCol="0" anchor="ctr"/>
          <a:lstStyle/>
          <a:p>
            <a:pPr indent="0" marL="0">
              <a:buNone/>
            </a:pPr>
            <a:r>
              <a:rPr lang="en-US" sz="1600" b="1" spc="300" kern="0" dirty="0">
                <a:solidFill>
                  <a:srgbClr val="DB0011"/>
                </a:solidFill>
                <a:latin typeface="Arial" pitchFamily="34" charset="0"/>
                <a:ea typeface="Arial" pitchFamily="34" charset="-122"/>
                <a:cs typeface="Arial" pitchFamily="34" charset="-120"/>
              </a:rPr>
              <a:t>PART II</a:t>
            </a:r>
            <a:endParaRPr lang="en-US" sz="1600" dirty="0"/>
          </a:p>
        </p:txBody>
      </p:sp>
      <p:sp>
        <p:nvSpPr>
          <p:cNvPr id="3" name="Text 1"/>
          <p:cNvSpPr/>
          <p:nvPr/>
        </p:nvSpPr>
        <p:spPr>
          <a:xfrm>
            <a:off x="502920" y="2743200"/>
            <a:ext cx="11185855" cy="9144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Reasoning-Model Shift</a:t>
            </a:r>
            <a:endParaRPr lang="en-US" sz="3600" dirty="0"/>
          </a:p>
        </p:txBody>
      </p:sp>
      <p:sp>
        <p:nvSpPr>
          <p:cNvPr id="4" name="Text 2"/>
          <p:cNvSpPr/>
          <p:nvPr/>
        </p:nvSpPr>
        <p:spPr>
          <a:xfrm>
            <a:off x="502920" y="3611880"/>
            <a:ext cx="9357055" cy="685800"/>
          </a:xfrm>
          <a:prstGeom prst="rect">
            <a:avLst/>
          </a:prstGeom>
          <a:noFill/>
          <a:ln/>
        </p:spPr>
        <p:txBody>
          <a:bodyPr wrap="square" lIns="0" tIns="0" rIns="0" bIns="0" rtlCol="0" anchor="ctr"/>
          <a:lstStyle/>
          <a:p>
            <a:pPr indent="0" marL="0">
              <a:lnSpc>
                <a:spcPct val="125000"/>
              </a:lnSpc>
              <a:buNone/>
            </a:pPr>
            <a:r>
              <a:rPr lang="en-US" sz="1500" i="1" dirty="0">
                <a:solidFill>
                  <a:srgbClr val="B7B9BB"/>
                </a:solidFill>
                <a:latin typeface="Arial" pitchFamily="34" charset="0"/>
                <a:ea typeface="Arial" pitchFamily="34" charset="-122"/>
                <a:cs typeface="Arial" pitchFamily="34" charset="-120"/>
              </a:rPr>
              <a:t>Read this part even if you skip everything else. It's the fastest way to tell a genuinely current course from one still recycling 2023 advice.</a:t>
            </a:r>
            <a:endParaRPr lang="en-US" sz="1500" dirty="0"/>
          </a:p>
        </p:txBody>
      </p:sp>
      <p:sp>
        <p:nvSpPr>
          <p:cNvPr id="5" name="Shape 3"/>
          <p:cNvSpPr/>
          <p:nvPr/>
        </p:nvSpPr>
        <p:spPr>
          <a:xfrm>
            <a:off x="11263579" y="6437376"/>
            <a:ext cx="283464" cy="283464"/>
          </a:xfrm>
          <a:prstGeom prst="rect">
            <a:avLst/>
          </a:prstGeom>
          <a:solidFill>
            <a:srgbClr val="FFFFFF"/>
          </a:solidFill>
          <a:ln/>
        </p:spPr>
      </p:sp>
      <p:sp>
        <p:nvSpPr>
          <p:cNvPr id="6" name="Shape 4"/>
          <p:cNvSpPr/>
          <p:nvPr/>
        </p:nvSpPr>
        <p:spPr>
          <a:xfrm rot="10800000">
            <a:off x="11263579" y="6437376"/>
            <a:ext cx="283464" cy="141732"/>
          </a:xfrm>
          <a:prstGeom prst="triangle">
            <a:avLst/>
          </a:prstGeom>
          <a:solidFill>
            <a:srgbClr val="DB0011"/>
          </a:solidFill>
          <a:ln/>
        </p:spPr>
      </p:sp>
      <p:sp>
        <p:nvSpPr>
          <p:cNvPr id="7" name="Shape 5"/>
          <p:cNvSpPr/>
          <p:nvPr/>
        </p:nvSpPr>
        <p:spPr>
          <a:xfrm>
            <a:off x="11263579" y="6579108"/>
            <a:ext cx="283464" cy="141732"/>
          </a:xfrm>
          <a:prstGeom prst="triangle">
            <a:avLst/>
          </a:prstGeom>
          <a:solidFill>
            <a:srgbClr val="DB0011"/>
          </a:solidFill>
          <a:ln/>
        </p:spPr>
      </p:sp>
      <p:sp>
        <p:nvSpPr>
          <p:cNvPr id="8" name="Shape 6"/>
          <p:cNvSpPr/>
          <p:nvPr/>
        </p:nvSpPr>
        <p:spPr>
          <a:xfrm rot="16200000">
            <a:off x="11121847" y="6437376"/>
            <a:ext cx="141732" cy="283464"/>
          </a:xfrm>
          <a:prstGeom prst="triangle">
            <a:avLst/>
          </a:prstGeom>
          <a:solidFill>
            <a:srgbClr val="DB0011"/>
          </a:solidFill>
          <a:ln/>
        </p:spPr>
      </p:sp>
      <p:sp>
        <p:nvSpPr>
          <p:cNvPr id="9" name="Shape 7"/>
          <p:cNvSpPr/>
          <p:nvPr/>
        </p:nvSpPr>
        <p:spPr>
          <a:xfrm rot="5400000">
            <a:off x="11547043" y="6437376"/>
            <a:ext cx="141732" cy="283464"/>
          </a:xfrm>
          <a:prstGeom prst="triangle">
            <a:avLst/>
          </a:prstGeom>
          <a:solidFill>
            <a:srgbClr val="DB0011"/>
          </a:solidFill>
          <a:ln/>
        </p:spPr>
      </p:sp>
      <p:sp>
        <p:nvSpPr>
          <p:cNvPr id="10" name="Text 8"/>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B7B9BB"/>
                </a:solidFill>
                <a:latin typeface="Arial" pitchFamily="34" charset="0"/>
                <a:ea typeface="Arial" pitchFamily="34" charset="-122"/>
                <a:cs typeface="Arial" pitchFamily="34" charset="-120"/>
              </a:rPr>
              <a:t>12 / 24</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§5 · THE MOST IMPORTANT UPDATE IN TWO YEARS</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“Think step by step” stopped being a universal upgrade</a:t>
            </a:r>
            <a:endParaRPr lang="en-US" sz="2400" dirty="0"/>
          </a:p>
        </p:txBody>
      </p:sp>
      <p:sp>
        <p:nvSpPr>
          <p:cNvPr id="4" name="Shape 2"/>
          <p:cNvSpPr/>
          <p:nvPr/>
        </p:nvSpPr>
        <p:spPr>
          <a:xfrm>
            <a:off x="502920" y="1828800"/>
            <a:ext cx="3557930" cy="1600200"/>
          </a:xfrm>
          <a:prstGeom prst="roundRect">
            <a:avLst>
              <a:gd name="adj" fmla="val 4571"/>
            </a:avLst>
          </a:prstGeom>
          <a:solidFill>
            <a:srgbClr val="1F1F1F"/>
          </a:solidFill>
          <a:ln/>
        </p:spPr>
      </p:sp>
      <p:sp>
        <p:nvSpPr>
          <p:cNvPr id="5" name="Shape 3"/>
          <p:cNvSpPr/>
          <p:nvPr/>
        </p:nvSpPr>
        <p:spPr>
          <a:xfrm>
            <a:off x="704088" y="2011680"/>
            <a:ext cx="310896" cy="45720"/>
          </a:xfrm>
          <a:prstGeom prst="rect">
            <a:avLst/>
          </a:prstGeom>
          <a:solidFill>
            <a:srgbClr val="DB0011"/>
          </a:solidFill>
          <a:ln/>
        </p:spPr>
      </p:sp>
      <p:sp>
        <p:nvSpPr>
          <p:cNvPr id="6" name="Text 4"/>
          <p:cNvSpPr/>
          <p:nvPr/>
        </p:nvSpPr>
        <p:spPr>
          <a:xfrm>
            <a:off x="704088" y="2121408"/>
            <a:ext cx="3155594" cy="274320"/>
          </a:xfrm>
          <a:prstGeom prst="rect">
            <a:avLst/>
          </a:prstGeom>
          <a:noFill/>
          <a:ln/>
        </p:spPr>
        <p:txBody>
          <a:bodyPr wrap="square" lIns="0" tIns="0" rIns="0" bIns="0" rtlCol="0" anchor="ctr"/>
          <a:lstStyle/>
          <a:p>
            <a:pPr indent="0" marL="0">
              <a:buNone/>
            </a:pPr>
            <a:r>
              <a:rPr lang="en-US" sz="1150" b="1" dirty="0">
                <a:solidFill>
                  <a:srgbClr val="DB0011"/>
                </a:solidFill>
                <a:latin typeface="Arial" pitchFamily="34" charset="0"/>
                <a:ea typeface="Arial" pitchFamily="34" charset="-122"/>
                <a:cs typeface="Arial" pitchFamily="34" charset="-120"/>
              </a:rPr>
              <a:t>OPENAI</a:t>
            </a:r>
            <a:endParaRPr lang="en-US" sz="1150" dirty="0"/>
          </a:p>
        </p:txBody>
      </p:sp>
      <p:sp>
        <p:nvSpPr>
          <p:cNvPr id="7" name="Text 5"/>
          <p:cNvSpPr/>
          <p:nvPr/>
        </p:nvSpPr>
        <p:spPr>
          <a:xfrm>
            <a:off x="704088" y="2450592"/>
            <a:ext cx="3155594" cy="777240"/>
          </a:xfrm>
          <a:prstGeom prst="rect">
            <a:avLst/>
          </a:prstGeom>
          <a:noFill/>
          <a:ln/>
        </p:spPr>
        <p:txBody>
          <a:bodyPr wrap="square" lIns="0" tIns="0" rIns="0" bIns="0" rtlCol="0" anchor="t"/>
          <a:lstStyle/>
          <a:p>
            <a:pPr indent="0" marL="0">
              <a:lnSpc>
                <a:spcPct val="122000"/>
              </a:lnSpc>
              <a:buNone/>
            </a:pPr>
            <a:r>
              <a:rPr lang="en-US" sz="1100" i="1" dirty="0">
                <a:solidFill>
                  <a:srgbClr val="FFFFFF"/>
                </a:solidFill>
                <a:latin typeface="Arial" pitchFamily="34" charset="0"/>
                <a:ea typeface="Arial" pitchFamily="34" charset="-122"/>
                <a:cs typeface="Arial" pitchFamily="34" charset="-120"/>
              </a:rPr>
              <a:t>“Instructing the model to think step by step may not enhance performance and can sometimes hurt it.”</a:t>
            </a:r>
            <a:endParaRPr lang="en-US" sz="1100" dirty="0"/>
          </a:p>
        </p:txBody>
      </p:sp>
      <p:sp>
        <p:nvSpPr>
          <p:cNvPr id="8" name="Shape 6"/>
          <p:cNvSpPr/>
          <p:nvPr/>
        </p:nvSpPr>
        <p:spPr>
          <a:xfrm>
            <a:off x="4316882" y="1828800"/>
            <a:ext cx="3557930" cy="1600200"/>
          </a:xfrm>
          <a:prstGeom prst="roundRect">
            <a:avLst>
              <a:gd name="adj" fmla="val 4571"/>
            </a:avLst>
          </a:prstGeom>
          <a:solidFill>
            <a:srgbClr val="1F1F1F"/>
          </a:solidFill>
          <a:ln/>
        </p:spPr>
      </p:sp>
      <p:sp>
        <p:nvSpPr>
          <p:cNvPr id="9" name="Shape 7"/>
          <p:cNvSpPr/>
          <p:nvPr/>
        </p:nvSpPr>
        <p:spPr>
          <a:xfrm>
            <a:off x="4518050" y="2011680"/>
            <a:ext cx="310896" cy="45720"/>
          </a:xfrm>
          <a:prstGeom prst="rect">
            <a:avLst/>
          </a:prstGeom>
          <a:solidFill>
            <a:srgbClr val="DB0011"/>
          </a:solidFill>
          <a:ln/>
        </p:spPr>
      </p:sp>
      <p:sp>
        <p:nvSpPr>
          <p:cNvPr id="10" name="Text 8"/>
          <p:cNvSpPr/>
          <p:nvPr/>
        </p:nvSpPr>
        <p:spPr>
          <a:xfrm>
            <a:off x="4518050" y="2121408"/>
            <a:ext cx="3155594" cy="274320"/>
          </a:xfrm>
          <a:prstGeom prst="rect">
            <a:avLst/>
          </a:prstGeom>
          <a:noFill/>
          <a:ln/>
        </p:spPr>
        <p:txBody>
          <a:bodyPr wrap="square" lIns="0" tIns="0" rIns="0" bIns="0" rtlCol="0" anchor="ctr"/>
          <a:lstStyle/>
          <a:p>
            <a:pPr indent="0" marL="0">
              <a:buNone/>
            </a:pPr>
            <a:r>
              <a:rPr lang="en-US" sz="1150" b="1" dirty="0">
                <a:solidFill>
                  <a:srgbClr val="DB0011"/>
                </a:solidFill>
                <a:latin typeface="Arial" pitchFamily="34" charset="0"/>
                <a:ea typeface="Arial" pitchFamily="34" charset="-122"/>
                <a:cs typeface="Arial" pitchFamily="34" charset="-120"/>
              </a:rPr>
              <a:t>ANTHROPIC</a:t>
            </a:r>
            <a:endParaRPr lang="en-US" sz="1150" dirty="0"/>
          </a:p>
        </p:txBody>
      </p:sp>
      <p:sp>
        <p:nvSpPr>
          <p:cNvPr id="11" name="Text 9"/>
          <p:cNvSpPr/>
          <p:nvPr/>
        </p:nvSpPr>
        <p:spPr>
          <a:xfrm>
            <a:off x="4518050" y="2450592"/>
            <a:ext cx="3155594" cy="777240"/>
          </a:xfrm>
          <a:prstGeom prst="rect">
            <a:avLst/>
          </a:prstGeom>
          <a:noFill/>
          <a:ln/>
        </p:spPr>
        <p:txBody>
          <a:bodyPr wrap="square" lIns="0" tIns="0" rIns="0" bIns="0" rtlCol="0" anchor="t"/>
          <a:lstStyle/>
          <a:p>
            <a:pPr indent="0" marL="0">
              <a:lnSpc>
                <a:spcPct val="122000"/>
              </a:lnSpc>
              <a:buNone/>
            </a:pPr>
            <a:r>
              <a:rPr lang="en-US" sz="1100" i="1" dirty="0">
                <a:solidFill>
                  <a:srgbClr val="FFFFFF"/>
                </a:solidFill>
                <a:latin typeface="Arial" pitchFamily="34" charset="0"/>
                <a:ea typeface="Arial" pitchFamily="34" charset="-122"/>
                <a:cs typeface="Arial" pitchFamily="34" charset="-120"/>
              </a:rPr>
              <a:t>“A prompt like ‘think thoroughly’ often produces better reasoning than a hand-written step-by-step plan.”</a:t>
            </a:r>
            <a:endParaRPr lang="en-US" sz="1100" dirty="0"/>
          </a:p>
        </p:txBody>
      </p:sp>
      <p:sp>
        <p:nvSpPr>
          <p:cNvPr id="12" name="Shape 10"/>
          <p:cNvSpPr/>
          <p:nvPr/>
        </p:nvSpPr>
        <p:spPr>
          <a:xfrm>
            <a:off x="8130845" y="1828800"/>
            <a:ext cx="3557930" cy="1600200"/>
          </a:xfrm>
          <a:prstGeom prst="roundRect">
            <a:avLst>
              <a:gd name="adj" fmla="val 4571"/>
            </a:avLst>
          </a:prstGeom>
          <a:solidFill>
            <a:srgbClr val="1F1F1F"/>
          </a:solidFill>
          <a:ln/>
        </p:spPr>
      </p:sp>
      <p:sp>
        <p:nvSpPr>
          <p:cNvPr id="13" name="Shape 11"/>
          <p:cNvSpPr/>
          <p:nvPr/>
        </p:nvSpPr>
        <p:spPr>
          <a:xfrm>
            <a:off x="8332013" y="2011680"/>
            <a:ext cx="310896" cy="45720"/>
          </a:xfrm>
          <a:prstGeom prst="rect">
            <a:avLst/>
          </a:prstGeom>
          <a:solidFill>
            <a:srgbClr val="DB0011"/>
          </a:solidFill>
          <a:ln/>
        </p:spPr>
      </p:sp>
      <p:sp>
        <p:nvSpPr>
          <p:cNvPr id="14" name="Text 12"/>
          <p:cNvSpPr/>
          <p:nvPr/>
        </p:nvSpPr>
        <p:spPr>
          <a:xfrm>
            <a:off x="8332013" y="2121408"/>
            <a:ext cx="3155594" cy="274320"/>
          </a:xfrm>
          <a:prstGeom prst="rect">
            <a:avLst/>
          </a:prstGeom>
          <a:noFill/>
          <a:ln/>
        </p:spPr>
        <p:txBody>
          <a:bodyPr wrap="square" lIns="0" tIns="0" rIns="0" bIns="0" rtlCol="0" anchor="ctr"/>
          <a:lstStyle/>
          <a:p>
            <a:pPr indent="0" marL="0">
              <a:buNone/>
            </a:pPr>
            <a:r>
              <a:rPr lang="en-US" sz="1150" b="1" dirty="0">
                <a:solidFill>
                  <a:srgbClr val="DB0011"/>
                </a:solidFill>
                <a:latin typeface="Arial" pitchFamily="34" charset="0"/>
                <a:ea typeface="Arial" pitchFamily="34" charset="-122"/>
                <a:cs typeface="Arial" pitchFamily="34" charset="-120"/>
              </a:rPr>
              <a:t>GOOGLE</a:t>
            </a:r>
            <a:endParaRPr lang="en-US" sz="1150" dirty="0"/>
          </a:p>
        </p:txBody>
      </p:sp>
      <p:sp>
        <p:nvSpPr>
          <p:cNvPr id="15" name="Text 13"/>
          <p:cNvSpPr/>
          <p:nvPr/>
        </p:nvSpPr>
        <p:spPr>
          <a:xfrm>
            <a:off x="8332013" y="2450592"/>
            <a:ext cx="3155594" cy="777240"/>
          </a:xfrm>
          <a:prstGeom prst="rect">
            <a:avLst/>
          </a:prstGeom>
          <a:noFill/>
          <a:ln/>
        </p:spPr>
        <p:txBody>
          <a:bodyPr wrap="square" lIns="0" tIns="0" rIns="0" bIns="0" rtlCol="0" anchor="t"/>
          <a:lstStyle/>
          <a:p>
            <a:pPr indent="0" marL="0">
              <a:lnSpc>
                <a:spcPct val="122000"/>
              </a:lnSpc>
              <a:buNone/>
            </a:pPr>
            <a:r>
              <a:rPr lang="en-US" sz="1100" i="1" dirty="0">
                <a:solidFill>
                  <a:srgbClr val="FFFFFF"/>
                </a:solidFill>
                <a:latin typeface="Arial" pitchFamily="34" charset="0"/>
                <a:ea typeface="Arial" pitchFamily="34" charset="-122"/>
                <a:cs typeface="Arial" pitchFamily="34" charset="-120"/>
              </a:rPr>
              <a:t>“Gemini 2.5+ generates internal thinking automatically — no explicit prompting needed.”</a:t>
            </a:r>
            <a:endParaRPr lang="en-US" sz="1100" dirty="0"/>
          </a:p>
        </p:txBody>
      </p:sp>
      <p:sp>
        <p:nvSpPr>
          <p:cNvPr id="16" name="Text 14"/>
          <p:cNvSpPr/>
          <p:nvPr/>
        </p:nvSpPr>
        <p:spPr>
          <a:xfrm>
            <a:off x="502920" y="3611880"/>
            <a:ext cx="11185855" cy="1005840"/>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Arial" pitchFamily="34" charset="0"/>
                <a:ea typeface="Arial" pitchFamily="34" charset="-122"/>
                <a:cs typeface="Arial" pitchFamily="34" charset="-120"/>
              </a:rPr>
              <a:t>Your job has shifted from manufacturing the reasoning process to not interfering with a better one the model already runs internally. Test without heavy scaffolding first — old prompts written for non-reasoning models are a common, quiet source of degraded performance.</a:t>
            </a:r>
            <a:endParaRPr lang="en-US" sz="1400" dirty="0"/>
          </a:p>
        </p:txBody>
      </p:sp>
      <p:sp>
        <p:nvSpPr>
          <p:cNvPr id="17" name="Text 15"/>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B7B9BB"/>
                </a:solidFill>
                <a:latin typeface="Arial" pitchFamily="34" charset="0"/>
                <a:ea typeface="Arial" pitchFamily="34" charset="-122"/>
                <a:cs typeface="Arial" pitchFamily="34" charset="-120"/>
              </a:rPr>
              <a:t>OpenAI — Reasoning Model Best Practices · Anthropic — Claude Prompting Best Practices · Wei et al., 2022</a:t>
            </a:r>
            <a:endParaRPr lang="en-US" sz="900" dirty="0"/>
          </a:p>
        </p:txBody>
      </p:sp>
      <p:sp>
        <p:nvSpPr>
          <p:cNvPr id="18" name="Text 16"/>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B7B9BB"/>
                </a:solidFill>
                <a:latin typeface="Arial" pitchFamily="34" charset="0"/>
                <a:ea typeface="Arial" pitchFamily="34" charset="-122"/>
                <a:cs typeface="Arial" pitchFamily="34" charset="-120"/>
              </a:rPr>
              <a:t>13 / 24</a:t>
            </a:r>
            <a:endParaRPr lang="en-US" sz="900" dirty="0"/>
          </a:p>
        </p:txBody>
      </p:sp>
      <p:sp>
        <p:nvSpPr>
          <p:cNvPr id="19" name="Shape 17"/>
          <p:cNvSpPr/>
          <p:nvPr/>
        </p:nvSpPr>
        <p:spPr>
          <a:xfrm>
            <a:off x="11263579" y="6437376"/>
            <a:ext cx="283464" cy="283464"/>
          </a:xfrm>
          <a:prstGeom prst="rect">
            <a:avLst/>
          </a:prstGeom>
          <a:solidFill>
            <a:srgbClr val="FFFFFF"/>
          </a:solidFill>
          <a:ln/>
        </p:spPr>
      </p:sp>
      <p:sp>
        <p:nvSpPr>
          <p:cNvPr id="20" name="Shape 18"/>
          <p:cNvSpPr/>
          <p:nvPr/>
        </p:nvSpPr>
        <p:spPr>
          <a:xfrm rot="10800000">
            <a:off x="11263579" y="6437376"/>
            <a:ext cx="283464" cy="141732"/>
          </a:xfrm>
          <a:prstGeom prst="triangle">
            <a:avLst/>
          </a:prstGeom>
          <a:solidFill>
            <a:srgbClr val="DB0011"/>
          </a:solidFill>
          <a:ln/>
        </p:spPr>
      </p:sp>
      <p:sp>
        <p:nvSpPr>
          <p:cNvPr id="21" name="Shape 19"/>
          <p:cNvSpPr/>
          <p:nvPr/>
        </p:nvSpPr>
        <p:spPr>
          <a:xfrm>
            <a:off x="11263579" y="6579108"/>
            <a:ext cx="283464" cy="141732"/>
          </a:xfrm>
          <a:prstGeom prst="triangle">
            <a:avLst/>
          </a:prstGeom>
          <a:solidFill>
            <a:srgbClr val="DB0011"/>
          </a:solidFill>
          <a:ln/>
        </p:spPr>
      </p:sp>
      <p:sp>
        <p:nvSpPr>
          <p:cNvPr id="22" name="Shape 20"/>
          <p:cNvSpPr/>
          <p:nvPr/>
        </p:nvSpPr>
        <p:spPr>
          <a:xfrm rot="16200000">
            <a:off x="11121847" y="6437376"/>
            <a:ext cx="141732" cy="283464"/>
          </a:xfrm>
          <a:prstGeom prst="triangle">
            <a:avLst/>
          </a:prstGeom>
          <a:solidFill>
            <a:srgbClr val="DB0011"/>
          </a:solidFill>
          <a:ln/>
        </p:spPr>
      </p:sp>
      <p:sp>
        <p:nvSpPr>
          <p:cNvPr id="23" name="Shape 21"/>
          <p:cNvSpPr/>
          <p:nvPr/>
        </p:nvSpPr>
        <p:spPr>
          <a:xfrm rot="5400000">
            <a:off x="11547043" y="6437376"/>
            <a:ext cx="141732" cy="283464"/>
          </a:xfrm>
          <a:prstGeom prst="triangle">
            <a:avLst/>
          </a:prstGeom>
          <a:solidFill>
            <a:srgbClr val="DB0011"/>
          </a:solidFill>
          <a:ln/>
        </p:spPr>
      </p:sp>
      <p:sp>
        <p:nvSpPr>
          <p:cNvPr id="24" name="Text 22"/>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02920" y="2331720"/>
            <a:ext cx="11185855" cy="457200"/>
          </a:xfrm>
          <a:prstGeom prst="rect">
            <a:avLst/>
          </a:prstGeom>
          <a:noFill/>
          <a:ln/>
        </p:spPr>
        <p:txBody>
          <a:bodyPr wrap="square" lIns="0" tIns="0" rIns="0" bIns="0" rtlCol="0" anchor="ctr"/>
          <a:lstStyle/>
          <a:p>
            <a:pPr indent="0" marL="0">
              <a:buNone/>
            </a:pPr>
            <a:r>
              <a:rPr lang="en-US" sz="1600" b="1" spc="300" kern="0" dirty="0">
                <a:solidFill>
                  <a:srgbClr val="DB0011"/>
                </a:solidFill>
                <a:latin typeface="Arial" pitchFamily="34" charset="0"/>
                <a:ea typeface="Arial" pitchFamily="34" charset="-122"/>
                <a:cs typeface="Arial" pitchFamily="34" charset="-120"/>
              </a:rPr>
              <a:t>PART III</a:t>
            </a:r>
            <a:endParaRPr lang="en-US" sz="1600" dirty="0"/>
          </a:p>
        </p:txBody>
      </p:sp>
      <p:sp>
        <p:nvSpPr>
          <p:cNvPr id="3" name="Text 1"/>
          <p:cNvSpPr/>
          <p:nvPr/>
        </p:nvSpPr>
        <p:spPr>
          <a:xfrm>
            <a:off x="502920" y="2743200"/>
            <a:ext cx="11185855" cy="91440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Beyond the Prompt</a:t>
            </a:r>
            <a:endParaRPr lang="en-US" sz="3800" dirty="0"/>
          </a:p>
        </p:txBody>
      </p:sp>
      <p:sp>
        <p:nvSpPr>
          <p:cNvPr id="4" name="Text 2"/>
          <p:cNvSpPr/>
          <p:nvPr/>
        </p:nvSpPr>
        <p:spPr>
          <a:xfrm>
            <a:off x="502920" y="3611880"/>
            <a:ext cx="9357055" cy="548640"/>
          </a:xfrm>
          <a:prstGeom prst="rect">
            <a:avLst/>
          </a:prstGeom>
          <a:noFill/>
          <a:ln/>
        </p:spPr>
        <p:txBody>
          <a:bodyPr wrap="square" lIns="0" tIns="0" rIns="0" bIns="0" rtlCol="0" anchor="ctr"/>
          <a:lstStyle/>
          <a:p>
            <a:pPr indent="0" marL="0">
              <a:buNone/>
            </a:pPr>
            <a:r>
              <a:rPr lang="en-US" sz="1500" i="1" dirty="0">
                <a:solidFill>
                  <a:srgbClr val="B7B9BB"/>
                </a:solidFill>
                <a:latin typeface="Arial" pitchFamily="34" charset="0"/>
                <a:ea typeface="Arial" pitchFamily="34" charset="-122"/>
                <a:cs typeface="Arial" pitchFamily="34" charset="-120"/>
              </a:rPr>
              <a:t>Context engineering, agentic and tool-using systems, and workflows that span more than one session.</a:t>
            </a:r>
            <a:endParaRPr lang="en-US" sz="1500" dirty="0"/>
          </a:p>
        </p:txBody>
      </p:sp>
      <p:sp>
        <p:nvSpPr>
          <p:cNvPr id="5" name="Shape 3"/>
          <p:cNvSpPr/>
          <p:nvPr/>
        </p:nvSpPr>
        <p:spPr>
          <a:xfrm>
            <a:off x="11263579" y="6437376"/>
            <a:ext cx="283464" cy="283464"/>
          </a:xfrm>
          <a:prstGeom prst="rect">
            <a:avLst/>
          </a:prstGeom>
          <a:solidFill>
            <a:srgbClr val="FFFFFF"/>
          </a:solidFill>
          <a:ln/>
        </p:spPr>
      </p:sp>
      <p:sp>
        <p:nvSpPr>
          <p:cNvPr id="6" name="Shape 4"/>
          <p:cNvSpPr/>
          <p:nvPr/>
        </p:nvSpPr>
        <p:spPr>
          <a:xfrm rot="10800000">
            <a:off x="11263579" y="6437376"/>
            <a:ext cx="283464" cy="141732"/>
          </a:xfrm>
          <a:prstGeom prst="triangle">
            <a:avLst/>
          </a:prstGeom>
          <a:solidFill>
            <a:srgbClr val="DB0011"/>
          </a:solidFill>
          <a:ln/>
        </p:spPr>
      </p:sp>
      <p:sp>
        <p:nvSpPr>
          <p:cNvPr id="7" name="Shape 5"/>
          <p:cNvSpPr/>
          <p:nvPr/>
        </p:nvSpPr>
        <p:spPr>
          <a:xfrm>
            <a:off x="11263579" y="6579108"/>
            <a:ext cx="283464" cy="141732"/>
          </a:xfrm>
          <a:prstGeom prst="triangle">
            <a:avLst/>
          </a:prstGeom>
          <a:solidFill>
            <a:srgbClr val="DB0011"/>
          </a:solidFill>
          <a:ln/>
        </p:spPr>
      </p:sp>
      <p:sp>
        <p:nvSpPr>
          <p:cNvPr id="8" name="Shape 6"/>
          <p:cNvSpPr/>
          <p:nvPr/>
        </p:nvSpPr>
        <p:spPr>
          <a:xfrm rot="16200000">
            <a:off x="11121847" y="6437376"/>
            <a:ext cx="141732" cy="283464"/>
          </a:xfrm>
          <a:prstGeom prst="triangle">
            <a:avLst/>
          </a:prstGeom>
          <a:solidFill>
            <a:srgbClr val="DB0011"/>
          </a:solidFill>
          <a:ln/>
        </p:spPr>
      </p:sp>
      <p:sp>
        <p:nvSpPr>
          <p:cNvPr id="9" name="Shape 7"/>
          <p:cNvSpPr/>
          <p:nvPr/>
        </p:nvSpPr>
        <p:spPr>
          <a:xfrm rot="5400000">
            <a:off x="11547043" y="6437376"/>
            <a:ext cx="141732" cy="283464"/>
          </a:xfrm>
          <a:prstGeom prst="triangle">
            <a:avLst/>
          </a:prstGeom>
          <a:solidFill>
            <a:srgbClr val="DB0011"/>
          </a:solidFill>
          <a:ln/>
        </p:spPr>
      </p:sp>
      <p:sp>
        <p:nvSpPr>
          <p:cNvPr id="10" name="Text 8"/>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B7B9BB"/>
                </a:solidFill>
                <a:latin typeface="Arial" pitchFamily="34" charset="0"/>
                <a:ea typeface="Arial" pitchFamily="34" charset="-122"/>
                <a:cs typeface="Arial" pitchFamily="34" charset="-120"/>
              </a:rPr>
              <a:t>14 / 24</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§6 · THE DISCIPLINE PROMPTING LIVES INSIDE NOW</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400" b="1" dirty="0">
                <a:solidFill>
                  <a:srgbClr val="1A1A1A"/>
                </a:solidFill>
                <a:latin typeface="Arial" pitchFamily="34" charset="0"/>
                <a:ea typeface="Arial" pitchFamily="34" charset="-122"/>
                <a:cs typeface="Arial" pitchFamily="34" charset="-120"/>
              </a:rPr>
              <a:t>Prompt engineering is a subset of context engineering</a:t>
            </a:r>
            <a:endParaRPr lang="en-US" sz="2400" dirty="0"/>
          </a:p>
        </p:txBody>
      </p:sp>
      <p:sp>
        <p:nvSpPr>
          <p:cNvPr id="4" name="Shape 2"/>
          <p:cNvSpPr/>
          <p:nvPr/>
        </p:nvSpPr>
        <p:spPr>
          <a:xfrm>
            <a:off x="1051560" y="1965960"/>
            <a:ext cx="2926080" cy="2926080"/>
          </a:xfrm>
          <a:prstGeom prst="ellipse">
            <a:avLst/>
          </a:prstGeom>
          <a:solidFill>
            <a:srgbClr val="F4F4F5"/>
          </a:solidFill>
          <a:ln w="12700">
            <a:solidFill>
              <a:srgbClr val="D9D9D9"/>
            </a:solidFill>
            <a:prstDash val="solid"/>
          </a:ln>
        </p:spPr>
      </p:sp>
      <p:sp>
        <p:nvSpPr>
          <p:cNvPr id="5" name="Shape 3"/>
          <p:cNvSpPr/>
          <p:nvPr/>
        </p:nvSpPr>
        <p:spPr>
          <a:xfrm>
            <a:off x="1828800" y="2743200"/>
            <a:ext cx="1371600" cy="1371600"/>
          </a:xfrm>
          <a:prstGeom prst="ellipse">
            <a:avLst/>
          </a:prstGeom>
          <a:solidFill>
            <a:srgbClr val="DB0011"/>
          </a:solidFill>
          <a:ln/>
        </p:spPr>
      </p:sp>
      <p:sp>
        <p:nvSpPr>
          <p:cNvPr id="6" name="Text 4"/>
          <p:cNvSpPr/>
          <p:nvPr/>
        </p:nvSpPr>
        <p:spPr>
          <a:xfrm>
            <a:off x="1828800" y="3051810"/>
            <a:ext cx="137160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PROMPT</a:t>
            </a:r>
            <a:endParaRPr lang="en-US" sz="1300" dirty="0"/>
          </a:p>
        </p:txBody>
      </p:sp>
      <p:sp>
        <p:nvSpPr>
          <p:cNvPr id="7" name="Text 5"/>
          <p:cNvSpPr/>
          <p:nvPr/>
        </p:nvSpPr>
        <p:spPr>
          <a:xfrm>
            <a:off x="2011680" y="3355848"/>
            <a:ext cx="1005840" cy="594360"/>
          </a:xfrm>
          <a:prstGeom prst="rect">
            <a:avLst/>
          </a:prstGeom>
          <a:noFill/>
          <a:ln/>
        </p:spPr>
        <p:txBody>
          <a:bodyPr wrap="square" lIns="0" tIns="0" rIns="0" bIns="0" rtlCol="0" anchor="t"/>
          <a:lstStyle/>
          <a:p>
            <a:pPr algn="ctr" indent="0" marL="0">
              <a:lnSpc>
                <a:spcPct val="115000"/>
              </a:lnSpc>
              <a:buNone/>
            </a:pPr>
            <a:r>
              <a:rPr lang="en-US" sz="950" dirty="0">
                <a:solidFill>
                  <a:srgbClr val="FFFFFF"/>
                </a:solidFill>
                <a:latin typeface="Arial" pitchFamily="34" charset="0"/>
                <a:ea typeface="Arial" pitchFamily="34" charset="-122"/>
                <a:cs typeface="Arial" pitchFamily="34" charset="-120"/>
              </a:rPr>
              <a:t>How do I</a:t>
            </a:r>
            <a:endParaRPr lang="en-US" sz="950" dirty="0"/>
          </a:p>
          <a:p>
            <a:pPr algn="ctr" indent="0" marL="0">
              <a:lnSpc>
                <a:spcPct val="115000"/>
              </a:lnSpc>
              <a:buNone/>
            </a:pPr>
            <a:r>
              <a:rPr lang="en-US" sz="950" dirty="0">
                <a:solidFill>
                  <a:srgbClr val="FFFFFF"/>
                </a:solidFill>
                <a:latin typeface="Arial" pitchFamily="34" charset="0"/>
                <a:ea typeface="Arial" pitchFamily="34" charset="-122"/>
                <a:cs typeface="Arial" pitchFamily="34" charset="-120"/>
              </a:rPr>
              <a:t>phrase this?</a:t>
            </a:r>
            <a:endParaRPr lang="en-US" sz="950" dirty="0"/>
          </a:p>
        </p:txBody>
      </p:sp>
      <p:sp>
        <p:nvSpPr>
          <p:cNvPr id="8" name="Text 6"/>
          <p:cNvSpPr/>
          <p:nvPr/>
        </p:nvSpPr>
        <p:spPr>
          <a:xfrm>
            <a:off x="1051560" y="2185416"/>
            <a:ext cx="2926080" cy="365760"/>
          </a:xfrm>
          <a:prstGeom prst="rect">
            <a:avLst/>
          </a:prstGeom>
          <a:noFill/>
          <a:ln/>
        </p:spPr>
        <p:txBody>
          <a:bodyPr wrap="square" lIns="0" tIns="0" rIns="0" bIns="0" rtlCol="0" anchor="ctr"/>
          <a:lstStyle/>
          <a:p>
            <a:pPr algn="ctr" indent="0" marL="0">
              <a:buNone/>
            </a:pPr>
            <a:r>
              <a:rPr lang="en-US" sz="1300" b="1" dirty="0">
                <a:solidFill>
                  <a:srgbClr val="1A1A1A"/>
                </a:solidFill>
                <a:latin typeface="Arial" pitchFamily="34" charset="0"/>
                <a:ea typeface="Arial" pitchFamily="34" charset="-122"/>
                <a:cs typeface="Arial" pitchFamily="34" charset="-120"/>
              </a:rPr>
              <a:t>CONTEXT ENGINEERING</a:t>
            </a:r>
            <a:endParaRPr lang="en-US" sz="1300" dirty="0"/>
          </a:p>
        </p:txBody>
      </p:sp>
      <p:sp>
        <p:nvSpPr>
          <p:cNvPr id="9" name="Text 7"/>
          <p:cNvSpPr/>
          <p:nvPr/>
        </p:nvSpPr>
        <p:spPr>
          <a:xfrm>
            <a:off x="502920" y="5029200"/>
            <a:ext cx="4023360" cy="914400"/>
          </a:xfrm>
          <a:prstGeom prst="rect">
            <a:avLst/>
          </a:prstGeom>
          <a:noFill/>
          <a:ln/>
        </p:spPr>
        <p:txBody>
          <a:bodyPr wrap="square" lIns="0" tIns="0" rIns="0" bIns="0" rtlCol="0" anchor="t"/>
          <a:lstStyle/>
          <a:p>
            <a:pPr indent="0" marL="0">
              <a:lnSpc>
                <a:spcPct val="125000"/>
              </a:lnSpc>
              <a:buNone/>
            </a:pPr>
            <a:r>
              <a:rPr lang="en-US" sz="1100" i="1" dirty="0">
                <a:solidFill>
                  <a:srgbClr val="63666A"/>
                </a:solidFill>
                <a:latin typeface="Arial" pitchFamily="34" charset="0"/>
                <a:ea typeface="Arial" pitchFamily="34" charset="-122"/>
                <a:cs typeface="Arial" pitchFamily="34" charset="-120"/>
              </a:rPr>
              <a:t>Context engineering asks the bigger question: system prompts, retrieved documents, conversation history, tool outputs, and persistent memory — everything the model can see, not just the immediate instruction.</a:t>
            </a:r>
            <a:endParaRPr lang="en-US" sz="1100" dirty="0"/>
          </a:p>
        </p:txBody>
      </p:sp>
      <p:sp>
        <p:nvSpPr>
          <p:cNvPr id="10" name="Shape 8"/>
          <p:cNvSpPr/>
          <p:nvPr/>
        </p:nvSpPr>
        <p:spPr>
          <a:xfrm>
            <a:off x="5486400" y="1965960"/>
            <a:ext cx="6202375" cy="1078992"/>
          </a:xfrm>
          <a:prstGeom prst="roundRect">
            <a:avLst>
              <a:gd name="adj" fmla="val 6780"/>
            </a:avLst>
          </a:prstGeom>
          <a:solidFill>
            <a:srgbClr val="F4F4F5"/>
          </a:solidFill>
          <a:ln/>
        </p:spPr>
      </p:sp>
      <p:sp>
        <p:nvSpPr>
          <p:cNvPr id="11" name="Shape 9"/>
          <p:cNvSpPr/>
          <p:nvPr/>
        </p:nvSpPr>
        <p:spPr>
          <a:xfrm>
            <a:off x="5687568" y="2167128"/>
            <a:ext cx="457200" cy="457200"/>
          </a:xfrm>
          <a:prstGeom prst="ellipse">
            <a:avLst/>
          </a:prstGeom>
          <a:solidFill>
            <a:srgbClr val="DB0011"/>
          </a:solidFill>
          <a:ln/>
        </p:spPr>
      </p:sp>
      <p:pic>
        <p:nvPicPr>
          <p:cNvPr id="12" name="Image 0" descr="preencoded.png">    </p:cNvPr>
          <p:cNvPicPr>
            <a:picLocks noChangeAspect="1"/>
          </p:cNvPicPr>
          <p:nvPr/>
        </p:nvPicPr>
        <p:blipFill>
          <a:blip r:embed="rId1"/>
          <a:stretch>
            <a:fillRect/>
          </a:stretch>
        </p:blipFill>
        <p:spPr>
          <a:xfrm>
            <a:off x="5751576" y="2231136"/>
            <a:ext cx="329184" cy="329184"/>
          </a:xfrm>
          <a:prstGeom prst="rect">
            <a:avLst/>
          </a:prstGeom>
        </p:spPr>
      </p:pic>
      <p:sp>
        <p:nvSpPr>
          <p:cNvPr id="13" name="Text 10"/>
          <p:cNvSpPr/>
          <p:nvPr/>
        </p:nvSpPr>
        <p:spPr>
          <a:xfrm>
            <a:off x="6309360" y="2130552"/>
            <a:ext cx="5196535"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Don't over-stuff “just in case”</a:t>
            </a:r>
            <a:endParaRPr lang="en-US" sz="1400" dirty="0"/>
          </a:p>
        </p:txBody>
      </p:sp>
      <p:sp>
        <p:nvSpPr>
          <p:cNvPr id="14" name="Text 11"/>
          <p:cNvSpPr/>
          <p:nvPr/>
        </p:nvSpPr>
        <p:spPr>
          <a:xfrm>
            <a:off x="6309360" y="2478024"/>
            <a:ext cx="5196535" cy="475488"/>
          </a:xfrm>
          <a:prstGeom prst="rect">
            <a:avLst/>
          </a:prstGeom>
          <a:noFill/>
          <a:ln/>
        </p:spPr>
        <p:txBody>
          <a:bodyPr wrap="square" lIns="0" tIns="0" rIns="0" bIns="0" rtlCol="0" anchor="t"/>
          <a:lstStyle/>
          <a:p>
            <a:pPr indent="0" marL="0">
              <a:lnSpc>
                <a:spcPct val="120000"/>
              </a:lnSpc>
              <a:buNone/>
            </a:pPr>
            <a:r>
              <a:rPr lang="en-US" sz="1150" dirty="0">
                <a:solidFill>
                  <a:srgbClr val="63666A"/>
                </a:solidFill>
                <a:latin typeface="Arial" pitchFamily="34" charset="0"/>
                <a:ea typeface="Arial" pitchFamily="34" charset="-122"/>
                <a:cs typeface="Arial" pitchFamily="34" charset="-120"/>
              </a:rPr>
              <a:t>More context competes for attention and dilutes focus on what's relevant.</a:t>
            </a:r>
            <a:endParaRPr lang="en-US" sz="1150" dirty="0"/>
          </a:p>
        </p:txBody>
      </p:sp>
      <p:sp>
        <p:nvSpPr>
          <p:cNvPr id="15" name="Shape 12"/>
          <p:cNvSpPr/>
          <p:nvPr/>
        </p:nvSpPr>
        <p:spPr>
          <a:xfrm>
            <a:off x="5486400" y="3246120"/>
            <a:ext cx="6202375" cy="1078992"/>
          </a:xfrm>
          <a:prstGeom prst="roundRect">
            <a:avLst>
              <a:gd name="adj" fmla="val 6780"/>
            </a:avLst>
          </a:prstGeom>
          <a:solidFill>
            <a:srgbClr val="F4F4F5"/>
          </a:solidFill>
          <a:ln/>
        </p:spPr>
      </p:sp>
      <p:sp>
        <p:nvSpPr>
          <p:cNvPr id="16" name="Shape 13"/>
          <p:cNvSpPr/>
          <p:nvPr/>
        </p:nvSpPr>
        <p:spPr>
          <a:xfrm>
            <a:off x="5687568" y="3447288"/>
            <a:ext cx="457200" cy="457200"/>
          </a:xfrm>
          <a:prstGeom prst="ellipse">
            <a:avLst/>
          </a:prstGeom>
          <a:solidFill>
            <a:srgbClr val="DB0011"/>
          </a:solidFill>
          <a:ln/>
        </p:spPr>
      </p:sp>
      <p:pic>
        <p:nvPicPr>
          <p:cNvPr id="17" name="Image 1" descr="preencoded.png">    </p:cNvPr>
          <p:cNvPicPr>
            <a:picLocks noChangeAspect="1"/>
          </p:cNvPicPr>
          <p:nvPr/>
        </p:nvPicPr>
        <p:blipFill>
          <a:blip r:embed="rId2"/>
          <a:stretch>
            <a:fillRect/>
          </a:stretch>
        </p:blipFill>
        <p:spPr>
          <a:xfrm>
            <a:off x="5751576" y="3511296"/>
            <a:ext cx="329184" cy="329184"/>
          </a:xfrm>
          <a:prstGeom prst="rect">
            <a:avLst/>
          </a:prstGeom>
        </p:spPr>
      </p:pic>
      <p:sp>
        <p:nvSpPr>
          <p:cNvPr id="18" name="Text 14"/>
          <p:cNvSpPr/>
          <p:nvPr/>
        </p:nvSpPr>
        <p:spPr>
          <a:xfrm>
            <a:off x="6309360" y="3410712"/>
            <a:ext cx="5196535"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Memory is automated re-injection</a:t>
            </a:r>
            <a:endParaRPr lang="en-US" sz="1400" dirty="0"/>
          </a:p>
        </p:txBody>
      </p:sp>
      <p:sp>
        <p:nvSpPr>
          <p:cNvPr id="19" name="Text 15"/>
          <p:cNvSpPr/>
          <p:nvPr/>
        </p:nvSpPr>
        <p:spPr>
          <a:xfrm>
            <a:off x="6309360" y="3758184"/>
            <a:ext cx="5196535" cy="475488"/>
          </a:xfrm>
          <a:prstGeom prst="rect">
            <a:avLst/>
          </a:prstGeom>
          <a:noFill/>
          <a:ln/>
        </p:spPr>
        <p:txBody>
          <a:bodyPr wrap="square" lIns="0" tIns="0" rIns="0" bIns="0" rtlCol="0" anchor="t"/>
          <a:lstStyle/>
          <a:p>
            <a:pPr indent="0" marL="0">
              <a:lnSpc>
                <a:spcPct val="120000"/>
              </a:lnSpc>
              <a:buNone/>
            </a:pPr>
            <a:r>
              <a:rPr lang="en-US" sz="1150" dirty="0">
                <a:solidFill>
                  <a:srgbClr val="63666A"/>
                </a:solidFill>
                <a:latin typeface="Arial" pitchFamily="34" charset="0"/>
                <a:ea typeface="Arial" pitchFamily="34" charset="-122"/>
                <a:cs typeface="Arial" pitchFamily="34" charset="-120"/>
              </a:rPr>
              <a:t>Saved facts get silently prepended to the system prompt — not separate magic.</a:t>
            </a:r>
            <a:endParaRPr lang="en-US" sz="1150" dirty="0"/>
          </a:p>
        </p:txBody>
      </p:sp>
      <p:sp>
        <p:nvSpPr>
          <p:cNvPr id="20" name="Shape 16"/>
          <p:cNvSpPr/>
          <p:nvPr/>
        </p:nvSpPr>
        <p:spPr>
          <a:xfrm>
            <a:off x="5486400" y="4526280"/>
            <a:ext cx="6202375" cy="1078992"/>
          </a:xfrm>
          <a:prstGeom prst="roundRect">
            <a:avLst>
              <a:gd name="adj" fmla="val 6780"/>
            </a:avLst>
          </a:prstGeom>
          <a:solidFill>
            <a:srgbClr val="F4F4F5"/>
          </a:solidFill>
          <a:ln/>
        </p:spPr>
      </p:sp>
      <p:sp>
        <p:nvSpPr>
          <p:cNvPr id="21" name="Shape 17"/>
          <p:cNvSpPr/>
          <p:nvPr/>
        </p:nvSpPr>
        <p:spPr>
          <a:xfrm>
            <a:off x="5687568" y="4727448"/>
            <a:ext cx="457200" cy="457200"/>
          </a:xfrm>
          <a:prstGeom prst="ellipse">
            <a:avLst/>
          </a:prstGeom>
          <a:solidFill>
            <a:srgbClr val="DB0011"/>
          </a:solidFill>
          <a:ln/>
        </p:spPr>
      </p:sp>
      <p:pic>
        <p:nvPicPr>
          <p:cNvPr id="22" name="Image 2" descr="preencoded.png">    </p:cNvPr>
          <p:cNvPicPr>
            <a:picLocks noChangeAspect="1"/>
          </p:cNvPicPr>
          <p:nvPr/>
        </p:nvPicPr>
        <p:blipFill>
          <a:blip r:embed="rId3"/>
          <a:stretch>
            <a:fillRect/>
          </a:stretch>
        </p:blipFill>
        <p:spPr>
          <a:xfrm>
            <a:off x="5751576" y="4791456"/>
            <a:ext cx="329184" cy="329184"/>
          </a:xfrm>
          <a:prstGeom prst="rect">
            <a:avLst/>
          </a:prstGeom>
        </p:spPr>
      </p:pic>
      <p:sp>
        <p:nvSpPr>
          <p:cNvPr id="23" name="Text 18"/>
          <p:cNvSpPr/>
          <p:nvPr/>
        </p:nvSpPr>
        <p:spPr>
          <a:xfrm>
            <a:off x="6309360" y="4690872"/>
            <a:ext cx="5196535"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RAG is context engineering</a:t>
            </a:r>
            <a:endParaRPr lang="en-US" sz="1400" dirty="0"/>
          </a:p>
        </p:txBody>
      </p:sp>
      <p:sp>
        <p:nvSpPr>
          <p:cNvPr id="24" name="Text 19"/>
          <p:cNvSpPr/>
          <p:nvPr/>
        </p:nvSpPr>
        <p:spPr>
          <a:xfrm>
            <a:off x="6309360" y="5038344"/>
            <a:ext cx="5196535" cy="475488"/>
          </a:xfrm>
          <a:prstGeom prst="rect">
            <a:avLst/>
          </a:prstGeom>
          <a:noFill/>
          <a:ln/>
        </p:spPr>
        <p:txBody>
          <a:bodyPr wrap="square" lIns="0" tIns="0" rIns="0" bIns="0" rtlCol="0" anchor="t"/>
          <a:lstStyle/>
          <a:p>
            <a:pPr indent="0" marL="0">
              <a:lnSpc>
                <a:spcPct val="120000"/>
              </a:lnSpc>
              <a:buNone/>
            </a:pPr>
            <a:r>
              <a:rPr lang="en-US" sz="1150" dirty="0">
                <a:solidFill>
                  <a:srgbClr val="63666A"/>
                </a:solidFill>
                <a:latin typeface="Arial" pitchFamily="34" charset="0"/>
                <a:ea typeface="Arial" pitchFamily="34" charset="-122"/>
                <a:cs typeface="Arial" pitchFamily="34" charset="-120"/>
              </a:rPr>
              <a:t>A dynamic way of choosing what goes in context, not a separate discipline.</a:t>
            </a:r>
            <a:endParaRPr lang="en-US" sz="1150" dirty="0"/>
          </a:p>
        </p:txBody>
      </p:sp>
      <p:sp>
        <p:nvSpPr>
          <p:cNvPr id="25" name="Text 20"/>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Elastic — Context Engineering vs. Prompt Engineering</a:t>
            </a:r>
            <a:endParaRPr lang="en-US" sz="900" dirty="0"/>
          </a:p>
        </p:txBody>
      </p:sp>
      <p:sp>
        <p:nvSpPr>
          <p:cNvPr id="26" name="Text 21"/>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15 / 24</a:t>
            </a:r>
            <a:endParaRPr lang="en-US" sz="900" dirty="0"/>
          </a:p>
        </p:txBody>
      </p:sp>
      <p:sp>
        <p:nvSpPr>
          <p:cNvPr id="27" name="Shape 22"/>
          <p:cNvSpPr/>
          <p:nvPr/>
        </p:nvSpPr>
        <p:spPr>
          <a:xfrm>
            <a:off x="11263579" y="6437376"/>
            <a:ext cx="283464" cy="283464"/>
          </a:xfrm>
          <a:prstGeom prst="rect">
            <a:avLst/>
          </a:prstGeom>
          <a:solidFill>
            <a:srgbClr val="FFFFFF"/>
          </a:solidFill>
          <a:ln/>
        </p:spPr>
      </p:sp>
      <p:sp>
        <p:nvSpPr>
          <p:cNvPr id="28" name="Shape 23"/>
          <p:cNvSpPr/>
          <p:nvPr/>
        </p:nvSpPr>
        <p:spPr>
          <a:xfrm rot="10800000">
            <a:off x="11263579" y="6437376"/>
            <a:ext cx="283464" cy="141732"/>
          </a:xfrm>
          <a:prstGeom prst="triangle">
            <a:avLst/>
          </a:prstGeom>
          <a:solidFill>
            <a:srgbClr val="DB0011"/>
          </a:solidFill>
          <a:ln/>
        </p:spPr>
      </p:sp>
      <p:sp>
        <p:nvSpPr>
          <p:cNvPr id="29" name="Shape 24"/>
          <p:cNvSpPr/>
          <p:nvPr/>
        </p:nvSpPr>
        <p:spPr>
          <a:xfrm>
            <a:off x="11263579" y="6579108"/>
            <a:ext cx="283464" cy="141732"/>
          </a:xfrm>
          <a:prstGeom prst="triangle">
            <a:avLst/>
          </a:prstGeom>
          <a:solidFill>
            <a:srgbClr val="DB0011"/>
          </a:solidFill>
          <a:ln/>
        </p:spPr>
      </p:sp>
      <p:sp>
        <p:nvSpPr>
          <p:cNvPr id="30" name="Shape 25"/>
          <p:cNvSpPr/>
          <p:nvPr/>
        </p:nvSpPr>
        <p:spPr>
          <a:xfrm rot="16200000">
            <a:off x="11121847" y="6437376"/>
            <a:ext cx="141732" cy="283464"/>
          </a:xfrm>
          <a:prstGeom prst="triangle">
            <a:avLst/>
          </a:prstGeom>
          <a:solidFill>
            <a:srgbClr val="DB0011"/>
          </a:solidFill>
          <a:ln/>
        </p:spPr>
      </p:sp>
      <p:sp>
        <p:nvSpPr>
          <p:cNvPr id="31" name="Shape 26"/>
          <p:cNvSpPr/>
          <p:nvPr/>
        </p:nvSpPr>
        <p:spPr>
          <a:xfrm rot="5400000">
            <a:off x="11547043" y="6437376"/>
            <a:ext cx="141732" cy="283464"/>
          </a:xfrm>
          <a:prstGeom prst="triangle">
            <a:avLst/>
          </a:prstGeom>
          <a:solidFill>
            <a:srgbClr val="DB0011"/>
          </a:solidFill>
          <a:ln/>
        </p:spPr>
      </p:sp>
      <p:sp>
        <p:nvSpPr>
          <p:cNvPr id="32" name="Text 27"/>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§7 · WIDEST GAP VS. GENERIC PROMPTING CONTENT</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800" b="1" dirty="0">
                <a:solidFill>
                  <a:srgbClr val="1A1A1A"/>
                </a:solidFill>
                <a:latin typeface="Arial" pitchFamily="34" charset="0"/>
                <a:ea typeface="Arial" pitchFamily="34" charset="-122"/>
                <a:cs typeface="Arial" pitchFamily="34" charset="-120"/>
              </a:rPr>
              <a:t>Tool descriptions are prompts</a:t>
            </a:r>
            <a:endParaRPr lang="en-US" sz="2800" dirty="0"/>
          </a:p>
        </p:txBody>
      </p:sp>
      <p:sp>
        <p:nvSpPr>
          <p:cNvPr id="4" name="Text 2"/>
          <p:cNvSpPr/>
          <p:nvPr/>
        </p:nvSpPr>
        <p:spPr>
          <a:xfrm>
            <a:off x="502920" y="1737360"/>
            <a:ext cx="11185855" cy="640080"/>
          </a:xfrm>
          <a:prstGeom prst="rect">
            <a:avLst/>
          </a:prstGeom>
          <a:noFill/>
          <a:ln/>
        </p:spPr>
        <p:txBody>
          <a:bodyPr wrap="square" lIns="0" tIns="0" rIns="0" bIns="0" rtlCol="0" anchor="ctr"/>
          <a:lstStyle/>
          <a:p>
            <a:pPr indent="0" marL="0">
              <a:lnSpc>
                <a:spcPct val="125000"/>
              </a:lnSpc>
              <a:buNone/>
            </a:pPr>
            <a:r>
              <a:rPr lang="en-US" sz="1400" dirty="0">
                <a:solidFill>
                  <a:srgbClr val="1A1A1A"/>
                </a:solidFill>
                <a:latin typeface="Arial" pitchFamily="34" charset="0"/>
                <a:ea typeface="Arial" pitchFamily="34" charset="-122"/>
                <a:cs typeface="Arial" pitchFamily="34" charset="-120"/>
              </a:rPr>
              <a:t>A tool's name, description, and parameter schema are injected directly into the model's context and reasoned over exactly like any other instruction. Treat writing one like onboarding a new team member.</a:t>
            </a:r>
            <a:endParaRPr lang="en-US" sz="1400" dirty="0"/>
          </a:p>
        </p:txBody>
      </p:sp>
      <p:sp>
        <p:nvSpPr>
          <p:cNvPr id="5" name="Shape 3"/>
          <p:cNvSpPr/>
          <p:nvPr/>
        </p:nvSpPr>
        <p:spPr>
          <a:xfrm>
            <a:off x="502920" y="2926080"/>
            <a:ext cx="2604440" cy="2377440"/>
          </a:xfrm>
          <a:prstGeom prst="roundRect">
            <a:avLst>
              <a:gd name="adj" fmla="val 3077"/>
            </a:avLst>
          </a:prstGeom>
          <a:solidFill>
            <a:srgbClr val="F4F4F5"/>
          </a:solidFill>
          <a:ln/>
        </p:spPr>
      </p:sp>
      <p:sp>
        <p:nvSpPr>
          <p:cNvPr id="6" name="Shape 4"/>
          <p:cNvSpPr/>
          <p:nvPr/>
        </p:nvSpPr>
        <p:spPr>
          <a:xfrm>
            <a:off x="704088" y="3108960"/>
            <a:ext cx="457200" cy="457200"/>
          </a:xfrm>
          <a:prstGeom prst="ellipse">
            <a:avLst/>
          </a:prstGeom>
          <a:solidFill>
            <a:srgbClr val="DB0011"/>
          </a:solidFill>
          <a:ln/>
        </p:spPr>
      </p:sp>
      <p:pic>
        <p:nvPicPr>
          <p:cNvPr id="7" name="Image 0" descr="preencoded.png">    </p:cNvPr>
          <p:cNvPicPr>
            <a:picLocks noChangeAspect="1"/>
          </p:cNvPicPr>
          <p:nvPr/>
        </p:nvPicPr>
        <p:blipFill>
          <a:blip r:embed="rId1"/>
          <a:stretch>
            <a:fillRect/>
          </a:stretch>
        </p:blipFill>
        <p:spPr>
          <a:xfrm>
            <a:off x="768096" y="3172968"/>
            <a:ext cx="329184" cy="329184"/>
          </a:xfrm>
          <a:prstGeom prst="rect">
            <a:avLst/>
          </a:prstGeom>
        </p:spPr>
      </p:pic>
      <p:sp>
        <p:nvSpPr>
          <p:cNvPr id="8" name="Text 5"/>
          <p:cNvSpPr/>
          <p:nvPr/>
        </p:nvSpPr>
        <p:spPr>
          <a:xfrm>
            <a:off x="704088" y="365760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Natural-language IDs</a:t>
            </a:r>
            <a:endParaRPr lang="en-US" sz="1400" dirty="0"/>
          </a:p>
        </p:txBody>
      </p:sp>
      <p:sp>
        <p:nvSpPr>
          <p:cNvPr id="9" name="Text 6"/>
          <p:cNvSpPr/>
          <p:nvPr/>
        </p:nvSpPr>
        <p:spPr>
          <a:xfrm>
            <a:off x="704088" y="4005072"/>
            <a:ext cx="2202104" cy="118872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Models handle “user: jane.smith” far more reliably than an opaque UUID.</a:t>
            </a:r>
            <a:endParaRPr lang="en-US" sz="1150" dirty="0"/>
          </a:p>
        </p:txBody>
      </p:sp>
      <p:sp>
        <p:nvSpPr>
          <p:cNvPr id="10" name="Shape 7"/>
          <p:cNvSpPr/>
          <p:nvPr/>
        </p:nvSpPr>
        <p:spPr>
          <a:xfrm>
            <a:off x="3363392" y="2926080"/>
            <a:ext cx="2604440" cy="2377440"/>
          </a:xfrm>
          <a:prstGeom prst="roundRect">
            <a:avLst>
              <a:gd name="adj" fmla="val 3077"/>
            </a:avLst>
          </a:prstGeom>
          <a:solidFill>
            <a:srgbClr val="F4F4F5"/>
          </a:solidFill>
          <a:ln/>
        </p:spPr>
      </p:sp>
      <p:sp>
        <p:nvSpPr>
          <p:cNvPr id="11" name="Shape 8"/>
          <p:cNvSpPr/>
          <p:nvPr/>
        </p:nvSpPr>
        <p:spPr>
          <a:xfrm>
            <a:off x="3564560" y="3108960"/>
            <a:ext cx="457200" cy="457200"/>
          </a:xfrm>
          <a:prstGeom prst="ellipse">
            <a:avLst/>
          </a:prstGeom>
          <a:solidFill>
            <a:srgbClr val="DB0011"/>
          </a:solidFill>
          <a:ln/>
        </p:spPr>
      </p:sp>
      <p:pic>
        <p:nvPicPr>
          <p:cNvPr id="12" name="Image 1" descr="preencoded.png">    </p:cNvPr>
          <p:cNvPicPr>
            <a:picLocks noChangeAspect="1"/>
          </p:cNvPicPr>
          <p:nvPr/>
        </p:nvPicPr>
        <p:blipFill>
          <a:blip r:embed="rId2"/>
          <a:stretch>
            <a:fillRect/>
          </a:stretch>
        </p:blipFill>
        <p:spPr>
          <a:xfrm>
            <a:off x="3628568" y="3172968"/>
            <a:ext cx="329184" cy="329184"/>
          </a:xfrm>
          <a:prstGeom prst="rect">
            <a:avLst/>
          </a:prstGeom>
        </p:spPr>
      </p:pic>
      <p:sp>
        <p:nvSpPr>
          <p:cNvPr id="13" name="Text 9"/>
          <p:cNvSpPr/>
          <p:nvPr/>
        </p:nvSpPr>
        <p:spPr>
          <a:xfrm>
            <a:off x="3564560" y="365760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Fewer, higher-level tools</a:t>
            </a:r>
            <a:endParaRPr lang="en-US" sz="1400" dirty="0"/>
          </a:p>
        </p:txBody>
      </p:sp>
      <p:sp>
        <p:nvSpPr>
          <p:cNvPr id="14" name="Text 10"/>
          <p:cNvSpPr/>
          <p:nvPr/>
        </p:nvSpPr>
        <p:spPr>
          <a:xfrm>
            <a:off x="3564560" y="4005072"/>
            <a:ext cx="2202104" cy="118872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A handful of well-designed tools outperforms comprehensive, granular API coverage.</a:t>
            </a:r>
            <a:endParaRPr lang="en-US" sz="1150" dirty="0"/>
          </a:p>
        </p:txBody>
      </p:sp>
      <p:sp>
        <p:nvSpPr>
          <p:cNvPr id="15" name="Shape 11"/>
          <p:cNvSpPr/>
          <p:nvPr/>
        </p:nvSpPr>
        <p:spPr>
          <a:xfrm>
            <a:off x="6223864" y="2926080"/>
            <a:ext cx="2604440" cy="2377440"/>
          </a:xfrm>
          <a:prstGeom prst="roundRect">
            <a:avLst>
              <a:gd name="adj" fmla="val 3077"/>
            </a:avLst>
          </a:prstGeom>
          <a:solidFill>
            <a:srgbClr val="F4F4F5"/>
          </a:solidFill>
          <a:ln/>
        </p:spPr>
      </p:sp>
      <p:sp>
        <p:nvSpPr>
          <p:cNvPr id="16" name="Shape 12"/>
          <p:cNvSpPr/>
          <p:nvPr/>
        </p:nvSpPr>
        <p:spPr>
          <a:xfrm>
            <a:off x="6425032" y="3108960"/>
            <a:ext cx="457200" cy="457200"/>
          </a:xfrm>
          <a:prstGeom prst="ellipse">
            <a:avLst/>
          </a:prstGeom>
          <a:solidFill>
            <a:srgbClr val="DB0011"/>
          </a:solidFill>
          <a:ln/>
        </p:spPr>
      </p:sp>
      <p:pic>
        <p:nvPicPr>
          <p:cNvPr id="17" name="Image 2" descr="preencoded.png">    </p:cNvPr>
          <p:cNvPicPr>
            <a:picLocks noChangeAspect="1"/>
          </p:cNvPicPr>
          <p:nvPr/>
        </p:nvPicPr>
        <p:blipFill>
          <a:blip r:embed="rId3"/>
          <a:stretch>
            <a:fillRect/>
          </a:stretch>
        </p:blipFill>
        <p:spPr>
          <a:xfrm>
            <a:off x="6489040" y="3172968"/>
            <a:ext cx="329184" cy="329184"/>
          </a:xfrm>
          <a:prstGeom prst="rect">
            <a:avLst/>
          </a:prstGeom>
        </p:spPr>
      </p:pic>
      <p:sp>
        <p:nvSpPr>
          <p:cNvPr id="18" name="Text 13"/>
          <p:cNvSpPr/>
          <p:nvPr/>
        </p:nvSpPr>
        <p:spPr>
          <a:xfrm>
            <a:off x="6425032" y="365760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Namespace by prefix</a:t>
            </a:r>
            <a:endParaRPr lang="en-US" sz="1400" dirty="0"/>
          </a:p>
        </p:txBody>
      </p:sp>
      <p:sp>
        <p:nvSpPr>
          <p:cNvPr id="19" name="Text 14"/>
          <p:cNvSpPr/>
          <p:nvPr/>
        </p:nvSpPr>
        <p:spPr>
          <a:xfrm>
            <a:off x="6425032" y="4005072"/>
            <a:ext cx="2202104" cy="118872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billing_search_invoices, billing_create_credit — reduces tool-selection confusion as count grows.</a:t>
            </a:r>
            <a:endParaRPr lang="en-US" sz="1150" dirty="0"/>
          </a:p>
        </p:txBody>
      </p:sp>
      <p:sp>
        <p:nvSpPr>
          <p:cNvPr id="20" name="Shape 15"/>
          <p:cNvSpPr/>
          <p:nvPr/>
        </p:nvSpPr>
        <p:spPr>
          <a:xfrm>
            <a:off x="9084335" y="2926080"/>
            <a:ext cx="2604440" cy="2377440"/>
          </a:xfrm>
          <a:prstGeom prst="roundRect">
            <a:avLst>
              <a:gd name="adj" fmla="val 3077"/>
            </a:avLst>
          </a:prstGeom>
          <a:solidFill>
            <a:srgbClr val="F4F4F5"/>
          </a:solidFill>
          <a:ln/>
        </p:spPr>
      </p:sp>
      <p:sp>
        <p:nvSpPr>
          <p:cNvPr id="21" name="Shape 16"/>
          <p:cNvSpPr/>
          <p:nvPr/>
        </p:nvSpPr>
        <p:spPr>
          <a:xfrm>
            <a:off x="9285503" y="3108960"/>
            <a:ext cx="457200" cy="457200"/>
          </a:xfrm>
          <a:prstGeom prst="ellipse">
            <a:avLst/>
          </a:prstGeom>
          <a:solidFill>
            <a:srgbClr val="DB0011"/>
          </a:solidFill>
          <a:ln/>
        </p:spPr>
      </p:sp>
      <p:pic>
        <p:nvPicPr>
          <p:cNvPr id="22" name="Image 3" descr="preencoded.png">    </p:cNvPr>
          <p:cNvPicPr>
            <a:picLocks noChangeAspect="1"/>
          </p:cNvPicPr>
          <p:nvPr/>
        </p:nvPicPr>
        <p:blipFill>
          <a:blip r:embed="rId4"/>
          <a:stretch>
            <a:fillRect/>
          </a:stretch>
        </p:blipFill>
        <p:spPr>
          <a:xfrm>
            <a:off x="9349511" y="3172968"/>
            <a:ext cx="329184" cy="329184"/>
          </a:xfrm>
          <a:prstGeom prst="rect">
            <a:avLst/>
          </a:prstGeom>
        </p:spPr>
      </p:pic>
      <p:sp>
        <p:nvSpPr>
          <p:cNvPr id="23" name="Text 17"/>
          <p:cNvSpPr/>
          <p:nvPr/>
        </p:nvSpPr>
        <p:spPr>
          <a:xfrm>
            <a:off x="9285503" y="3657600"/>
            <a:ext cx="2202104" cy="365760"/>
          </a:xfrm>
          <a:prstGeom prst="rect">
            <a:avLst/>
          </a:prstGeom>
          <a:noFill/>
          <a:ln/>
        </p:spPr>
        <p:txBody>
          <a:bodyPr wrap="square" lIns="0" tIns="0" rIns="0" bIns="0" rtlCol="0" anchor="ctr"/>
          <a:lstStyle/>
          <a:p>
            <a:pPr indent="0" marL="0">
              <a:buNone/>
            </a:pPr>
            <a:r>
              <a:rPr lang="en-US" sz="1400" b="1" dirty="0">
                <a:solidFill>
                  <a:srgbClr val="1A1A1A"/>
                </a:solidFill>
                <a:latin typeface="Arial" pitchFamily="34" charset="0"/>
                <a:ea typeface="Arial" pitchFamily="34" charset="-122"/>
                <a:cs typeface="Arial" pitchFamily="34" charset="-120"/>
              </a:rPr>
              <a:t>Return only high-signal data</a:t>
            </a:r>
            <a:endParaRPr lang="en-US" sz="1400" dirty="0"/>
          </a:p>
        </p:txBody>
      </p:sp>
      <p:sp>
        <p:nvSpPr>
          <p:cNvPr id="24" name="Text 18"/>
          <p:cNvSpPr/>
          <p:nvPr/>
        </p:nvSpPr>
        <p:spPr>
          <a:xfrm>
            <a:off x="9285503" y="4005072"/>
            <a:ext cx="2202104" cy="1188720"/>
          </a:xfrm>
          <a:prstGeom prst="rect">
            <a:avLst/>
          </a:prstGeom>
          <a:noFill/>
          <a:ln/>
        </p:spPr>
        <p:txBody>
          <a:bodyPr wrap="square" lIns="0" tIns="0" rIns="0" bIns="0" rtlCol="0" anchor="t"/>
          <a:lstStyle/>
          <a:p>
            <a:pPr indent="0" marL="0">
              <a:lnSpc>
                <a:spcPct val="115000"/>
              </a:lnSpc>
              <a:buNone/>
            </a:pPr>
            <a:r>
              <a:rPr lang="en-US" sz="1150" dirty="0">
                <a:solidFill>
                  <a:srgbClr val="63666A"/>
                </a:solidFill>
                <a:latin typeface="Arial" pitchFamily="34" charset="0"/>
                <a:ea typeface="Arial" pitchFamily="34" charset="-122"/>
                <a:cs typeface="Arial" pitchFamily="34" charset="-120"/>
              </a:rPr>
              <a:t>Every token a tool result adds competes for attention — paginate and filter by default.</a:t>
            </a:r>
            <a:endParaRPr lang="en-US" sz="1150" dirty="0"/>
          </a:p>
        </p:txBody>
      </p:sp>
      <p:sp>
        <p:nvSpPr>
          <p:cNvPr id="25" name="Text 19"/>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Writing Effective Tools for AI Agents</a:t>
            </a:r>
            <a:endParaRPr lang="en-US" sz="900" dirty="0"/>
          </a:p>
        </p:txBody>
      </p:sp>
      <p:sp>
        <p:nvSpPr>
          <p:cNvPr id="26" name="Text 20"/>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16 / 24</a:t>
            </a:r>
            <a:endParaRPr lang="en-US" sz="900" dirty="0"/>
          </a:p>
        </p:txBody>
      </p:sp>
      <p:sp>
        <p:nvSpPr>
          <p:cNvPr id="27" name="Shape 21"/>
          <p:cNvSpPr/>
          <p:nvPr/>
        </p:nvSpPr>
        <p:spPr>
          <a:xfrm>
            <a:off x="11263579" y="6437376"/>
            <a:ext cx="283464" cy="283464"/>
          </a:xfrm>
          <a:prstGeom prst="rect">
            <a:avLst/>
          </a:prstGeom>
          <a:solidFill>
            <a:srgbClr val="FFFFFF"/>
          </a:solidFill>
          <a:ln/>
        </p:spPr>
      </p:sp>
      <p:sp>
        <p:nvSpPr>
          <p:cNvPr id="28" name="Shape 22"/>
          <p:cNvSpPr/>
          <p:nvPr/>
        </p:nvSpPr>
        <p:spPr>
          <a:xfrm rot="10800000">
            <a:off x="11263579" y="6437376"/>
            <a:ext cx="283464" cy="141732"/>
          </a:xfrm>
          <a:prstGeom prst="triangle">
            <a:avLst/>
          </a:prstGeom>
          <a:solidFill>
            <a:srgbClr val="DB0011"/>
          </a:solidFill>
          <a:ln/>
        </p:spPr>
      </p:sp>
      <p:sp>
        <p:nvSpPr>
          <p:cNvPr id="29" name="Shape 23"/>
          <p:cNvSpPr/>
          <p:nvPr/>
        </p:nvSpPr>
        <p:spPr>
          <a:xfrm>
            <a:off x="11263579" y="6579108"/>
            <a:ext cx="283464" cy="141732"/>
          </a:xfrm>
          <a:prstGeom prst="triangle">
            <a:avLst/>
          </a:prstGeom>
          <a:solidFill>
            <a:srgbClr val="DB0011"/>
          </a:solidFill>
          <a:ln/>
        </p:spPr>
      </p:sp>
      <p:sp>
        <p:nvSpPr>
          <p:cNvPr id="30" name="Shape 24"/>
          <p:cNvSpPr/>
          <p:nvPr/>
        </p:nvSpPr>
        <p:spPr>
          <a:xfrm rot="16200000">
            <a:off x="11121847" y="6437376"/>
            <a:ext cx="141732" cy="283464"/>
          </a:xfrm>
          <a:prstGeom prst="triangle">
            <a:avLst/>
          </a:prstGeom>
          <a:solidFill>
            <a:srgbClr val="DB0011"/>
          </a:solidFill>
          <a:ln/>
        </p:spPr>
      </p:sp>
      <p:sp>
        <p:nvSpPr>
          <p:cNvPr id="31" name="Shape 25"/>
          <p:cNvSpPr/>
          <p:nvPr/>
        </p:nvSpPr>
        <p:spPr>
          <a:xfrm rot="5400000">
            <a:off x="11547043" y="6437376"/>
            <a:ext cx="141732" cy="283464"/>
          </a:xfrm>
          <a:prstGeom prst="triangle">
            <a:avLst/>
          </a:prstGeom>
          <a:solidFill>
            <a:srgbClr val="DB0011"/>
          </a:solidFill>
          <a:ln/>
        </p:spPr>
      </p:sp>
      <p:sp>
        <p:nvSpPr>
          <p:cNvPr id="32" name="Text 26"/>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§8 · GENUINELY NEW TERRITORY</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700" b="1" dirty="0">
                <a:solidFill>
                  <a:srgbClr val="1A1A1A"/>
                </a:solidFill>
                <a:latin typeface="Arial" pitchFamily="34" charset="0"/>
                <a:ea typeface="Arial" pitchFamily="34" charset="-122"/>
                <a:cs typeface="Arial" pitchFamily="34" charset="-120"/>
              </a:rPr>
              <a:t>Long-horizon and multi-session workflows</a:t>
            </a:r>
            <a:endParaRPr lang="en-US" sz="2700" dirty="0"/>
          </a:p>
        </p:txBody>
      </p:sp>
      <p:sp>
        <p:nvSpPr>
          <p:cNvPr id="4" name="Shape 2"/>
          <p:cNvSpPr/>
          <p:nvPr/>
        </p:nvSpPr>
        <p:spPr>
          <a:xfrm>
            <a:off x="502920" y="1874520"/>
            <a:ext cx="2487854" cy="2103120"/>
          </a:xfrm>
          <a:prstGeom prst="roundRect">
            <a:avLst>
              <a:gd name="adj" fmla="val 3478"/>
            </a:avLst>
          </a:prstGeom>
          <a:solidFill>
            <a:srgbClr val="F4F4F5"/>
          </a:solidFill>
          <a:ln/>
        </p:spPr>
      </p:sp>
      <p:sp>
        <p:nvSpPr>
          <p:cNvPr id="5" name="Shape 3"/>
          <p:cNvSpPr/>
          <p:nvPr/>
        </p:nvSpPr>
        <p:spPr>
          <a:xfrm>
            <a:off x="667512" y="2039112"/>
            <a:ext cx="365760" cy="365760"/>
          </a:xfrm>
          <a:prstGeom prst="ellipse">
            <a:avLst/>
          </a:prstGeom>
          <a:solidFill>
            <a:srgbClr val="DB0011"/>
          </a:solidFill>
          <a:ln/>
        </p:spPr>
      </p:sp>
      <p:sp>
        <p:nvSpPr>
          <p:cNvPr id="6" name="Text 4"/>
          <p:cNvSpPr/>
          <p:nvPr/>
        </p:nvSpPr>
        <p:spPr>
          <a:xfrm>
            <a:off x="667512"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667512"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Give budget awareness</a:t>
            </a:r>
            <a:endParaRPr lang="en-US" sz="1250" dirty="0"/>
          </a:p>
        </p:txBody>
      </p:sp>
      <p:sp>
        <p:nvSpPr>
          <p:cNvPr id="8" name="Text 6"/>
          <p:cNvSpPr/>
          <p:nvPr/>
        </p:nvSpPr>
        <p:spPr>
          <a:xfrm>
            <a:off x="667512"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Tell the model explicitly how context limits will be handled so it doesn't hurry to finish.</a:t>
            </a:r>
            <a:endParaRPr lang="en-US" sz="1050" dirty="0"/>
          </a:p>
        </p:txBody>
      </p:sp>
      <p:sp>
        <p:nvSpPr>
          <p:cNvPr id="9" name="Shape 7"/>
          <p:cNvSpPr/>
          <p:nvPr/>
        </p:nvSpPr>
        <p:spPr>
          <a:xfrm>
            <a:off x="3027350" y="2843784"/>
            <a:ext cx="338328" cy="164592"/>
          </a:xfrm>
          <a:prstGeom prst="rightArrow">
            <a:avLst/>
          </a:prstGeom>
          <a:solidFill>
            <a:srgbClr val="9FA1A4"/>
          </a:solidFill>
          <a:ln/>
        </p:spPr>
      </p:sp>
      <p:sp>
        <p:nvSpPr>
          <p:cNvPr id="10" name="Shape 8"/>
          <p:cNvSpPr/>
          <p:nvPr/>
        </p:nvSpPr>
        <p:spPr>
          <a:xfrm>
            <a:off x="3402254" y="1874520"/>
            <a:ext cx="2487854" cy="2103120"/>
          </a:xfrm>
          <a:prstGeom prst="roundRect">
            <a:avLst>
              <a:gd name="adj" fmla="val 3478"/>
            </a:avLst>
          </a:prstGeom>
          <a:solidFill>
            <a:srgbClr val="F4F4F5"/>
          </a:solidFill>
          <a:ln/>
        </p:spPr>
      </p:sp>
      <p:sp>
        <p:nvSpPr>
          <p:cNvPr id="11" name="Shape 9"/>
          <p:cNvSpPr/>
          <p:nvPr/>
        </p:nvSpPr>
        <p:spPr>
          <a:xfrm>
            <a:off x="3566846" y="2039112"/>
            <a:ext cx="365760" cy="365760"/>
          </a:xfrm>
          <a:prstGeom prst="ellipse">
            <a:avLst/>
          </a:prstGeom>
          <a:solidFill>
            <a:srgbClr val="DB0011"/>
          </a:solidFill>
          <a:ln/>
        </p:spPr>
      </p:sp>
      <p:sp>
        <p:nvSpPr>
          <p:cNvPr id="12" name="Text 10"/>
          <p:cNvSpPr/>
          <p:nvPr/>
        </p:nvSpPr>
        <p:spPr>
          <a:xfrm>
            <a:off x="3566846"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3566846"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Externalize state</a:t>
            </a:r>
            <a:endParaRPr lang="en-US" sz="1250" dirty="0"/>
          </a:p>
        </p:txBody>
      </p:sp>
      <p:sp>
        <p:nvSpPr>
          <p:cNvPr id="14" name="Text 12"/>
          <p:cNvSpPr/>
          <p:nvPr/>
        </p:nvSpPr>
        <p:spPr>
          <a:xfrm>
            <a:off x="3566846"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Persist progress to a structured, re-readable artifact — a status file or version control.</a:t>
            </a:r>
            <a:endParaRPr lang="en-US" sz="1050" dirty="0"/>
          </a:p>
        </p:txBody>
      </p:sp>
      <p:sp>
        <p:nvSpPr>
          <p:cNvPr id="15" name="Shape 13"/>
          <p:cNvSpPr/>
          <p:nvPr/>
        </p:nvSpPr>
        <p:spPr>
          <a:xfrm>
            <a:off x="5926684" y="2843784"/>
            <a:ext cx="338328" cy="164592"/>
          </a:xfrm>
          <a:prstGeom prst="rightArrow">
            <a:avLst/>
          </a:prstGeom>
          <a:solidFill>
            <a:srgbClr val="9FA1A4"/>
          </a:solidFill>
          <a:ln/>
        </p:spPr>
      </p:sp>
      <p:sp>
        <p:nvSpPr>
          <p:cNvPr id="16" name="Shape 14"/>
          <p:cNvSpPr/>
          <p:nvPr/>
        </p:nvSpPr>
        <p:spPr>
          <a:xfrm>
            <a:off x="6301588" y="1874520"/>
            <a:ext cx="2487854" cy="2103120"/>
          </a:xfrm>
          <a:prstGeom prst="roundRect">
            <a:avLst>
              <a:gd name="adj" fmla="val 3478"/>
            </a:avLst>
          </a:prstGeom>
          <a:solidFill>
            <a:srgbClr val="F4F4F5"/>
          </a:solidFill>
          <a:ln/>
        </p:spPr>
      </p:sp>
      <p:sp>
        <p:nvSpPr>
          <p:cNvPr id="17" name="Shape 15"/>
          <p:cNvSpPr/>
          <p:nvPr/>
        </p:nvSpPr>
        <p:spPr>
          <a:xfrm>
            <a:off x="6466180" y="2039112"/>
            <a:ext cx="365760" cy="365760"/>
          </a:xfrm>
          <a:prstGeom prst="ellipse">
            <a:avLst/>
          </a:prstGeom>
          <a:solidFill>
            <a:srgbClr val="DB0011"/>
          </a:solidFill>
          <a:ln/>
        </p:spPr>
      </p:sp>
      <p:sp>
        <p:nvSpPr>
          <p:cNvPr id="18" name="Text 16"/>
          <p:cNvSpPr/>
          <p:nvPr/>
        </p:nvSpPr>
        <p:spPr>
          <a:xfrm>
            <a:off x="6466180"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6466180"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Scaffold the first session</a:t>
            </a:r>
            <a:endParaRPr lang="en-US" sz="1250" dirty="0"/>
          </a:p>
        </p:txBody>
      </p:sp>
      <p:sp>
        <p:nvSpPr>
          <p:cNvPr id="20" name="Text 18"/>
          <p:cNvSpPr/>
          <p:nvPr/>
        </p:nvSpPr>
        <p:spPr>
          <a:xfrm>
            <a:off x="6466180"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Use it to set up tests and a clear plan that later sessions can pick up and iterate against.</a:t>
            </a:r>
            <a:endParaRPr lang="en-US" sz="1050" dirty="0"/>
          </a:p>
        </p:txBody>
      </p:sp>
      <p:sp>
        <p:nvSpPr>
          <p:cNvPr id="21" name="Shape 19"/>
          <p:cNvSpPr/>
          <p:nvPr/>
        </p:nvSpPr>
        <p:spPr>
          <a:xfrm>
            <a:off x="8826017" y="2843784"/>
            <a:ext cx="338328" cy="164592"/>
          </a:xfrm>
          <a:prstGeom prst="rightArrow">
            <a:avLst/>
          </a:prstGeom>
          <a:solidFill>
            <a:srgbClr val="9FA1A4"/>
          </a:solidFill>
          <a:ln/>
        </p:spPr>
      </p:sp>
      <p:sp>
        <p:nvSpPr>
          <p:cNvPr id="22" name="Shape 20"/>
          <p:cNvSpPr/>
          <p:nvPr/>
        </p:nvSpPr>
        <p:spPr>
          <a:xfrm>
            <a:off x="9200921" y="1874520"/>
            <a:ext cx="2487854" cy="2103120"/>
          </a:xfrm>
          <a:prstGeom prst="roundRect">
            <a:avLst>
              <a:gd name="adj" fmla="val 3478"/>
            </a:avLst>
          </a:prstGeom>
          <a:solidFill>
            <a:srgbClr val="F4F4F5"/>
          </a:solidFill>
          <a:ln/>
        </p:spPr>
      </p:sp>
      <p:sp>
        <p:nvSpPr>
          <p:cNvPr id="23" name="Shape 21"/>
          <p:cNvSpPr/>
          <p:nvPr/>
        </p:nvSpPr>
        <p:spPr>
          <a:xfrm>
            <a:off x="9365513" y="2039112"/>
            <a:ext cx="365760" cy="365760"/>
          </a:xfrm>
          <a:prstGeom prst="ellipse">
            <a:avLst/>
          </a:prstGeom>
          <a:solidFill>
            <a:srgbClr val="DB0011"/>
          </a:solidFill>
          <a:ln/>
        </p:spPr>
      </p:sp>
      <p:sp>
        <p:nvSpPr>
          <p:cNvPr id="24" name="Text 22"/>
          <p:cNvSpPr/>
          <p:nvPr/>
        </p:nvSpPr>
        <p:spPr>
          <a:xfrm>
            <a:off x="9365513"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9365513"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State what's non-negotiable</a:t>
            </a:r>
            <a:endParaRPr lang="en-US" sz="1250" dirty="0"/>
          </a:p>
        </p:txBody>
      </p:sp>
      <p:sp>
        <p:nvSpPr>
          <p:cNvPr id="26" name="Text 24"/>
          <p:cNvSpPr/>
          <p:nvPr/>
        </p:nvSpPr>
        <p:spPr>
          <a:xfrm>
            <a:off x="9365513"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e.g. “don't remove or edit tests to make them pass” — guard against locally-successful shortcuts.</a:t>
            </a:r>
            <a:endParaRPr lang="en-US" sz="1050" dirty="0"/>
          </a:p>
        </p:txBody>
      </p:sp>
      <p:sp>
        <p:nvSpPr>
          <p:cNvPr id="27" name="Text 25"/>
          <p:cNvSpPr/>
          <p:nvPr/>
        </p:nvSpPr>
        <p:spPr>
          <a:xfrm>
            <a:off x="502920" y="4206240"/>
            <a:ext cx="11185855" cy="457200"/>
          </a:xfrm>
          <a:prstGeom prst="rect">
            <a:avLst/>
          </a:prstGeom>
          <a:noFill/>
          <a:ln/>
        </p:spPr>
        <p:txBody>
          <a:bodyPr wrap="square" lIns="0" tIns="0" rIns="0" bIns="0" rtlCol="0" anchor="ctr"/>
          <a:lstStyle/>
          <a:p>
            <a:pPr indent="0" marL="0">
              <a:buNone/>
            </a:pPr>
            <a:r>
              <a:rPr lang="en-US" sz="1300" i="1" dirty="0">
                <a:solidFill>
                  <a:srgbClr val="63666A"/>
                </a:solidFill>
                <a:latin typeface="Arial" pitchFamily="34" charset="0"/>
                <a:ea typeface="Arial" pitchFamily="34" charset="-122"/>
                <a:cs typeface="Arial" pitchFamily="34" charset="-120"/>
              </a:rPr>
              <a:t>Relevant to any workflow that spans more tokens, or more sessions, than fit in one context window.</a:t>
            </a:r>
            <a:endParaRPr lang="en-US" sz="1300" dirty="0"/>
          </a:p>
        </p:txBody>
      </p:sp>
      <p:sp>
        <p:nvSpPr>
          <p:cNvPr id="28" name="Text 26"/>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 Claude Prompting Best Practices (agentic guidance)</a:t>
            </a:r>
            <a:endParaRPr lang="en-US" sz="900" dirty="0"/>
          </a:p>
        </p:txBody>
      </p:sp>
      <p:sp>
        <p:nvSpPr>
          <p:cNvPr id="29" name="Text 27"/>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17 / 24</a:t>
            </a:r>
            <a:endParaRPr lang="en-US" sz="900" dirty="0"/>
          </a:p>
        </p:txBody>
      </p:sp>
      <p:sp>
        <p:nvSpPr>
          <p:cNvPr id="30" name="Shape 28"/>
          <p:cNvSpPr/>
          <p:nvPr/>
        </p:nvSpPr>
        <p:spPr>
          <a:xfrm>
            <a:off x="11263579" y="6437376"/>
            <a:ext cx="283464" cy="283464"/>
          </a:xfrm>
          <a:prstGeom prst="rect">
            <a:avLst/>
          </a:prstGeom>
          <a:solidFill>
            <a:srgbClr val="FFFFFF"/>
          </a:solidFill>
          <a:ln/>
        </p:spPr>
      </p:sp>
      <p:sp>
        <p:nvSpPr>
          <p:cNvPr id="31" name="Shape 29"/>
          <p:cNvSpPr/>
          <p:nvPr/>
        </p:nvSpPr>
        <p:spPr>
          <a:xfrm rot="10800000">
            <a:off x="11263579" y="6437376"/>
            <a:ext cx="283464" cy="141732"/>
          </a:xfrm>
          <a:prstGeom prst="triangle">
            <a:avLst/>
          </a:prstGeom>
          <a:solidFill>
            <a:srgbClr val="DB0011"/>
          </a:solidFill>
          <a:ln/>
        </p:spPr>
      </p:sp>
      <p:sp>
        <p:nvSpPr>
          <p:cNvPr id="32" name="Shape 30"/>
          <p:cNvSpPr/>
          <p:nvPr/>
        </p:nvSpPr>
        <p:spPr>
          <a:xfrm>
            <a:off x="11263579" y="6579108"/>
            <a:ext cx="283464" cy="141732"/>
          </a:xfrm>
          <a:prstGeom prst="triangle">
            <a:avLst/>
          </a:prstGeom>
          <a:solidFill>
            <a:srgbClr val="DB0011"/>
          </a:solidFill>
          <a:ln/>
        </p:spPr>
      </p:sp>
      <p:sp>
        <p:nvSpPr>
          <p:cNvPr id="33" name="Shape 31"/>
          <p:cNvSpPr/>
          <p:nvPr/>
        </p:nvSpPr>
        <p:spPr>
          <a:xfrm rot="16200000">
            <a:off x="11121847" y="6437376"/>
            <a:ext cx="141732" cy="283464"/>
          </a:xfrm>
          <a:prstGeom prst="triangle">
            <a:avLst/>
          </a:prstGeom>
          <a:solidFill>
            <a:srgbClr val="DB0011"/>
          </a:solidFill>
          <a:ln/>
        </p:spPr>
      </p:sp>
      <p:sp>
        <p:nvSpPr>
          <p:cNvPr id="34" name="Shape 32"/>
          <p:cNvSpPr/>
          <p:nvPr/>
        </p:nvSpPr>
        <p:spPr>
          <a:xfrm rot="5400000">
            <a:off x="11547043" y="6437376"/>
            <a:ext cx="141732" cy="283464"/>
          </a:xfrm>
          <a:prstGeom prst="triangle">
            <a:avLst/>
          </a:prstGeom>
          <a:solidFill>
            <a:srgbClr val="DB0011"/>
          </a:solidFill>
          <a:ln/>
        </p:spPr>
      </p:sp>
      <p:sp>
        <p:nvSpPr>
          <p:cNvPr id="35" name="Text 33"/>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502920" y="2194560"/>
            <a:ext cx="11185855" cy="457200"/>
          </a:xfrm>
          <a:prstGeom prst="rect">
            <a:avLst/>
          </a:prstGeom>
          <a:noFill/>
          <a:ln/>
        </p:spPr>
        <p:txBody>
          <a:bodyPr wrap="square" lIns="0" tIns="0" rIns="0" bIns="0" rtlCol="0" anchor="ctr"/>
          <a:lstStyle/>
          <a:p>
            <a:pPr indent="0" marL="0">
              <a:buNone/>
            </a:pPr>
            <a:r>
              <a:rPr lang="en-US" sz="1600" b="1" spc="300" kern="0" dirty="0">
                <a:solidFill>
                  <a:srgbClr val="DB0011"/>
                </a:solidFill>
                <a:latin typeface="Arial" pitchFamily="34" charset="0"/>
                <a:ea typeface="Arial" pitchFamily="34" charset="-122"/>
                <a:cs typeface="Arial" pitchFamily="34" charset="-120"/>
              </a:rPr>
              <a:t>PART IV</a:t>
            </a:r>
            <a:endParaRPr lang="en-US" sz="1600" dirty="0"/>
          </a:p>
        </p:txBody>
      </p:sp>
      <p:sp>
        <p:nvSpPr>
          <p:cNvPr id="3" name="Text 1"/>
          <p:cNvSpPr/>
          <p:nvPr/>
        </p:nvSpPr>
        <p:spPr>
          <a:xfrm>
            <a:off x="502920" y="2606040"/>
            <a:ext cx="11185855" cy="91440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Reliability, Safety &amp; the Playbook</a:t>
            </a:r>
            <a:endParaRPr lang="en-US" sz="3400" dirty="0"/>
          </a:p>
        </p:txBody>
      </p:sp>
      <p:sp>
        <p:nvSpPr>
          <p:cNvPr id="4" name="Text 2"/>
          <p:cNvSpPr/>
          <p:nvPr/>
        </p:nvSpPr>
        <p:spPr>
          <a:xfrm>
            <a:off x="502920" y="3429000"/>
            <a:ext cx="9357055" cy="548640"/>
          </a:xfrm>
          <a:prstGeom prst="rect">
            <a:avLst/>
          </a:prstGeom>
          <a:noFill/>
          <a:ln/>
        </p:spPr>
        <p:txBody>
          <a:bodyPr wrap="square" lIns="0" tIns="0" rIns="0" bIns="0" rtlCol="0" anchor="ctr"/>
          <a:lstStyle/>
          <a:p>
            <a:pPr indent="0" marL="0">
              <a:buNone/>
            </a:pPr>
            <a:r>
              <a:rPr lang="en-US" sz="1500" i="1" dirty="0">
                <a:solidFill>
                  <a:srgbClr val="B7B9BB"/>
                </a:solidFill>
                <a:latin typeface="Arial" pitchFamily="34" charset="0"/>
                <a:ea typeface="Arial" pitchFamily="34" charset="-122"/>
                <a:cs typeface="Arial" pitchFamily="34" charset="-120"/>
              </a:rPr>
              <a:t>Structured output, evaluation, failure modes, a model cheat sheet, and the 80/20 playbook to take with you.</a:t>
            </a:r>
            <a:endParaRPr lang="en-US" sz="1500" dirty="0"/>
          </a:p>
        </p:txBody>
      </p:sp>
      <p:sp>
        <p:nvSpPr>
          <p:cNvPr id="5" name="Shape 3"/>
          <p:cNvSpPr/>
          <p:nvPr/>
        </p:nvSpPr>
        <p:spPr>
          <a:xfrm>
            <a:off x="11263579" y="6437376"/>
            <a:ext cx="283464" cy="283464"/>
          </a:xfrm>
          <a:prstGeom prst="rect">
            <a:avLst/>
          </a:prstGeom>
          <a:solidFill>
            <a:srgbClr val="FFFFFF"/>
          </a:solidFill>
          <a:ln/>
        </p:spPr>
      </p:sp>
      <p:sp>
        <p:nvSpPr>
          <p:cNvPr id="6" name="Shape 4"/>
          <p:cNvSpPr/>
          <p:nvPr/>
        </p:nvSpPr>
        <p:spPr>
          <a:xfrm rot="10800000">
            <a:off x="11263579" y="6437376"/>
            <a:ext cx="283464" cy="141732"/>
          </a:xfrm>
          <a:prstGeom prst="triangle">
            <a:avLst/>
          </a:prstGeom>
          <a:solidFill>
            <a:srgbClr val="DB0011"/>
          </a:solidFill>
          <a:ln/>
        </p:spPr>
      </p:sp>
      <p:sp>
        <p:nvSpPr>
          <p:cNvPr id="7" name="Shape 5"/>
          <p:cNvSpPr/>
          <p:nvPr/>
        </p:nvSpPr>
        <p:spPr>
          <a:xfrm>
            <a:off x="11263579" y="6579108"/>
            <a:ext cx="283464" cy="141732"/>
          </a:xfrm>
          <a:prstGeom prst="triangle">
            <a:avLst/>
          </a:prstGeom>
          <a:solidFill>
            <a:srgbClr val="DB0011"/>
          </a:solidFill>
          <a:ln/>
        </p:spPr>
      </p:sp>
      <p:sp>
        <p:nvSpPr>
          <p:cNvPr id="8" name="Shape 6"/>
          <p:cNvSpPr/>
          <p:nvPr/>
        </p:nvSpPr>
        <p:spPr>
          <a:xfrm rot="16200000">
            <a:off x="11121847" y="6437376"/>
            <a:ext cx="141732" cy="283464"/>
          </a:xfrm>
          <a:prstGeom prst="triangle">
            <a:avLst/>
          </a:prstGeom>
          <a:solidFill>
            <a:srgbClr val="DB0011"/>
          </a:solidFill>
          <a:ln/>
        </p:spPr>
      </p:sp>
      <p:sp>
        <p:nvSpPr>
          <p:cNvPr id="9" name="Shape 7"/>
          <p:cNvSpPr/>
          <p:nvPr/>
        </p:nvSpPr>
        <p:spPr>
          <a:xfrm rot="5400000">
            <a:off x="11547043" y="6437376"/>
            <a:ext cx="141732" cy="283464"/>
          </a:xfrm>
          <a:prstGeom prst="triangle">
            <a:avLst/>
          </a:prstGeom>
          <a:solidFill>
            <a:srgbClr val="DB0011"/>
          </a:solidFill>
          <a:ln/>
        </p:spPr>
      </p:sp>
      <p:sp>
        <p:nvSpPr>
          <p:cNvPr id="10" name="Text 8"/>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B7B9BB"/>
                </a:solidFill>
                <a:latin typeface="Arial" pitchFamily="34" charset="0"/>
                <a:ea typeface="Arial" pitchFamily="34" charset="-122"/>
                <a:cs typeface="Arial" pitchFamily="34" charset="-120"/>
              </a:rPr>
              <a:t>18 / 24</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§9 · RELIABILITY ENGINEERING</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500" b="1" dirty="0">
                <a:solidFill>
                  <a:srgbClr val="1A1A1A"/>
                </a:solidFill>
                <a:latin typeface="Arial" pitchFamily="34" charset="0"/>
                <a:ea typeface="Arial" pitchFamily="34" charset="-122"/>
                <a:cs typeface="Arial" pitchFamily="34" charset="-120"/>
              </a:rPr>
              <a:t>Structured output: a schema, not a polite request</a:t>
            </a:r>
            <a:endParaRPr lang="en-US" sz="2500" dirty="0"/>
          </a:p>
        </p:txBody>
      </p:sp>
      <p:sp>
        <p:nvSpPr>
          <p:cNvPr id="4" name="Shape 2"/>
          <p:cNvSpPr/>
          <p:nvPr/>
        </p:nvSpPr>
        <p:spPr>
          <a:xfrm>
            <a:off x="502920" y="1874520"/>
            <a:ext cx="2487854" cy="2103120"/>
          </a:xfrm>
          <a:prstGeom prst="roundRect">
            <a:avLst>
              <a:gd name="adj" fmla="val 3478"/>
            </a:avLst>
          </a:prstGeom>
          <a:solidFill>
            <a:srgbClr val="F4F4F5"/>
          </a:solidFill>
          <a:ln/>
        </p:spPr>
      </p:sp>
      <p:sp>
        <p:nvSpPr>
          <p:cNvPr id="5" name="Shape 3"/>
          <p:cNvSpPr/>
          <p:nvPr/>
        </p:nvSpPr>
        <p:spPr>
          <a:xfrm>
            <a:off x="667512" y="2039112"/>
            <a:ext cx="365760" cy="365760"/>
          </a:xfrm>
          <a:prstGeom prst="ellipse">
            <a:avLst/>
          </a:prstGeom>
          <a:solidFill>
            <a:srgbClr val="DB0011"/>
          </a:solidFill>
          <a:ln/>
        </p:spPr>
      </p:sp>
      <p:sp>
        <p:nvSpPr>
          <p:cNvPr id="6" name="Text 4"/>
          <p:cNvSpPr/>
          <p:nvPr/>
        </p:nvSpPr>
        <p:spPr>
          <a:xfrm>
            <a:off x="667512"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667512"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Schema-constrained generation</a:t>
            </a:r>
            <a:endParaRPr lang="en-US" sz="1250" dirty="0"/>
          </a:p>
        </p:txBody>
      </p:sp>
      <p:sp>
        <p:nvSpPr>
          <p:cNvPr id="8" name="Text 6"/>
          <p:cNvSpPr/>
          <p:nvPr/>
        </p:nvSpPr>
        <p:spPr>
          <a:xfrm>
            <a:off x="667512"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Use native structured-output modes rather than asking nicely for JSON and hoping.</a:t>
            </a:r>
            <a:endParaRPr lang="en-US" sz="1050" dirty="0"/>
          </a:p>
        </p:txBody>
      </p:sp>
      <p:sp>
        <p:nvSpPr>
          <p:cNvPr id="9" name="Shape 7"/>
          <p:cNvSpPr/>
          <p:nvPr/>
        </p:nvSpPr>
        <p:spPr>
          <a:xfrm>
            <a:off x="3027350" y="2843784"/>
            <a:ext cx="338328" cy="164592"/>
          </a:xfrm>
          <a:prstGeom prst="rightArrow">
            <a:avLst/>
          </a:prstGeom>
          <a:solidFill>
            <a:srgbClr val="9FA1A4"/>
          </a:solidFill>
          <a:ln/>
        </p:spPr>
      </p:sp>
      <p:sp>
        <p:nvSpPr>
          <p:cNvPr id="10" name="Shape 8"/>
          <p:cNvSpPr/>
          <p:nvPr/>
        </p:nvSpPr>
        <p:spPr>
          <a:xfrm>
            <a:off x="3402254" y="1874520"/>
            <a:ext cx="2487854" cy="2103120"/>
          </a:xfrm>
          <a:prstGeom prst="roundRect">
            <a:avLst>
              <a:gd name="adj" fmla="val 3478"/>
            </a:avLst>
          </a:prstGeom>
          <a:solidFill>
            <a:srgbClr val="F4F4F5"/>
          </a:solidFill>
          <a:ln/>
        </p:spPr>
      </p:sp>
      <p:sp>
        <p:nvSpPr>
          <p:cNvPr id="11" name="Shape 9"/>
          <p:cNvSpPr/>
          <p:nvPr/>
        </p:nvSpPr>
        <p:spPr>
          <a:xfrm>
            <a:off x="3566846" y="2039112"/>
            <a:ext cx="365760" cy="365760"/>
          </a:xfrm>
          <a:prstGeom prst="ellipse">
            <a:avLst/>
          </a:prstGeom>
          <a:solidFill>
            <a:srgbClr val="DB0011"/>
          </a:solidFill>
          <a:ln/>
        </p:spPr>
      </p:sp>
      <p:sp>
        <p:nvSpPr>
          <p:cNvPr id="12" name="Text 10"/>
          <p:cNvSpPr/>
          <p:nvPr/>
        </p:nvSpPr>
        <p:spPr>
          <a:xfrm>
            <a:off x="3566846"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3566846"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State the schema explicitly</a:t>
            </a:r>
            <a:endParaRPr lang="en-US" sz="1250" dirty="0"/>
          </a:p>
        </p:txBody>
      </p:sp>
      <p:sp>
        <p:nvSpPr>
          <p:cNvPr id="14" name="Text 12"/>
          <p:cNvSpPr/>
          <p:nvPr/>
        </p:nvSpPr>
        <p:spPr>
          <a:xfrm>
            <a:off x="3566846"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Including what to do with fields that don't apply — null, never a guessed value.</a:t>
            </a:r>
            <a:endParaRPr lang="en-US" sz="1050" dirty="0"/>
          </a:p>
        </p:txBody>
      </p:sp>
      <p:sp>
        <p:nvSpPr>
          <p:cNvPr id="15" name="Shape 13"/>
          <p:cNvSpPr/>
          <p:nvPr/>
        </p:nvSpPr>
        <p:spPr>
          <a:xfrm>
            <a:off x="5926684" y="2843784"/>
            <a:ext cx="338328" cy="164592"/>
          </a:xfrm>
          <a:prstGeom prst="rightArrow">
            <a:avLst/>
          </a:prstGeom>
          <a:solidFill>
            <a:srgbClr val="9FA1A4"/>
          </a:solidFill>
          <a:ln/>
        </p:spPr>
      </p:sp>
      <p:sp>
        <p:nvSpPr>
          <p:cNvPr id="16" name="Shape 14"/>
          <p:cNvSpPr/>
          <p:nvPr/>
        </p:nvSpPr>
        <p:spPr>
          <a:xfrm>
            <a:off x="6301588" y="1874520"/>
            <a:ext cx="2487854" cy="2103120"/>
          </a:xfrm>
          <a:prstGeom prst="roundRect">
            <a:avLst>
              <a:gd name="adj" fmla="val 3478"/>
            </a:avLst>
          </a:prstGeom>
          <a:solidFill>
            <a:srgbClr val="F4F4F5"/>
          </a:solidFill>
          <a:ln/>
        </p:spPr>
      </p:sp>
      <p:sp>
        <p:nvSpPr>
          <p:cNvPr id="17" name="Shape 15"/>
          <p:cNvSpPr/>
          <p:nvPr/>
        </p:nvSpPr>
        <p:spPr>
          <a:xfrm>
            <a:off x="6466180" y="2039112"/>
            <a:ext cx="365760" cy="365760"/>
          </a:xfrm>
          <a:prstGeom prst="ellipse">
            <a:avLst/>
          </a:prstGeom>
          <a:solidFill>
            <a:srgbClr val="DB0011"/>
          </a:solidFill>
          <a:ln/>
        </p:spPr>
      </p:sp>
      <p:sp>
        <p:nvSpPr>
          <p:cNvPr id="18" name="Text 16"/>
          <p:cNvSpPr/>
          <p:nvPr/>
        </p:nvSpPr>
        <p:spPr>
          <a:xfrm>
            <a:off x="6466180"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6466180"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Constrain to an explicit enum</a:t>
            </a:r>
            <a:endParaRPr lang="en-US" sz="1250" dirty="0"/>
          </a:p>
        </p:txBody>
      </p:sp>
      <p:sp>
        <p:nvSpPr>
          <p:cNvPr id="20" name="Text 18"/>
          <p:cNvSpPr/>
          <p:nvPr/>
        </p:nvSpPr>
        <p:spPr>
          <a:xfrm>
            <a:off x="6466180"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For classification tasks — removes an entire category of near-miss parsing failures.</a:t>
            </a:r>
            <a:endParaRPr lang="en-US" sz="1050" dirty="0"/>
          </a:p>
        </p:txBody>
      </p:sp>
      <p:sp>
        <p:nvSpPr>
          <p:cNvPr id="21" name="Shape 19"/>
          <p:cNvSpPr/>
          <p:nvPr/>
        </p:nvSpPr>
        <p:spPr>
          <a:xfrm>
            <a:off x="8826017" y="2843784"/>
            <a:ext cx="338328" cy="164592"/>
          </a:xfrm>
          <a:prstGeom prst="rightArrow">
            <a:avLst/>
          </a:prstGeom>
          <a:solidFill>
            <a:srgbClr val="9FA1A4"/>
          </a:solidFill>
          <a:ln/>
        </p:spPr>
      </p:sp>
      <p:sp>
        <p:nvSpPr>
          <p:cNvPr id="22" name="Shape 20"/>
          <p:cNvSpPr/>
          <p:nvPr/>
        </p:nvSpPr>
        <p:spPr>
          <a:xfrm>
            <a:off x="9200921" y="1874520"/>
            <a:ext cx="2487854" cy="2103120"/>
          </a:xfrm>
          <a:prstGeom prst="roundRect">
            <a:avLst>
              <a:gd name="adj" fmla="val 3478"/>
            </a:avLst>
          </a:prstGeom>
          <a:solidFill>
            <a:srgbClr val="F4F4F5"/>
          </a:solidFill>
          <a:ln/>
        </p:spPr>
      </p:sp>
      <p:sp>
        <p:nvSpPr>
          <p:cNvPr id="23" name="Shape 21"/>
          <p:cNvSpPr/>
          <p:nvPr/>
        </p:nvSpPr>
        <p:spPr>
          <a:xfrm>
            <a:off x="9365513" y="2039112"/>
            <a:ext cx="365760" cy="365760"/>
          </a:xfrm>
          <a:prstGeom prst="ellipse">
            <a:avLst/>
          </a:prstGeom>
          <a:solidFill>
            <a:srgbClr val="DB0011"/>
          </a:solidFill>
          <a:ln/>
        </p:spPr>
      </p:sp>
      <p:sp>
        <p:nvSpPr>
          <p:cNvPr id="24" name="Text 22"/>
          <p:cNvSpPr/>
          <p:nvPr/>
        </p:nvSpPr>
        <p:spPr>
          <a:xfrm>
            <a:off x="9365513"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9365513"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Validate and retry</a:t>
            </a:r>
            <a:endParaRPr lang="en-US" sz="1250" dirty="0"/>
          </a:p>
        </p:txBody>
      </p:sp>
      <p:sp>
        <p:nvSpPr>
          <p:cNvPr id="26" name="Text 24"/>
          <p:cNvSpPr/>
          <p:nvPr/>
        </p:nvSpPr>
        <p:spPr>
          <a:xfrm>
            <a:off x="9365513"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Treat a schema-validation failure as an expected, handled case — not exceptional.</a:t>
            </a:r>
            <a:endParaRPr lang="en-US" sz="1050" dirty="0"/>
          </a:p>
        </p:txBody>
      </p:sp>
      <p:sp>
        <p:nvSpPr>
          <p:cNvPr id="27" name="Text 25"/>
          <p:cNvSpPr/>
          <p:nvPr/>
        </p:nvSpPr>
        <p:spPr>
          <a:xfrm>
            <a:off x="502920" y="4206240"/>
            <a:ext cx="11185855" cy="457200"/>
          </a:xfrm>
          <a:prstGeom prst="rect">
            <a:avLst/>
          </a:prstGeom>
          <a:noFill/>
          <a:ln/>
        </p:spPr>
        <p:txBody>
          <a:bodyPr wrap="square" lIns="0" tIns="0" rIns="0" bIns="0" rtlCol="0" anchor="ctr"/>
          <a:lstStyle/>
          <a:p>
            <a:pPr indent="0" marL="0">
              <a:buNone/>
            </a:pPr>
            <a:r>
              <a:rPr lang="en-US" sz="1300" i="1" dirty="0">
                <a:solidFill>
                  <a:srgbClr val="63666A"/>
                </a:solidFill>
                <a:latin typeface="Arial" pitchFamily="34" charset="0"/>
                <a:ea typeface="Arial" pitchFamily="34" charset="-122"/>
                <a:cs typeface="Arial" pitchFamily="34" charset="-120"/>
              </a:rPr>
              <a:t>Prefill tricks are being deprecated on newer models in favor of real schema constraints — across all major providers now.</a:t>
            </a:r>
            <a:endParaRPr lang="en-US" sz="1300" dirty="0"/>
          </a:p>
        </p:txBody>
      </p:sp>
      <p:sp>
        <p:nvSpPr>
          <p:cNvPr id="28" name="Text 26"/>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OpenAI &amp; Google platform docs — structured output / schema-constrained generation</a:t>
            </a:r>
            <a:endParaRPr lang="en-US" sz="900" dirty="0"/>
          </a:p>
        </p:txBody>
      </p:sp>
      <p:sp>
        <p:nvSpPr>
          <p:cNvPr id="29" name="Text 27"/>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19 / 24</a:t>
            </a:r>
            <a:endParaRPr lang="en-US" sz="900" dirty="0"/>
          </a:p>
        </p:txBody>
      </p:sp>
      <p:sp>
        <p:nvSpPr>
          <p:cNvPr id="30" name="Shape 28"/>
          <p:cNvSpPr/>
          <p:nvPr/>
        </p:nvSpPr>
        <p:spPr>
          <a:xfrm>
            <a:off x="11263579" y="6437376"/>
            <a:ext cx="283464" cy="283464"/>
          </a:xfrm>
          <a:prstGeom prst="rect">
            <a:avLst/>
          </a:prstGeom>
          <a:solidFill>
            <a:srgbClr val="FFFFFF"/>
          </a:solidFill>
          <a:ln/>
        </p:spPr>
      </p:sp>
      <p:sp>
        <p:nvSpPr>
          <p:cNvPr id="31" name="Shape 29"/>
          <p:cNvSpPr/>
          <p:nvPr/>
        </p:nvSpPr>
        <p:spPr>
          <a:xfrm rot="10800000">
            <a:off x="11263579" y="6437376"/>
            <a:ext cx="283464" cy="141732"/>
          </a:xfrm>
          <a:prstGeom prst="triangle">
            <a:avLst/>
          </a:prstGeom>
          <a:solidFill>
            <a:srgbClr val="DB0011"/>
          </a:solidFill>
          <a:ln/>
        </p:spPr>
      </p:sp>
      <p:sp>
        <p:nvSpPr>
          <p:cNvPr id="32" name="Shape 30"/>
          <p:cNvSpPr/>
          <p:nvPr/>
        </p:nvSpPr>
        <p:spPr>
          <a:xfrm>
            <a:off x="11263579" y="6579108"/>
            <a:ext cx="283464" cy="141732"/>
          </a:xfrm>
          <a:prstGeom prst="triangle">
            <a:avLst/>
          </a:prstGeom>
          <a:solidFill>
            <a:srgbClr val="DB0011"/>
          </a:solidFill>
          <a:ln/>
        </p:spPr>
      </p:sp>
      <p:sp>
        <p:nvSpPr>
          <p:cNvPr id="33" name="Shape 31"/>
          <p:cNvSpPr/>
          <p:nvPr/>
        </p:nvSpPr>
        <p:spPr>
          <a:xfrm rot="16200000">
            <a:off x="11121847" y="6437376"/>
            <a:ext cx="141732" cy="283464"/>
          </a:xfrm>
          <a:prstGeom prst="triangle">
            <a:avLst/>
          </a:prstGeom>
          <a:solidFill>
            <a:srgbClr val="DB0011"/>
          </a:solidFill>
          <a:ln/>
        </p:spPr>
      </p:sp>
      <p:sp>
        <p:nvSpPr>
          <p:cNvPr id="34" name="Shape 32"/>
          <p:cNvSpPr/>
          <p:nvPr/>
        </p:nvSpPr>
        <p:spPr>
          <a:xfrm rot="5400000">
            <a:off x="11547043" y="6437376"/>
            <a:ext cx="141732" cy="283464"/>
          </a:xfrm>
          <a:prstGeom prst="triangle">
            <a:avLst/>
          </a:prstGeom>
          <a:solidFill>
            <a:srgbClr val="DB0011"/>
          </a:solidFill>
          <a:ln/>
        </p:spPr>
      </p:sp>
      <p:sp>
        <p:nvSpPr>
          <p:cNvPr id="35" name="Text 33"/>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§10 · TREAT PROMPTS LIKE CODE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300" b="1" dirty="0">
                <a:solidFill>
                  <a:srgbClr val="1A1A1A"/>
                </a:solidFill>
                <a:latin typeface="Arial" pitchFamily="34" charset="0"/>
                <a:ea typeface="Arial" pitchFamily="34" charset="-122"/>
                <a:cs typeface="Arial" pitchFamily="34" charset="-120"/>
              </a:rPr>
              <a:t>A prompt isn't “done” after one good-looking output</a:t>
            </a:r>
            <a:endParaRPr lang="en-US" sz="2300" dirty="0"/>
          </a:p>
        </p:txBody>
      </p:sp>
      <p:sp>
        <p:nvSpPr>
          <p:cNvPr id="4" name="Shape 2"/>
          <p:cNvSpPr/>
          <p:nvPr/>
        </p:nvSpPr>
        <p:spPr>
          <a:xfrm>
            <a:off x="502920" y="1874520"/>
            <a:ext cx="2487854" cy="2103120"/>
          </a:xfrm>
          <a:prstGeom prst="roundRect">
            <a:avLst>
              <a:gd name="adj" fmla="val 3478"/>
            </a:avLst>
          </a:prstGeom>
          <a:solidFill>
            <a:srgbClr val="F4F4F5"/>
          </a:solidFill>
          <a:ln/>
        </p:spPr>
      </p:sp>
      <p:sp>
        <p:nvSpPr>
          <p:cNvPr id="5" name="Shape 3"/>
          <p:cNvSpPr/>
          <p:nvPr/>
        </p:nvSpPr>
        <p:spPr>
          <a:xfrm>
            <a:off x="667512" y="2039112"/>
            <a:ext cx="365760" cy="365760"/>
          </a:xfrm>
          <a:prstGeom prst="ellipse">
            <a:avLst/>
          </a:prstGeom>
          <a:solidFill>
            <a:srgbClr val="DB0011"/>
          </a:solidFill>
          <a:ln/>
        </p:spPr>
      </p:sp>
      <p:sp>
        <p:nvSpPr>
          <p:cNvPr id="6" name="Text 4"/>
          <p:cNvSpPr/>
          <p:nvPr/>
        </p:nvSpPr>
        <p:spPr>
          <a:xfrm>
            <a:off x="667512"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667512"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Build a test set</a:t>
            </a:r>
            <a:endParaRPr lang="en-US" sz="1250" dirty="0"/>
          </a:p>
        </p:txBody>
      </p:sp>
      <p:sp>
        <p:nvSpPr>
          <p:cNvPr id="8" name="Text 6"/>
          <p:cNvSpPr/>
          <p:nvPr/>
        </p:nvSpPr>
        <p:spPr>
          <a:xfrm>
            <a:off x="667512"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Real representative cases plus deliberately adversarial ones.</a:t>
            </a:r>
            <a:endParaRPr lang="en-US" sz="1050" dirty="0"/>
          </a:p>
        </p:txBody>
      </p:sp>
      <p:sp>
        <p:nvSpPr>
          <p:cNvPr id="9" name="Shape 7"/>
          <p:cNvSpPr/>
          <p:nvPr/>
        </p:nvSpPr>
        <p:spPr>
          <a:xfrm>
            <a:off x="3027350" y="2843784"/>
            <a:ext cx="338328" cy="164592"/>
          </a:xfrm>
          <a:prstGeom prst="rightArrow">
            <a:avLst/>
          </a:prstGeom>
          <a:solidFill>
            <a:srgbClr val="9FA1A4"/>
          </a:solidFill>
          <a:ln/>
        </p:spPr>
      </p:sp>
      <p:sp>
        <p:nvSpPr>
          <p:cNvPr id="10" name="Shape 8"/>
          <p:cNvSpPr/>
          <p:nvPr/>
        </p:nvSpPr>
        <p:spPr>
          <a:xfrm>
            <a:off x="3402254" y="1874520"/>
            <a:ext cx="2487854" cy="2103120"/>
          </a:xfrm>
          <a:prstGeom prst="roundRect">
            <a:avLst>
              <a:gd name="adj" fmla="val 3478"/>
            </a:avLst>
          </a:prstGeom>
          <a:solidFill>
            <a:srgbClr val="F4F4F5"/>
          </a:solidFill>
          <a:ln/>
        </p:spPr>
      </p:sp>
      <p:sp>
        <p:nvSpPr>
          <p:cNvPr id="11" name="Shape 9"/>
          <p:cNvSpPr/>
          <p:nvPr/>
        </p:nvSpPr>
        <p:spPr>
          <a:xfrm>
            <a:off x="3566846" y="2039112"/>
            <a:ext cx="365760" cy="365760"/>
          </a:xfrm>
          <a:prstGeom prst="ellipse">
            <a:avLst/>
          </a:prstGeom>
          <a:solidFill>
            <a:srgbClr val="DB0011"/>
          </a:solidFill>
          <a:ln/>
        </p:spPr>
      </p:sp>
      <p:sp>
        <p:nvSpPr>
          <p:cNvPr id="12" name="Text 10"/>
          <p:cNvSpPr/>
          <p:nvPr/>
        </p:nvSpPr>
        <p:spPr>
          <a:xfrm>
            <a:off x="3566846"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3566846"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Run &amp; judge</a:t>
            </a:r>
            <a:endParaRPr lang="en-US" sz="1250" dirty="0"/>
          </a:p>
        </p:txBody>
      </p:sp>
      <p:sp>
        <p:nvSpPr>
          <p:cNvPr id="14" name="Text 12"/>
          <p:cNvSpPr/>
          <p:nvPr/>
        </p:nvSpPr>
        <p:spPr>
          <a:xfrm>
            <a:off x="3566846"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LLM-as-judge: explicit criteria, a scale, calibration examples.</a:t>
            </a:r>
            <a:endParaRPr lang="en-US" sz="1050" dirty="0"/>
          </a:p>
        </p:txBody>
      </p:sp>
      <p:sp>
        <p:nvSpPr>
          <p:cNvPr id="15" name="Shape 13"/>
          <p:cNvSpPr/>
          <p:nvPr/>
        </p:nvSpPr>
        <p:spPr>
          <a:xfrm>
            <a:off x="5926684" y="2843784"/>
            <a:ext cx="338328" cy="164592"/>
          </a:xfrm>
          <a:prstGeom prst="rightArrow">
            <a:avLst/>
          </a:prstGeom>
          <a:solidFill>
            <a:srgbClr val="9FA1A4"/>
          </a:solidFill>
          <a:ln/>
        </p:spPr>
      </p:sp>
      <p:sp>
        <p:nvSpPr>
          <p:cNvPr id="16" name="Shape 14"/>
          <p:cNvSpPr/>
          <p:nvPr/>
        </p:nvSpPr>
        <p:spPr>
          <a:xfrm>
            <a:off x="6301588" y="1874520"/>
            <a:ext cx="2487854" cy="2103120"/>
          </a:xfrm>
          <a:prstGeom prst="roundRect">
            <a:avLst>
              <a:gd name="adj" fmla="val 3478"/>
            </a:avLst>
          </a:prstGeom>
          <a:solidFill>
            <a:srgbClr val="F4F4F5"/>
          </a:solidFill>
          <a:ln/>
        </p:spPr>
      </p:sp>
      <p:sp>
        <p:nvSpPr>
          <p:cNvPr id="17" name="Shape 15"/>
          <p:cNvSpPr/>
          <p:nvPr/>
        </p:nvSpPr>
        <p:spPr>
          <a:xfrm>
            <a:off x="6466180" y="2039112"/>
            <a:ext cx="365760" cy="365760"/>
          </a:xfrm>
          <a:prstGeom prst="ellipse">
            <a:avLst/>
          </a:prstGeom>
          <a:solidFill>
            <a:srgbClr val="DB0011"/>
          </a:solidFill>
          <a:ln/>
        </p:spPr>
      </p:sp>
      <p:sp>
        <p:nvSpPr>
          <p:cNvPr id="18" name="Text 16"/>
          <p:cNvSpPr/>
          <p:nvPr/>
        </p:nvSpPr>
        <p:spPr>
          <a:xfrm>
            <a:off x="6466180"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6466180"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Version it</a:t>
            </a:r>
            <a:endParaRPr lang="en-US" sz="1250" dirty="0"/>
          </a:p>
        </p:txBody>
      </p:sp>
      <p:sp>
        <p:nvSpPr>
          <p:cNvPr id="20" name="Text 18"/>
          <p:cNvSpPr/>
          <p:nvPr/>
        </p:nvSpPr>
        <p:spPr>
          <a:xfrm>
            <a:off x="6466180"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Like code — record why it changed, what it fixed.</a:t>
            </a:r>
            <a:endParaRPr lang="en-US" sz="1050" dirty="0"/>
          </a:p>
        </p:txBody>
      </p:sp>
      <p:sp>
        <p:nvSpPr>
          <p:cNvPr id="21" name="Shape 19"/>
          <p:cNvSpPr/>
          <p:nvPr/>
        </p:nvSpPr>
        <p:spPr>
          <a:xfrm>
            <a:off x="8826017" y="2843784"/>
            <a:ext cx="338328" cy="164592"/>
          </a:xfrm>
          <a:prstGeom prst="rightArrow">
            <a:avLst/>
          </a:prstGeom>
          <a:solidFill>
            <a:srgbClr val="9FA1A4"/>
          </a:solidFill>
          <a:ln/>
        </p:spPr>
      </p:sp>
      <p:sp>
        <p:nvSpPr>
          <p:cNvPr id="22" name="Shape 20"/>
          <p:cNvSpPr/>
          <p:nvPr/>
        </p:nvSpPr>
        <p:spPr>
          <a:xfrm>
            <a:off x="9200921" y="1874520"/>
            <a:ext cx="2487854" cy="2103120"/>
          </a:xfrm>
          <a:prstGeom prst="roundRect">
            <a:avLst>
              <a:gd name="adj" fmla="val 3478"/>
            </a:avLst>
          </a:prstGeom>
          <a:solidFill>
            <a:srgbClr val="F4F4F5"/>
          </a:solidFill>
          <a:ln/>
        </p:spPr>
      </p:sp>
      <p:sp>
        <p:nvSpPr>
          <p:cNvPr id="23" name="Shape 21"/>
          <p:cNvSpPr/>
          <p:nvPr/>
        </p:nvSpPr>
        <p:spPr>
          <a:xfrm>
            <a:off x="9365513" y="2039112"/>
            <a:ext cx="365760" cy="365760"/>
          </a:xfrm>
          <a:prstGeom prst="ellipse">
            <a:avLst/>
          </a:prstGeom>
          <a:solidFill>
            <a:srgbClr val="DB0011"/>
          </a:solidFill>
          <a:ln/>
        </p:spPr>
      </p:sp>
      <p:sp>
        <p:nvSpPr>
          <p:cNvPr id="24" name="Text 22"/>
          <p:cNvSpPr/>
          <p:nvPr/>
        </p:nvSpPr>
        <p:spPr>
          <a:xfrm>
            <a:off x="9365513" y="20391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9365513" y="2496312"/>
            <a:ext cx="2158670" cy="384048"/>
          </a:xfrm>
          <a:prstGeom prst="rect">
            <a:avLst/>
          </a:prstGeom>
          <a:noFill/>
          <a:ln/>
        </p:spPr>
        <p:txBody>
          <a:bodyPr wrap="square" lIns="0" tIns="0" rIns="0" bIns="0" rtlCol="0" anchor="t"/>
          <a:lstStyle/>
          <a:p>
            <a:pPr indent="0" marL="0">
              <a:buNone/>
            </a:pPr>
            <a:r>
              <a:rPr lang="en-US" sz="1250" b="1" dirty="0">
                <a:solidFill>
                  <a:srgbClr val="1A1A1A"/>
                </a:solidFill>
                <a:latin typeface="Arial" pitchFamily="34" charset="0"/>
                <a:ea typeface="Arial" pitchFamily="34" charset="-122"/>
                <a:cs typeface="Arial" pitchFamily="34" charset="-120"/>
              </a:rPr>
              <a:t>Re-test on model changes</a:t>
            </a:r>
            <a:endParaRPr lang="en-US" sz="1250" dirty="0"/>
          </a:p>
        </p:txBody>
      </p:sp>
      <p:sp>
        <p:nvSpPr>
          <p:cNvPr id="26" name="Text 24"/>
          <p:cNvSpPr/>
          <p:nvPr/>
        </p:nvSpPr>
        <p:spPr>
          <a:xfrm>
            <a:off x="9365513" y="2862072"/>
            <a:ext cx="2158670" cy="1005840"/>
          </a:xfrm>
          <a:prstGeom prst="rect">
            <a:avLst/>
          </a:prstGeom>
          <a:noFill/>
          <a:ln/>
        </p:spPr>
        <p:txBody>
          <a:bodyPr wrap="square" lIns="0" tIns="0" rIns="0" bIns="0" rtlCol="0" anchor="t"/>
          <a:lstStyle/>
          <a:p>
            <a:pPr indent="0" marL="0">
              <a:lnSpc>
                <a:spcPct val="115000"/>
              </a:lnSpc>
              <a:buNone/>
            </a:pPr>
            <a:r>
              <a:rPr lang="en-US" sz="1050" dirty="0">
                <a:solidFill>
                  <a:srgbClr val="63666A"/>
                </a:solidFill>
                <a:latin typeface="Arial" pitchFamily="34" charset="0"/>
                <a:ea typeface="Arial" pitchFamily="34" charset="-122"/>
                <a:cs typeface="Arial" pitchFamily="34" charset="-120"/>
              </a:rPr>
              <a:t>Not just when the prompt changes — behavior silently regresses.</a:t>
            </a:r>
            <a:endParaRPr lang="en-US" sz="1050" dirty="0"/>
          </a:p>
        </p:txBody>
      </p:sp>
      <p:sp>
        <p:nvSpPr>
          <p:cNvPr id="27" name="Text 25"/>
          <p:cNvSpPr/>
          <p:nvPr/>
        </p:nvSpPr>
        <p:spPr>
          <a:xfrm>
            <a:off x="502920" y="4206240"/>
            <a:ext cx="11185855" cy="457200"/>
          </a:xfrm>
          <a:prstGeom prst="rect">
            <a:avLst/>
          </a:prstGeom>
          <a:noFill/>
          <a:ln/>
        </p:spPr>
        <p:txBody>
          <a:bodyPr wrap="square" lIns="0" tIns="0" rIns="0" bIns="0" rtlCol="0" anchor="ctr"/>
          <a:lstStyle/>
          <a:p>
            <a:pPr indent="0" marL="0">
              <a:buNone/>
            </a:pPr>
            <a:r>
              <a:rPr lang="en-US" sz="1300" i="1" dirty="0">
                <a:solidFill>
                  <a:srgbClr val="63666A"/>
                </a:solidFill>
                <a:latin typeface="Arial" pitchFamily="34" charset="0"/>
                <a:ea typeface="Arial" pitchFamily="34" charset="-122"/>
                <a:cs typeface="Arial" pitchFamily="34" charset="-120"/>
              </a:rPr>
              <a:t>Step 4 feeds back into step 1 — this is a cycle you repeat, not a checklist you finish once.</a:t>
            </a:r>
            <a:endParaRPr lang="en-US" sz="1300" dirty="0"/>
          </a:p>
        </p:txBody>
      </p:sp>
      <p:sp>
        <p:nvSpPr>
          <p:cNvPr id="28" name="Text 26"/>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Hamel Husain — Using LLM-as-a-Judge for Evaluation</a:t>
            </a:r>
            <a:endParaRPr lang="en-US" sz="900" dirty="0"/>
          </a:p>
        </p:txBody>
      </p:sp>
      <p:sp>
        <p:nvSpPr>
          <p:cNvPr id="29" name="Text 27"/>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20 / 24</a:t>
            </a:r>
            <a:endParaRPr lang="en-US" sz="900" dirty="0"/>
          </a:p>
        </p:txBody>
      </p:sp>
      <p:sp>
        <p:nvSpPr>
          <p:cNvPr id="30" name="Shape 28"/>
          <p:cNvSpPr/>
          <p:nvPr/>
        </p:nvSpPr>
        <p:spPr>
          <a:xfrm>
            <a:off x="11263579" y="6437376"/>
            <a:ext cx="283464" cy="283464"/>
          </a:xfrm>
          <a:prstGeom prst="rect">
            <a:avLst/>
          </a:prstGeom>
          <a:solidFill>
            <a:srgbClr val="FFFFFF"/>
          </a:solidFill>
          <a:ln/>
        </p:spPr>
      </p:sp>
      <p:sp>
        <p:nvSpPr>
          <p:cNvPr id="31" name="Shape 29"/>
          <p:cNvSpPr/>
          <p:nvPr/>
        </p:nvSpPr>
        <p:spPr>
          <a:xfrm rot="10800000">
            <a:off x="11263579" y="6437376"/>
            <a:ext cx="283464" cy="141732"/>
          </a:xfrm>
          <a:prstGeom prst="triangle">
            <a:avLst/>
          </a:prstGeom>
          <a:solidFill>
            <a:srgbClr val="DB0011"/>
          </a:solidFill>
          <a:ln/>
        </p:spPr>
      </p:sp>
      <p:sp>
        <p:nvSpPr>
          <p:cNvPr id="32" name="Shape 30"/>
          <p:cNvSpPr/>
          <p:nvPr/>
        </p:nvSpPr>
        <p:spPr>
          <a:xfrm>
            <a:off x="11263579" y="6579108"/>
            <a:ext cx="283464" cy="141732"/>
          </a:xfrm>
          <a:prstGeom prst="triangle">
            <a:avLst/>
          </a:prstGeom>
          <a:solidFill>
            <a:srgbClr val="DB0011"/>
          </a:solidFill>
          <a:ln/>
        </p:spPr>
      </p:sp>
      <p:sp>
        <p:nvSpPr>
          <p:cNvPr id="33" name="Shape 31"/>
          <p:cNvSpPr/>
          <p:nvPr/>
        </p:nvSpPr>
        <p:spPr>
          <a:xfrm rot="16200000">
            <a:off x="11121847" y="6437376"/>
            <a:ext cx="141732" cy="283464"/>
          </a:xfrm>
          <a:prstGeom prst="triangle">
            <a:avLst/>
          </a:prstGeom>
          <a:solidFill>
            <a:srgbClr val="DB0011"/>
          </a:solidFill>
          <a:ln/>
        </p:spPr>
      </p:sp>
      <p:sp>
        <p:nvSpPr>
          <p:cNvPr id="34" name="Shape 32"/>
          <p:cNvSpPr/>
          <p:nvPr/>
        </p:nvSpPr>
        <p:spPr>
          <a:xfrm rot="5400000">
            <a:off x="11547043" y="6437376"/>
            <a:ext cx="141732" cy="283464"/>
          </a:xfrm>
          <a:prstGeom prst="triangle">
            <a:avLst/>
          </a:prstGeom>
          <a:solidFill>
            <a:srgbClr val="DB0011"/>
          </a:solidFill>
          <a:ln/>
        </p:spPr>
      </p:sp>
      <p:sp>
        <p:nvSpPr>
          <p:cNvPr id="35" name="Text 33"/>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§11 · HALLUCINATION, INJECTION, SECURITY</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300" b="1" dirty="0">
                <a:solidFill>
                  <a:srgbClr val="1A1A1A"/>
                </a:solidFill>
                <a:latin typeface="Arial" pitchFamily="34" charset="0"/>
                <a:ea typeface="Arial" pitchFamily="34" charset="-122"/>
                <a:cs typeface="Arial" pitchFamily="34" charset="-120"/>
              </a:rPr>
              <a:t>Defense in depth — no single layer is sufficient alone</a:t>
            </a:r>
            <a:endParaRPr lang="en-US" sz="2300" dirty="0"/>
          </a:p>
        </p:txBody>
      </p:sp>
      <p:sp>
        <p:nvSpPr>
          <p:cNvPr id="4" name="Shape 2"/>
          <p:cNvSpPr/>
          <p:nvPr/>
        </p:nvSpPr>
        <p:spPr>
          <a:xfrm>
            <a:off x="502920" y="1783080"/>
            <a:ext cx="11185855" cy="658368"/>
          </a:xfrm>
          <a:prstGeom prst="roundRect">
            <a:avLst>
              <a:gd name="adj" fmla="val 11111"/>
            </a:avLst>
          </a:prstGeom>
          <a:solidFill>
            <a:srgbClr val="DB0011"/>
          </a:solidFill>
          <a:ln/>
        </p:spPr>
      </p:sp>
      <p:sp>
        <p:nvSpPr>
          <p:cNvPr id="5" name="Text 3"/>
          <p:cNvSpPr/>
          <p:nvPr/>
        </p:nvSpPr>
        <p:spPr>
          <a:xfrm>
            <a:off x="740664" y="1783080"/>
            <a:ext cx="2377440" cy="658368"/>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Data minimization</a:t>
            </a:r>
            <a:endParaRPr lang="en-US" sz="1250" dirty="0"/>
          </a:p>
        </p:txBody>
      </p:sp>
      <p:sp>
        <p:nvSpPr>
          <p:cNvPr id="6" name="Text 4"/>
          <p:cNvSpPr/>
          <p:nvPr/>
        </p:nvSpPr>
        <p:spPr>
          <a:xfrm>
            <a:off x="3200400" y="1783080"/>
            <a:ext cx="8259775" cy="658368"/>
          </a:xfrm>
          <a:prstGeom prst="rect">
            <a:avLst/>
          </a:prstGeom>
          <a:noFill/>
          <a:ln/>
        </p:spPr>
        <p:txBody>
          <a:bodyPr wrap="square" lIns="0" tIns="0" rIns="0" bIns="0" rtlCol="0" anchor="ctr"/>
          <a:lstStyle/>
          <a:p>
            <a:pPr indent="0" marL="0">
              <a:lnSpc>
                <a:spcPct val="110000"/>
              </a:lnSpc>
              <a:buNone/>
            </a:pPr>
            <a:r>
              <a:rPr lang="en-US" sz="1080" dirty="0">
                <a:solidFill>
                  <a:srgbClr val="FFFFFF"/>
                </a:solidFill>
                <a:latin typeface="Arial" pitchFamily="34" charset="0"/>
                <a:ea typeface="Arial" pitchFamily="34" charset="-122"/>
                <a:cs typeface="Arial" pitchFamily="34" charset="-120"/>
              </a:rPr>
              <a:t>Don't hand the model sensitive data or high-privilege access it doesn't need for the task.</a:t>
            </a:r>
            <a:endParaRPr lang="en-US" sz="1080" dirty="0"/>
          </a:p>
        </p:txBody>
      </p:sp>
      <p:sp>
        <p:nvSpPr>
          <p:cNvPr id="7" name="Shape 5"/>
          <p:cNvSpPr/>
          <p:nvPr/>
        </p:nvSpPr>
        <p:spPr>
          <a:xfrm>
            <a:off x="502920" y="2551176"/>
            <a:ext cx="11185855" cy="658368"/>
          </a:xfrm>
          <a:prstGeom prst="roundRect">
            <a:avLst>
              <a:gd name="adj" fmla="val 11111"/>
            </a:avLst>
          </a:prstGeom>
          <a:solidFill>
            <a:srgbClr val="EFA6AB"/>
          </a:solidFill>
          <a:ln/>
        </p:spPr>
      </p:sp>
      <p:sp>
        <p:nvSpPr>
          <p:cNvPr id="8" name="Text 6"/>
          <p:cNvSpPr/>
          <p:nvPr/>
        </p:nvSpPr>
        <p:spPr>
          <a:xfrm>
            <a:off x="740664" y="2551176"/>
            <a:ext cx="2377440" cy="65836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Explicit guardrails</a:t>
            </a:r>
            <a:endParaRPr lang="en-US" sz="1250" dirty="0"/>
          </a:p>
        </p:txBody>
      </p:sp>
      <p:sp>
        <p:nvSpPr>
          <p:cNvPr id="9" name="Text 7"/>
          <p:cNvSpPr/>
          <p:nvPr/>
        </p:nvSpPr>
        <p:spPr>
          <a:xfrm>
            <a:off x="3200400" y="2551176"/>
            <a:ext cx="8259775" cy="658368"/>
          </a:xfrm>
          <a:prstGeom prst="rect">
            <a:avLst/>
          </a:prstGeom>
          <a:noFill/>
          <a:ln/>
        </p:spPr>
        <p:txBody>
          <a:bodyPr wrap="square" lIns="0" tIns="0" rIns="0" bIns="0" rtlCol="0" anchor="ctr"/>
          <a:lstStyle/>
          <a:p>
            <a:pPr indent="0" marL="0">
              <a:lnSpc>
                <a:spcPct val="110000"/>
              </a:lnSpc>
              <a:buNone/>
            </a:pPr>
            <a:r>
              <a:rPr lang="en-US" sz="1080" dirty="0">
                <a:solidFill>
                  <a:srgbClr val="63666A"/>
                </a:solidFill>
                <a:latin typeface="Arial" pitchFamily="34" charset="0"/>
                <a:ea typeface="Arial" pitchFamily="34" charset="-122"/>
                <a:cs typeface="Arial" pitchFamily="34" charset="-120"/>
              </a:rPr>
              <a:t>State that content inside &lt;document&gt; tags is data to analyze, never instructions — even if phrased as one.</a:t>
            </a:r>
            <a:endParaRPr lang="en-US" sz="1080" dirty="0"/>
          </a:p>
        </p:txBody>
      </p:sp>
      <p:sp>
        <p:nvSpPr>
          <p:cNvPr id="10" name="Shape 8"/>
          <p:cNvSpPr/>
          <p:nvPr/>
        </p:nvSpPr>
        <p:spPr>
          <a:xfrm>
            <a:off x="502920" y="3319272"/>
            <a:ext cx="11185855" cy="658368"/>
          </a:xfrm>
          <a:prstGeom prst="roundRect">
            <a:avLst>
              <a:gd name="adj" fmla="val 11111"/>
            </a:avLst>
          </a:prstGeom>
          <a:solidFill>
            <a:srgbClr val="F4F4F5"/>
          </a:solidFill>
          <a:ln/>
        </p:spPr>
      </p:sp>
      <p:sp>
        <p:nvSpPr>
          <p:cNvPr id="11" name="Text 9"/>
          <p:cNvSpPr/>
          <p:nvPr/>
        </p:nvSpPr>
        <p:spPr>
          <a:xfrm>
            <a:off x="740664" y="3319272"/>
            <a:ext cx="2377440" cy="65836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Execution sandboxing</a:t>
            </a:r>
            <a:endParaRPr lang="en-US" sz="1250" dirty="0"/>
          </a:p>
        </p:txBody>
      </p:sp>
      <p:sp>
        <p:nvSpPr>
          <p:cNvPr id="12" name="Text 10"/>
          <p:cNvSpPr/>
          <p:nvPr/>
        </p:nvSpPr>
        <p:spPr>
          <a:xfrm>
            <a:off x="3200400" y="3319272"/>
            <a:ext cx="8259775" cy="658368"/>
          </a:xfrm>
          <a:prstGeom prst="rect">
            <a:avLst/>
          </a:prstGeom>
          <a:noFill/>
          <a:ln/>
        </p:spPr>
        <p:txBody>
          <a:bodyPr wrap="square" lIns="0" tIns="0" rIns="0" bIns="0" rtlCol="0" anchor="ctr"/>
          <a:lstStyle/>
          <a:p>
            <a:pPr indent="0" marL="0">
              <a:lnSpc>
                <a:spcPct val="110000"/>
              </a:lnSpc>
              <a:buNone/>
            </a:pPr>
            <a:r>
              <a:rPr lang="en-US" sz="1080" dirty="0">
                <a:solidFill>
                  <a:srgbClr val="63666A"/>
                </a:solidFill>
                <a:latin typeface="Arial" pitchFamily="34" charset="0"/>
                <a:ea typeface="Arial" pitchFamily="34" charset="-122"/>
                <a:cs typeface="Arial" pitchFamily="34" charset="-120"/>
              </a:rPr>
              <a:t>Limit what's possible, not just what's instructed — a permission boundary holds even if talked around.</a:t>
            </a:r>
            <a:endParaRPr lang="en-US" sz="1080" dirty="0"/>
          </a:p>
        </p:txBody>
      </p:sp>
      <p:sp>
        <p:nvSpPr>
          <p:cNvPr id="13" name="Shape 11"/>
          <p:cNvSpPr/>
          <p:nvPr/>
        </p:nvSpPr>
        <p:spPr>
          <a:xfrm>
            <a:off x="502920" y="4087368"/>
            <a:ext cx="11185855" cy="658368"/>
          </a:xfrm>
          <a:prstGeom prst="roundRect">
            <a:avLst>
              <a:gd name="adj" fmla="val 11111"/>
            </a:avLst>
          </a:prstGeom>
          <a:solidFill>
            <a:srgbClr val="F4F4F5"/>
          </a:solidFill>
          <a:ln/>
        </p:spPr>
      </p:sp>
      <p:sp>
        <p:nvSpPr>
          <p:cNvPr id="14" name="Text 12"/>
          <p:cNvSpPr/>
          <p:nvPr/>
        </p:nvSpPr>
        <p:spPr>
          <a:xfrm>
            <a:off x="740664" y="4087368"/>
            <a:ext cx="2377440" cy="658368"/>
          </a:xfrm>
          <a:prstGeom prst="rect">
            <a:avLst/>
          </a:prstGeom>
          <a:noFill/>
          <a:ln/>
        </p:spPr>
        <p:txBody>
          <a:bodyPr wrap="square" lIns="0" tIns="0" rIns="0" bIns="0" rtlCol="0" anchor="ctr"/>
          <a:lstStyle/>
          <a:p>
            <a:pPr indent="0" marL="0">
              <a:buNone/>
            </a:pPr>
            <a:r>
              <a:rPr lang="en-US" sz="1250" b="1" dirty="0">
                <a:solidFill>
                  <a:srgbClr val="1A1A1A"/>
                </a:solidFill>
                <a:latin typeface="Arial" pitchFamily="34" charset="0"/>
                <a:ea typeface="Arial" pitchFamily="34" charset="-122"/>
                <a:cs typeface="Arial" pitchFamily="34" charset="-120"/>
              </a:rPr>
              <a:t>Monitoring &amp; tracing</a:t>
            </a:r>
            <a:endParaRPr lang="en-US" sz="1250" dirty="0"/>
          </a:p>
        </p:txBody>
      </p:sp>
      <p:sp>
        <p:nvSpPr>
          <p:cNvPr id="15" name="Text 13"/>
          <p:cNvSpPr/>
          <p:nvPr/>
        </p:nvSpPr>
        <p:spPr>
          <a:xfrm>
            <a:off x="3200400" y="4087368"/>
            <a:ext cx="8259775" cy="658368"/>
          </a:xfrm>
          <a:prstGeom prst="rect">
            <a:avLst/>
          </a:prstGeom>
          <a:noFill/>
          <a:ln/>
        </p:spPr>
        <p:txBody>
          <a:bodyPr wrap="square" lIns="0" tIns="0" rIns="0" bIns="0" rtlCol="0" anchor="ctr"/>
          <a:lstStyle/>
          <a:p>
            <a:pPr indent="0" marL="0">
              <a:lnSpc>
                <a:spcPct val="110000"/>
              </a:lnSpc>
              <a:buNone/>
            </a:pPr>
            <a:r>
              <a:rPr lang="en-US" sz="1080" dirty="0">
                <a:solidFill>
                  <a:srgbClr val="63666A"/>
                </a:solidFill>
                <a:latin typeface="Arial" pitchFamily="34" charset="0"/>
                <a:ea typeface="Arial" pitchFamily="34" charset="-122"/>
                <a:cs typeface="Arial" pitchFamily="34" charset="-120"/>
              </a:rPr>
              <a:t>Log what was in context and what action followed, so an injection attempt is auditable after the fact.</a:t>
            </a:r>
            <a:endParaRPr lang="en-US" sz="1080" dirty="0"/>
          </a:p>
        </p:txBody>
      </p:sp>
      <p:sp>
        <p:nvSpPr>
          <p:cNvPr id="16" name="Text 14"/>
          <p:cNvSpPr/>
          <p:nvPr/>
        </p:nvSpPr>
        <p:spPr>
          <a:xfrm>
            <a:off x="502920" y="4937760"/>
            <a:ext cx="11185855" cy="502920"/>
          </a:xfrm>
          <a:prstGeom prst="rect">
            <a:avLst/>
          </a:prstGeom>
          <a:noFill/>
          <a:ln/>
        </p:spPr>
        <p:txBody>
          <a:bodyPr wrap="square" lIns="0" tIns="0" rIns="0" bIns="0" rtlCol="0" anchor="ctr"/>
          <a:lstStyle/>
          <a:p>
            <a:pPr indent="0" marL="0">
              <a:lnSpc>
                <a:spcPct val="120000"/>
              </a:lnSpc>
              <a:buNone/>
            </a:pPr>
            <a:r>
              <a:rPr lang="en-US" sz="1250" dirty="0">
                <a:solidFill>
                  <a:srgbClr val="63666A"/>
                </a:solidFill>
                <a:latin typeface="Arial" pitchFamily="34" charset="0"/>
                <a:ea typeface="Arial" pitchFamily="34" charset="-122"/>
                <a:cs typeface="Arial" pitchFamily="34" charset="-120"/>
              </a:rPr>
              <a:t>Prompt injection is ranked </a:t>
            </a:r>
            <a:pPr indent="0" marL="0">
              <a:lnSpc>
                <a:spcPct val="120000"/>
              </a:lnSpc>
              <a:buNone/>
            </a:pPr>
            <a:r>
              <a:rPr lang="en-US" sz="1250" b="1" dirty="0">
                <a:solidFill>
                  <a:srgbClr val="DB0011"/>
                </a:solidFill>
                <a:latin typeface="Arial" pitchFamily="34" charset="0"/>
                <a:ea typeface="Arial" pitchFamily="34" charset="-122"/>
                <a:cs typeface="Arial" pitchFamily="34" charset="-120"/>
              </a:rPr>
              <a:t>#1 in OWASP's Top 10 for LLM Applications</a:t>
            </a:r>
            <a:pPr indent="0" marL="0">
              <a:lnSpc>
                <a:spcPct val="120000"/>
              </a:lnSpc>
              <a:buNone/>
            </a:pPr>
            <a:r>
              <a:rPr lang="en-US" sz="1250" dirty="0">
                <a:solidFill>
                  <a:srgbClr val="63666A"/>
                </a:solidFill>
                <a:latin typeface="Arial" pitchFamily="34" charset="0"/>
                <a:ea typeface="Arial" pitchFamily="34" charset="-122"/>
                <a:cs typeface="Arial" pitchFamily="34" charset="-120"/>
              </a:rPr>
              <a:t>. Hallucination mitigations: ground in supplied material, ask for quotes before conclusions, explicitly permit “I don't know.”</a:t>
            </a:r>
            <a:endParaRPr lang="en-US" sz="1250" dirty="0"/>
          </a:p>
        </p:txBody>
      </p:sp>
      <p:sp>
        <p:nvSpPr>
          <p:cNvPr id="17" name="Text 15"/>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OWASP Top 10 for LLM Applications</a:t>
            </a:r>
            <a:endParaRPr lang="en-US" sz="900" dirty="0"/>
          </a:p>
        </p:txBody>
      </p:sp>
      <p:sp>
        <p:nvSpPr>
          <p:cNvPr id="18" name="Text 16"/>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21 / 24</a:t>
            </a:r>
            <a:endParaRPr lang="en-US" sz="900" dirty="0"/>
          </a:p>
        </p:txBody>
      </p:sp>
      <p:sp>
        <p:nvSpPr>
          <p:cNvPr id="19" name="Shape 17"/>
          <p:cNvSpPr/>
          <p:nvPr/>
        </p:nvSpPr>
        <p:spPr>
          <a:xfrm>
            <a:off x="11263579" y="6437376"/>
            <a:ext cx="283464" cy="283464"/>
          </a:xfrm>
          <a:prstGeom prst="rect">
            <a:avLst/>
          </a:prstGeom>
          <a:solidFill>
            <a:srgbClr val="FFFFFF"/>
          </a:solidFill>
          <a:ln/>
        </p:spPr>
      </p:sp>
      <p:sp>
        <p:nvSpPr>
          <p:cNvPr id="20" name="Shape 18"/>
          <p:cNvSpPr/>
          <p:nvPr/>
        </p:nvSpPr>
        <p:spPr>
          <a:xfrm rot="10800000">
            <a:off x="11263579" y="6437376"/>
            <a:ext cx="283464" cy="141732"/>
          </a:xfrm>
          <a:prstGeom prst="triangle">
            <a:avLst/>
          </a:prstGeom>
          <a:solidFill>
            <a:srgbClr val="DB0011"/>
          </a:solidFill>
          <a:ln/>
        </p:spPr>
      </p:sp>
      <p:sp>
        <p:nvSpPr>
          <p:cNvPr id="21" name="Shape 19"/>
          <p:cNvSpPr/>
          <p:nvPr/>
        </p:nvSpPr>
        <p:spPr>
          <a:xfrm>
            <a:off x="11263579" y="6579108"/>
            <a:ext cx="283464" cy="141732"/>
          </a:xfrm>
          <a:prstGeom prst="triangle">
            <a:avLst/>
          </a:prstGeom>
          <a:solidFill>
            <a:srgbClr val="DB0011"/>
          </a:solidFill>
          <a:ln/>
        </p:spPr>
      </p:sp>
      <p:sp>
        <p:nvSpPr>
          <p:cNvPr id="22" name="Shape 20"/>
          <p:cNvSpPr/>
          <p:nvPr/>
        </p:nvSpPr>
        <p:spPr>
          <a:xfrm rot="16200000">
            <a:off x="11121847" y="6437376"/>
            <a:ext cx="141732" cy="283464"/>
          </a:xfrm>
          <a:prstGeom prst="triangle">
            <a:avLst/>
          </a:prstGeom>
          <a:solidFill>
            <a:srgbClr val="DB0011"/>
          </a:solidFill>
          <a:ln/>
        </p:spPr>
      </p:sp>
      <p:sp>
        <p:nvSpPr>
          <p:cNvPr id="23" name="Shape 21"/>
          <p:cNvSpPr/>
          <p:nvPr/>
        </p:nvSpPr>
        <p:spPr>
          <a:xfrm rot="5400000">
            <a:off x="11547043" y="6437376"/>
            <a:ext cx="141732" cy="283464"/>
          </a:xfrm>
          <a:prstGeom prst="triangle">
            <a:avLst/>
          </a:prstGeom>
          <a:solidFill>
            <a:srgbClr val="DB0011"/>
          </a:solidFill>
          <a:ln/>
        </p:spPr>
      </p:sp>
      <p:sp>
        <p:nvSpPr>
          <p:cNvPr id="24" name="Text 22"/>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§12 · SNAPSHOT — AUGUST 2026</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2900" b="1" dirty="0">
                <a:solidFill>
                  <a:srgbClr val="1A1A1A"/>
                </a:solidFill>
                <a:latin typeface="Arial" pitchFamily="34" charset="0"/>
                <a:ea typeface="Arial" pitchFamily="34" charset="-122"/>
                <a:cs typeface="Arial" pitchFamily="34" charset="-120"/>
              </a:rPr>
              <a:t>Model family cheat sheet</a:t>
            </a:r>
            <a:endParaRPr lang="en-US" sz="2900" dirty="0"/>
          </a:p>
        </p:txBody>
      </p:sp>
      <p:sp>
        <p:nvSpPr>
          <p:cNvPr id="4" name="Shape 2"/>
          <p:cNvSpPr/>
          <p:nvPr/>
        </p:nvSpPr>
        <p:spPr>
          <a:xfrm>
            <a:off x="502920" y="1783080"/>
            <a:ext cx="2796464" cy="457200"/>
          </a:xfrm>
          <a:prstGeom prst="rect">
            <a:avLst/>
          </a:prstGeom>
          <a:solidFill>
            <a:srgbClr val="141414"/>
          </a:solidFill>
          <a:ln w="12700">
            <a:solidFill>
              <a:srgbClr val="FFFFFF"/>
            </a:solidFill>
            <a:prstDash val="solid"/>
          </a:ln>
        </p:spPr>
      </p:sp>
      <p:sp>
        <p:nvSpPr>
          <p:cNvPr id="5" name="Text 3"/>
          <p:cNvSpPr/>
          <p:nvPr/>
        </p:nvSpPr>
        <p:spPr>
          <a:xfrm>
            <a:off x="502920" y="1783080"/>
            <a:ext cx="2796464" cy="457200"/>
          </a:xfrm>
          <a:prstGeom prst="rect">
            <a:avLst/>
          </a:prstGeom>
          <a:noFill/>
          <a:ln/>
        </p:spPr>
        <p:txBody>
          <a:bodyPr wrap="square" lIns="0" tIns="0" rIns="0" bIns="0" rtlCol="0" anchor="ctr"/>
          <a:lstStyle/>
          <a:p>
            <a:pPr algn="ctr" indent="0" marL="0">
              <a:buNone/>
            </a:pPr>
            <a:endParaRPr lang="en-US" sz="1300" dirty="0"/>
          </a:p>
        </p:txBody>
      </p:sp>
      <p:sp>
        <p:nvSpPr>
          <p:cNvPr id="6" name="Shape 4"/>
          <p:cNvSpPr/>
          <p:nvPr/>
        </p:nvSpPr>
        <p:spPr>
          <a:xfrm>
            <a:off x="3299384" y="1783080"/>
            <a:ext cx="2796464" cy="457200"/>
          </a:xfrm>
          <a:prstGeom prst="rect">
            <a:avLst/>
          </a:prstGeom>
          <a:solidFill>
            <a:srgbClr val="DB0011"/>
          </a:solidFill>
          <a:ln w="12700">
            <a:solidFill>
              <a:srgbClr val="FFFFFF"/>
            </a:solidFill>
            <a:prstDash val="solid"/>
          </a:ln>
        </p:spPr>
      </p:sp>
      <p:sp>
        <p:nvSpPr>
          <p:cNvPr id="7" name="Text 5"/>
          <p:cNvSpPr/>
          <p:nvPr/>
        </p:nvSpPr>
        <p:spPr>
          <a:xfrm>
            <a:off x="3299384" y="1783080"/>
            <a:ext cx="279646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Claude</a:t>
            </a:r>
            <a:endParaRPr lang="en-US" sz="1300" dirty="0"/>
          </a:p>
        </p:txBody>
      </p:sp>
      <p:sp>
        <p:nvSpPr>
          <p:cNvPr id="8" name="Shape 6"/>
          <p:cNvSpPr/>
          <p:nvPr/>
        </p:nvSpPr>
        <p:spPr>
          <a:xfrm>
            <a:off x="6095848" y="1783080"/>
            <a:ext cx="2796464" cy="457200"/>
          </a:xfrm>
          <a:prstGeom prst="rect">
            <a:avLst/>
          </a:prstGeom>
          <a:solidFill>
            <a:srgbClr val="DB0011"/>
          </a:solidFill>
          <a:ln w="12700">
            <a:solidFill>
              <a:srgbClr val="FFFFFF"/>
            </a:solidFill>
            <a:prstDash val="solid"/>
          </a:ln>
        </p:spPr>
      </p:sp>
      <p:sp>
        <p:nvSpPr>
          <p:cNvPr id="9" name="Text 7"/>
          <p:cNvSpPr/>
          <p:nvPr/>
        </p:nvSpPr>
        <p:spPr>
          <a:xfrm>
            <a:off x="6095848" y="1783080"/>
            <a:ext cx="279646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GPT / o-series</a:t>
            </a:r>
            <a:endParaRPr lang="en-US" sz="1300" dirty="0"/>
          </a:p>
        </p:txBody>
      </p:sp>
      <p:sp>
        <p:nvSpPr>
          <p:cNvPr id="10" name="Shape 8"/>
          <p:cNvSpPr/>
          <p:nvPr/>
        </p:nvSpPr>
        <p:spPr>
          <a:xfrm>
            <a:off x="8892311" y="1783080"/>
            <a:ext cx="2796464" cy="457200"/>
          </a:xfrm>
          <a:prstGeom prst="rect">
            <a:avLst/>
          </a:prstGeom>
          <a:solidFill>
            <a:srgbClr val="DB0011"/>
          </a:solidFill>
          <a:ln w="12700">
            <a:solidFill>
              <a:srgbClr val="FFFFFF"/>
            </a:solidFill>
            <a:prstDash val="solid"/>
          </a:ln>
        </p:spPr>
      </p:sp>
      <p:sp>
        <p:nvSpPr>
          <p:cNvPr id="11" name="Text 9"/>
          <p:cNvSpPr/>
          <p:nvPr/>
        </p:nvSpPr>
        <p:spPr>
          <a:xfrm>
            <a:off x="8892311" y="1783080"/>
            <a:ext cx="2796464"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Gemini</a:t>
            </a:r>
            <a:endParaRPr lang="en-US" sz="1300" dirty="0"/>
          </a:p>
        </p:txBody>
      </p:sp>
      <p:sp>
        <p:nvSpPr>
          <p:cNvPr id="12" name="Shape 10"/>
          <p:cNvSpPr/>
          <p:nvPr/>
        </p:nvSpPr>
        <p:spPr>
          <a:xfrm>
            <a:off x="502920" y="2240280"/>
            <a:ext cx="2796464" cy="658368"/>
          </a:xfrm>
          <a:prstGeom prst="rect">
            <a:avLst/>
          </a:prstGeom>
          <a:solidFill>
            <a:srgbClr val="FFFFFF"/>
          </a:solidFill>
          <a:ln w="9525">
            <a:solidFill>
              <a:srgbClr val="D9D9D9"/>
            </a:solidFill>
            <a:prstDash val="solid"/>
          </a:ln>
        </p:spPr>
      </p:sp>
      <p:sp>
        <p:nvSpPr>
          <p:cNvPr id="13" name="Text 11"/>
          <p:cNvSpPr/>
          <p:nvPr/>
        </p:nvSpPr>
        <p:spPr>
          <a:xfrm>
            <a:off x="612648" y="2240280"/>
            <a:ext cx="2577008" cy="658368"/>
          </a:xfrm>
          <a:prstGeom prst="rect">
            <a:avLst/>
          </a:prstGeom>
          <a:noFill/>
          <a:ln/>
        </p:spPr>
        <p:txBody>
          <a:bodyPr wrap="square" lIns="0" tIns="0" rIns="0" bIns="0" rtlCol="0" anchor="ctr"/>
          <a:lstStyle/>
          <a:p>
            <a:pPr indent="0" marL="0">
              <a:lnSpc>
                <a:spcPct val="105000"/>
              </a:lnSpc>
              <a:buNone/>
            </a:pPr>
            <a:r>
              <a:rPr lang="en-US" sz="1150" b="1" dirty="0">
                <a:solidFill>
                  <a:srgbClr val="1A1A1A"/>
                </a:solidFill>
                <a:latin typeface="Arial" pitchFamily="34" charset="0"/>
                <a:ea typeface="Arial" pitchFamily="34" charset="-122"/>
                <a:cs typeface="Arial" pitchFamily="34" charset="-120"/>
              </a:rPr>
              <a:t>Structuring</a:t>
            </a:r>
            <a:endParaRPr lang="en-US" sz="1150" dirty="0"/>
          </a:p>
        </p:txBody>
      </p:sp>
      <p:sp>
        <p:nvSpPr>
          <p:cNvPr id="14" name="Shape 12"/>
          <p:cNvSpPr/>
          <p:nvPr/>
        </p:nvSpPr>
        <p:spPr>
          <a:xfrm>
            <a:off x="3299384" y="2240280"/>
            <a:ext cx="2796464" cy="658368"/>
          </a:xfrm>
          <a:prstGeom prst="rect">
            <a:avLst/>
          </a:prstGeom>
          <a:solidFill>
            <a:srgbClr val="FFFFFF"/>
          </a:solidFill>
          <a:ln w="9525">
            <a:solidFill>
              <a:srgbClr val="D9D9D9"/>
            </a:solidFill>
            <a:prstDash val="solid"/>
          </a:ln>
        </p:spPr>
      </p:sp>
      <p:sp>
        <p:nvSpPr>
          <p:cNvPr id="15" name="Text 13"/>
          <p:cNvSpPr/>
          <p:nvPr/>
        </p:nvSpPr>
        <p:spPr>
          <a:xfrm>
            <a:off x="3409112" y="2240280"/>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XML tags — heavily trained on this convention</a:t>
            </a:r>
            <a:endParaRPr lang="en-US" sz="1000" dirty="0"/>
          </a:p>
        </p:txBody>
      </p:sp>
      <p:sp>
        <p:nvSpPr>
          <p:cNvPr id="16" name="Shape 14"/>
          <p:cNvSpPr/>
          <p:nvPr/>
        </p:nvSpPr>
        <p:spPr>
          <a:xfrm>
            <a:off x="6095848" y="2240280"/>
            <a:ext cx="2796464" cy="658368"/>
          </a:xfrm>
          <a:prstGeom prst="rect">
            <a:avLst/>
          </a:prstGeom>
          <a:solidFill>
            <a:srgbClr val="FFFFFF"/>
          </a:solidFill>
          <a:ln w="9525">
            <a:solidFill>
              <a:srgbClr val="D9D9D9"/>
            </a:solidFill>
            <a:prstDash val="solid"/>
          </a:ln>
        </p:spPr>
      </p:sp>
      <p:sp>
        <p:nvSpPr>
          <p:cNvPr id="17" name="Text 15"/>
          <p:cNvSpPr/>
          <p:nvPr/>
        </p:nvSpPr>
        <p:spPr>
          <a:xfrm>
            <a:off x="6205576" y="2240280"/>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Markdown / ### delimiters; developer message on reasoning models</a:t>
            </a:r>
            <a:endParaRPr lang="en-US" sz="1000" dirty="0"/>
          </a:p>
        </p:txBody>
      </p:sp>
      <p:sp>
        <p:nvSpPr>
          <p:cNvPr id="18" name="Shape 16"/>
          <p:cNvSpPr/>
          <p:nvPr/>
        </p:nvSpPr>
        <p:spPr>
          <a:xfrm>
            <a:off x="8892311" y="2240280"/>
            <a:ext cx="2796464" cy="658368"/>
          </a:xfrm>
          <a:prstGeom prst="rect">
            <a:avLst/>
          </a:prstGeom>
          <a:solidFill>
            <a:srgbClr val="FFFFFF"/>
          </a:solidFill>
          <a:ln w="9525">
            <a:solidFill>
              <a:srgbClr val="D9D9D9"/>
            </a:solidFill>
            <a:prstDash val="solid"/>
          </a:ln>
        </p:spPr>
      </p:sp>
      <p:sp>
        <p:nvSpPr>
          <p:cNvPr id="19" name="Text 17"/>
          <p:cNvSpPr/>
          <p:nvPr/>
        </p:nvSpPr>
        <p:spPr>
          <a:xfrm>
            <a:off x="9002039" y="2240280"/>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XML or headings; explicit Persona/Task/Context/Format</a:t>
            </a:r>
            <a:endParaRPr lang="en-US" sz="1000" dirty="0"/>
          </a:p>
        </p:txBody>
      </p:sp>
      <p:sp>
        <p:nvSpPr>
          <p:cNvPr id="20" name="Shape 18"/>
          <p:cNvSpPr/>
          <p:nvPr/>
        </p:nvSpPr>
        <p:spPr>
          <a:xfrm>
            <a:off x="502920" y="2898648"/>
            <a:ext cx="2796464" cy="658368"/>
          </a:xfrm>
          <a:prstGeom prst="rect">
            <a:avLst/>
          </a:prstGeom>
          <a:solidFill>
            <a:srgbClr val="F4F4F5"/>
          </a:solidFill>
          <a:ln w="9525">
            <a:solidFill>
              <a:srgbClr val="D9D9D9"/>
            </a:solidFill>
            <a:prstDash val="solid"/>
          </a:ln>
        </p:spPr>
      </p:sp>
      <p:sp>
        <p:nvSpPr>
          <p:cNvPr id="21" name="Text 19"/>
          <p:cNvSpPr/>
          <p:nvPr/>
        </p:nvSpPr>
        <p:spPr>
          <a:xfrm>
            <a:off x="612648" y="2898648"/>
            <a:ext cx="2577008" cy="658368"/>
          </a:xfrm>
          <a:prstGeom prst="rect">
            <a:avLst/>
          </a:prstGeom>
          <a:noFill/>
          <a:ln/>
        </p:spPr>
        <p:txBody>
          <a:bodyPr wrap="square" lIns="0" tIns="0" rIns="0" bIns="0" rtlCol="0" anchor="ctr"/>
          <a:lstStyle/>
          <a:p>
            <a:pPr indent="0" marL="0">
              <a:lnSpc>
                <a:spcPct val="105000"/>
              </a:lnSpc>
              <a:buNone/>
            </a:pPr>
            <a:r>
              <a:rPr lang="en-US" sz="1150" b="1" dirty="0">
                <a:solidFill>
                  <a:srgbClr val="1A1A1A"/>
                </a:solidFill>
                <a:latin typeface="Arial" pitchFamily="34" charset="0"/>
                <a:ea typeface="Arial" pitchFamily="34" charset="-122"/>
                <a:cs typeface="Arial" pitchFamily="34" charset="-120"/>
              </a:rPr>
              <a:t>Examples</a:t>
            </a:r>
            <a:endParaRPr lang="en-US" sz="1150" dirty="0"/>
          </a:p>
        </p:txBody>
      </p:sp>
      <p:sp>
        <p:nvSpPr>
          <p:cNvPr id="22" name="Shape 20"/>
          <p:cNvSpPr/>
          <p:nvPr/>
        </p:nvSpPr>
        <p:spPr>
          <a:xfrm>
            <a:off x="3299384" y="2898648"/>
            <a:ext cx="2796464" cy="658368"/>
          </a:xfrm>
          <a:prstGeom prst="rect">
            <a:avLst/>
          </a:prstGeom>
          <a:solidFill>
            <a:srgbClr val="F4F4F5"/>
          </a:solidFill>
          <a:ln w="9525">
            <a:solidFill>
              <a:srgbClr val="D9D9D9"/>
            </a:solidFill>
            <a:prstDash val="solid"/>
          </a:ln>
        </p:spPr>
      </p:sp>
      <p:sp>
        <p:nvSpPr>
          <p:cNvPr id="23" name="Text 21"/>
          <p:cNvSpPr/>
          <p:nvPr/>
        </p:nvSpPr>
        <p:spPr>
          <a:xfrm>
            <a:off x="3409112" y="2898648"/>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3–5, tagged &lt;example&gt;</a:t>
            </a:r>
            <a:endParaRPr lang="en-US" sz="1000" dirty="0"/>
          </a:p>
        </p:txBody>
      </p:sp>
      <p:sp>
        <p:nvSpPr>
          <p:cNvPr id="24" name="Shape 22"/>
          <p:cNvSpPr/>
          <p:nvPr/>
        </p:nvSpPr>
        <p:spPr>
          <a:xfrm>
            <a:off x="6095848" y="2898648"/>
            <a:ext cx="2796464" cy="658368"/>
          </a:xfrm>
          <a:prstGeom prst="rect">
            <a:avLst/>
          </a:prstGeom>
          <a:solidFill>
            <a:srgbClr val="F4F4F5"/>
          </a:solidFill>
          <a:ln w="9525">
            <a:solidFill>
              <a:srgbClr val="D9D9D9"/>
            </a:solidFill>
            <a:prstDash val="solid"/>
          </a:ln>
        </p:spPr>
      </p:sp>
      <p:sp>
        <p:nvSpPr>
          <p:cNvPr id="25" name="Text 23"/>
          <p:cNvSpPr/>
          <p:nvPr/>
        </p:nvSpPr>
        <p:spPr>
          <a:xfrm>
            <a:off x="6205576" y="2898648"/>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Helps standard models; avoid on o-series, try zero-shot first</a:t>
            </a:r>
            <a:endParaRPr lang="en-US" sz="1000" dirty="0"/>
          </a:p>
        </p:txBody>
      </p:sp>
      <p:sp>
        <p:nvSpPr>
          <p:cNvPr id="26" name="Shape 24"/>
          <p:cNvSpPr/>
          <p:nvPr/>
        </p:nvSpPr>
        <p:spPr>
          <a:xfrm>
            <a:off x="8892311" y="2898648"/>
            <a:ext cx="2796464" cy="658368"/>
          </a:xfrm>
          <a:prstGeom prst="rect">
            <a:avLst/>
          </a:prstGeom>
          <a:solidFill>
            <a:srgbClr val="F4F4F5"/>
          </a:solidFill>
          <a:ln w="9525">
            <a:solidFill>
              <a:srgbClr val="D9D9D9"/>
            </a:solidFill>
            <a:prstDash val="solid"/>
          </a:ln>
        </p:spPr>
      </p:sp>
      <p:sp>
        <p:nvSpPr>
          <p:cNvPr id="27" name="Text 25"/>
          <p:cNvSpPr/>
          <p:nvPr/>
        </p:nvSpPr>
        <p:spPr>
          <a:xfrm>
            <a:off x="9002039" y="2898648"/>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2–3; more risks overfitting</a:t>
            </a:r>
            <a:endParaRPr lang="en-US" sz="1000" dirty="0"/>
          </a:p>
        </p:txBody>
      </p:sp>
      <p:sp>
        <p:nvSpPr>
          <p:cNvPr id="28" name="Shape 26"/>
          <p:cNvSpPr/>
          <p:nvPr/>
        </p:nvSpPr>
        <p:spPr>
          <a:xfrm>
            <a:off x="502920" y="3557016"/>
            <a:ext cx="2796464" cy="658368"/>
          </a:xfrm>
          <a:prstGeom prst="rect">
            <a:avLst/>
          </a:prstGeom>
          <a:solidFill>
            <a:srgbClr val="FFFFFF"/>
          </a:solidFill>
          <a:ln w="9525">
            <a:solidFill>
              <a:srgbClr val="D9D9D9"/>
            </a:solidFill>
            <a:prstDash val="solid"/>
          </a:ln>
        </p:spPr>
      </p:sp>
      <p:sp>
        <p:nvSpPr>
          <p:cNvPr id="29" name="Text 27"/>
          <p:cNvSpPr/>
          <p:nvPr/>
        </p:nvSpPr>
        <p:spPr>
          <a:xfrm>
            <a:off x="612648" y="3557016"/>
            <a:ext cx="2577008" cy="658368"/>
          </a:xfrm>
          <a:prstGeom prst="rect">
            <a:avLst/>
          </a:prstGeom>
          <a:noFill/>
          <a:ln/>
        </p:spPr>
        <p:txBody>
          <a:bodyPr wrap="square" lIns="0" tIns="0" rIns="0" bIns="0" rtlCol="0" anchor="ctr"/>
          <a:lstStyle/>
          <a:p>
            <a:pPr indent="0" marL="0">
              <a:lnSpc>
                <a:spcPct val="105000"/>
              </a:lnSpc>
              <a:buNone/>
            </a:pPr>
            <a:r>
              <a:rPr lang="en-US" sz="1150" b="1" dirty="0">
                <a:solidFill>
                  <a:srgbClr val="1A1A1A"/>
                </a:solidFill>
                <a:latin typeface="Arial" pitchFamily="34" charset="0"/>
                <a:ea typeface="Arial" pitchFamily="34" charset="-122"/>
                <a:cs typeface="Arial" pitchFamily="34" charset="-120"/>
              </a:rPr>
              <a:t>Reasoning</a:t>
            </a:r>
            <a:endParaRPr lang="en-US" sz="1150" dirty="0"/>
          </a:p>
        </p:txBody>
      </p:sp>
      <p:sp>
        <p:nvSpPr>
          <p:cNvPr id="30" name="Shape 28"/>
          <p:cNvSpPr/>
          <p:nvPr/>
        </p:nvSpPr>
        <p:spPr>
          <a:xfrm>
            <a:off x="3299384" y="3557016"/>
            <a:ext cx="2796464" cy="658368"/>
          </a:xfrm>
          <a:prstGeom prst="rect">
            <a:avLst/>
          </a:prstGeom>
          <a:solidFill>
            <a:srgbClr val="FFFFFF"/>
          </a:solidFill>
          <a:ln w="9525">
            <a:solidFill>
              <a:srgbClr val="D9D9D9"/>
            </a:solidFill>
            <a:prstDash val="solid"/>
          </a:ln>
        </p:spPr>
      </p:sp>
      <p:sp>
        <p:nvSpPr>
          <p:cNvPr id="31" name="Text 29"/>
          <p:cNvSpPr/>
          <p:nvPr/>
        </p:nvSpPr>
        <p:spPr>
          <a:xfrm>
            <a:off x="3409112" y="3557016"/>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Adaptive thinking — manual step-by-step is now a fallback</a:t>
            </a:r>
            <a:endParaRPr lang="en-US" sz="1000" dirty="0"/>
          </a:p>
        </p:txBody>
      </p:sp>
      <p:sp>
        <p:nvSpPr>
          <p:cNvPr id="32" name="Shape 30"/>
          <p:cNvSpPr/>
          <p:nvPr/>
        </p:nvSpPr>
        <p:spPr>
          <a:xfrm>
            <a:off x="6095848" y="3557016"/>
            <a:ext cx="2796464" cy="658368"/>
          </a:xfrm>
          <a:prstGeom prst="rect">
            <a:avLst/>
          </a:prstGeom>
          <a:solidFill>
            <a:srgbClr val="FFFFFF"/>
          </a:solidFill>
          <a:ln w="9525">
            <a:solidFill>
              <a:srgbClr val="D9D9D9"/>
            </a:solidFill>
            <a:prstDash val="solid"/>
          </a:ln>
        </p:spPr>
      </p:sp>
      <p:sp>
        <p:nvSpPr>
          <p:cNvPr id="33" name="Text 31"/>
          <p:cNvSpPr/>
          <p:nvPr/>
        </p:nvSpPr>
        <p:spPr>
          <a:xfrm>
            <a:off x="6205576" y="3557016"/>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Internal; explicit “step by step” can hurt</a:t>
            </a:r>
            <a:endParaRPr lang="en-US" sz="1000" dirty="0"/>
          </a:p>
        </p:txBody>
      </p:sp>
      <p:sp>
        <p:nvSpPr>
          <p:cNvPr id="34" name="Shape 32"/>
          <p:cNvSpPr/>
          <p:nvPr/>
        </p:nvSpPr>
        <p:spPr>
          <a:xfrm>
            <a:off x="8892311" y="3557016"/>
            <a:ext cx="2796464" cy="658368"/>
          </a:xfrm>
          <a:prstGeom prst="rect">
            <a:avLst/>
          </a:prstGeom>
          <a:solidFill>
            <a:srgbClr val="FFFFFF"/>
          </a:solidFill>
          <a:ln w="9525">
            <a:solidFill>
              <a:srgbClr val="D9D9D9"/>
            </a:solidFill>
            <a:prstDash val="solid"/>
          </a:ln>
        </p:spPr>
      </p:sp>
      <p:sp>
        <p:nvSpPr>
          <p:cNvPr id="35" name="Text 33"/>
          <p:cNvSpPr/>
          <p:nvPr/>
        </p:nvSpPr>
        <p:spPr>
          <a:xfrm>
            <a:off x="9002039" y="3557016"/>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2.5+ reasons automatically, no prompting needed</a:t>
            </a:r>
            <a:endParaRPr lang="en-US" sz="1000" dirty="0"/>
          </a:p>
        </p:txBody>
      </p:sp>
      <p:sp>
        <p:nvSpPr>
          <p:cNvPr id="36" name="Shape 34"/>
          <p:cNvSpPr/>
          <p:nvPr/>
        </p:nvSpPr>
        <p:spPr>
          <a:xfrm>
            <a:off x="502920" y="4215384"/>
            <a:ext cx="2796464" cy="658368"/>
          </a:xfrm>
          <a:prstGeom prst="rect">
            <a:avLst/>
          </a:prstGeom>
          <a:solidFill>
            <a:srgbClr val="F4F4F5"/>
          </a:solidFill>
          <a:ln w="9525">
            <a:solidFill>
              <a:srgbClr val="D9D9D9"/>
            </a:solidFill>
            <a:prstDash val="solid"/>
          </a:ln>
        </p:spPr>
      </p:sp>
      <p:sp>
        <p:nvSpPr>
          <p:cNvPr id="37" name="Text 35"/>
          <p:cNvSpPr/>
          <p:nvPr/>
        </p:nvSpPr>
        <p:spPr>
          <a:xfrm>
            <a:off x="612648" y="4215384"/>
            <a:ext cx="2577008" cy="658368"/>
          </a:xfrm>
          <a:prstGeom prst="rect">
            <a:avLst/>
          </a:prstGeom>
          <a:noFill/>
          <a:ln/>
        </p:spPr>
        <p:txBody>
          <a:bodyPr wrap="square" lIns="0" tIns="0" rIns="0" bIns="0" rtlCol="0" anchor="ctr"/>
          <a:lstStyle/>
          <a:p>
            <a:pPr indent="0" marL="0">
              <a:lnSpc>
                <a:spcPct val="105000"/>
              </a:lnSpc>
              <a:buNone/>
            </a:pPr>
            <a:r>
              <a:rPr lang="en-US" sz="1150" b="1" dirty="0">
                <a:solidFill>
                  <a:srgbClr val="1A1A1A"/>
                </a:solidFill>
                <a:latin typeface="Arial" pitchFamily="34" charset="0"/>
                <a:ea typeface="Arial" pitchFamily="34" charset="-122"/>
                <a:cs typeface="Arial" pitchFamily="34" charset="-120"/>
              </a:rPr>
              <a:t>Structured output</a:t>
            </a:r>
            <a:endParaRPr lang="en-US" sz="1150" dirty="0"/>
          </a:p>
        </p:txBody>
      </p:sp>
      <p:sp>
        <p:nvSpPr>
          <p:cNvPr id="38" name="Shape 36"/>
          <p:cNvSpPr/>
          <p:nvPr/>
        </p:nvSpPr>
        <p:spPr>
          <a:xfrm>
            <a:off x="3299384" y="4215384"/>
            <a:ext cx="2796464" cy="658368"/>
          </a:xfrm>
          <a:prstGeom prst="rect">
            <a:avLst/>
          </a:prstGeom>
          <a:solidFill>
            <a:srgbClr val="F4F4F5"/>
          </a:solidFill>
          <a:ln w="9525">
            <a:solidFill>
              <a:srgbClr val="D9D9D9"/>
            </a:solidFill>
            <a:prstDash val="solid"/>
          </a:ln>
        </p:spPr>
      </p:sp>
      <p:sp>
        <p:nvSpPr>
          <p:cNvPr id="39" name="Text 37"/>
          <p:cNvSpPr/>
          <p:nvPr/>
        </p:nvSpPr>
        <p:spPr>
          <a:xfrm>
            <a:off x="3409112" y="4215384"/>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Native Structured Outputs; prefill deprecated on newest models</a:t>
            </a:r>
            <a:endParaRPr lang="en-US" sz="1000" dirty="0"/>
          </a:p>
        </p:txBody>
      </p:sp>
      <p:sp>
        <p:nvSpPr>
          <p:cNvPr id="40" name="Shape 38"/>
          <p:cNvSpPr/>
          <p:nvPr/>
        </p:nvSpPr>
        <p:spPr>
          <a:xfrm>
            <a:off x="6095848" y="4215384"/>
            <a:ext cx="2796464" cy="658368"/>
          </a:xfrm>
          <a:prstGeom prst="rect">
            <a:avLst/>
          </a:prstGeom>
          <a:solidFill>
            <a:srgbClr val="F4F4F5"/>
          </a:solidFill>
          <a:ln w="9525">
            <a:solidFill>
              <a:srgbClr val="D9D9D9"/>
            </a:solidFill>
            <a:prstDash val="solid"/>
          </a:ln>
        </p:spPr>
      </p:sp>
      <p:sp>
        <p:nvSpPr>
          <p:cNvPr id="41" name="Text 39"/>
          <p:cNvSpPr/>
          <p:nvPr/>
        </p:nvSpPr>
        <p:spPr>
          <a:xfrm>
            <a:off x="6205576" y="4215384"/>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Function calling / JSON mode / schema-constrained</a:t>
            </a:r>
            <a:endParaRPr lang="en-US" sz="1000" dirty="0"/>
          </a:p>
        </p:txBody>
      </p:sp>
      <p:sp>
        <p:nvSpPr>
          <p:cNvPr id="42" name="Shape 40"/>
          <p:cNvSpPr/>
          <p:nvPr/>
        </p:nvSpPr>
        <p:spPr>
          <a:xfrm>
            <a:off x="8892311" y="4215384"/>
            <a:ext cx="2796464" cy="658368"/>
          </a:xfrm>
          <a:prstGeom prst="rect">
            <a:avLst/>
          </a:prstGeom>
          <a:solidFill>
            <a:srgbClr val="F4F4F5"/>
          </a:solidFill>
          <a:ln w="9525">
            <a:solidFill>
              <a:srgbClr val="D9D9D9"/>
            </a:solidFill>
            <a:prstDash val="solid"/>
          </a:ln>
        </p:spPr>
      </p:sp>
      <p:sp>
        <p:nvSpPr>
          <p:cNvPr id="43" name="Text 41"/>
          <p:cNvSpPr/>
          <p:nvPr/>
        </p:nvSpPr>
        <p:spPr>
          <a:xfrm>
            <a:off x="9002039" y="4215384"/>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Schema-constrained generation via API</a:t>
            </a:r>
            <a:endParaRPr lang="en-US" sz="1000" dirty="0"/>
          </a:p>
        </p:txBody>
      </p:sp>
      <p:sp>
        <p:nvSpPr>
          <p:cNvPr id="44" name="Shape 42"/>
          <p:cNvSpPr/>
          <p:nvPr/>
        </p:nvSpPr>
        <p:spPr>
          <a:xfrm>
            <a:off x="502920" y="4873752"/>
            <a:ext cx="2796464" cy="658368"/>
          </a:xfrm>
          <a:prstGeom prst="rect">
            <a:avLst/>
          </a:prstGeom>
          <a:solidFill>
            <a:srgbClr val="FFFFFF"/>
          </a:solidFill>
          <a:ln w="9525">
            <a:solidFill>
              <a:srgbClr val="D9D9D9"/>
            </a:solidFill>
            <a:prstDash val="solid"/>
          </a:ln>
        </p:spPr>
      </p:sp>
      <p:sp>
        <p:nvSpPr>
          <p:cNvPr id="45" name="Text 43"/>
          <p:cNvSpPr/>
          <p:nvPr/>
        </p:nvSpPr>
        <p:spPr>
          <a:xfrm>
            <a:off x="612648" y="4873752"/>
            <a:ext cx="2577008" cy="658368"/>
          </a:xfrm>
          <a:prstGeom prst="rect">
            <a:avLst/>
          </a:prstGeom>
          <a:noFill/>
          <a:ln/>
        </p:spPr>
        <p:txBody>
          <a:bodyPr wrap="square" lIns="0" tIns="0" rIns="0" bIns="0" rtlCol="0" anchor="ctr"/>
          <a:lstStyle/>
          <a:p>
            <a:pPr indent="0" marL="0">
              <a:lnSpc>
                <a:spcPct val="105000"/>
              </a:lnSpc>
              <a:buNone/>
            </a:pPr>
            <a:r>
              <a:rPr lang="en-US" sz="1150" b="1" dirty="0">
                <a:solidFill>
                  <a:srgbClr val="1A1A1A"/>
                </a:solidFill>
                <a:latin typeface="Arial" pitchFamily="34" charset="0"/>
                <a:ea typeface="Arial" pitchFamily="34" charset="-122"/>
                <a:cs typeface="Arial" pitchFamily="34" charset="-120"/>
              </a:rPr>
              <a:t>Easy to miss</a:t>
            </a:r>
            <a:endParaRPr lang="en-US" sz="1150" dirty="0"/>
          </a:p>
        </p:txBody>
      </p:sp>
      <p:sp>
        <p:nvSpPr>
          <p:cNvPr id="46" name="Shape 44"/>
          <p:cNvSpPr/>
          <p:nvPr/>
        </p:nvSpPr>
        <p:spPr>
          <a:xfrm>
            <a:off x="3299384" y="4873752"/>
            <a:ext cx="2796464" cy="658368"/>
          </a:xfrm>
          <a:prstGeom prst="rect">
            <a:avLst/>
          </a:prstGeom>
          <a:solidFill>
            <a:srgbClr val="FFFFFF"/>
          </a:solidFill>
          <a:ln w="9525">
            <a:solidFill>
              <a:srgbClr val="D9D9D9"/>
            </a:solidFill>
            <a:prstDash val="solid"/>
          </a:ln>
        </p:spPr>
      </p:sp>
      <p:sp>
        <p:nvSpPr>
          <p:cNvPr id="47" name="Text 45"/>
          <p:cNvSpPr/>
          <p:nvPr/>
        </p:nvSpPr>
        <p:spPr>
          <a:xfrm>
            <a:off x="3409112" y="4873752"/>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Long-context query goes after the data (~30% difference)</a:t>
            </a:r>
            <a:endParaRPr lang="en-US" sz="1000" dirty="0"/>
          </a:p>
        </p:txBody>
      </p:sp>
      <p:sp>
        <p:nvSpPr>
          <p:cNvPr id="48" name="Shape 46"/>
          <p:cNvSpPr/>
          <p:nvPr/>
        </p:nvSpPr>
        <p:spPr>
          <a:xfrm>
            <a:off x="6095848" y="4873752"/>
            <a:ext cx="2796464" cy="658368"/>
          </a:xfrm>
          <a:prstGeom prst="rect">
            <a:avLst/>
          </a:prstGeom>
          <a:solidFill>
            <a:srgbClr val="FFFFFF"/>
          </a:solidFill>
          <a:ln w="9525">
            <a:solidFill>
              <a:srgbClr val="D9D9D9"/>
            </a:solidFill>
            <a:prstDash val="solid"/>
          </a:ln>
        </p:spPr>
      </p:sp>
      <p:sp>
        <p:nvSpPr>
          <p:cNvPr id="49" name="Text 47"/>
          <p:cNvSpPr/>
          <p:nvPr/>
        </p:nvSpPr>
        <p:spPr>
          <a:xfrm>
            <a:off x="6205576" y="4873752"/>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Markdown off by default on reasoning models</a:t>
            </a:r>
            <a:endParaRPr lang="en-US" sz="1000" dirty="0"/>
          </a:p>
        </p:txBody>
      </p:sp>
      <p:sp>
        <p:nvSpPr>
          <p:cNvPr id="50" name="Shape 48"/>
          <p:cNvSpPr/>
          <p:nvPr/>
        </p:nvSpPr>
        <p:spPr>
          <a:xfrm>
            <a:off x="8892311" y="4873752"/>
            <a:ext cx="2796464" cy="658368"/>
          </a:xfrm>
          <a:prstGeom prst="rect">
            <a:avLst/>
          </a:prstGeom>
          <a:solidFill>
            <a:srgbClr val="FFFFFF"/>
          </a:solidFill>
          <a:ln w="9525">
            <a:solidFill>
              <a:srgbClr val="D9D9D9"/>
            </a:solidFill>
            <a:prstDash val="solid"/>
          </a:ln>
        </p:spPr>
      </p:sp>
      <p:sp>
        <p:nvSpPr>
          <p:cNvPr id="51" name="Text 49"/>
          <p:cNvSpPr/>
          <p:nvPr/>
        </p:nvSpPr>
        <p:spPr>
          <a:xfrm>
            <a:off x="9002039" y="4873752"/>
            <a:ext cx="2577008" cy="658368"/>
          </a:xfrm>
          <a:prstGeom prst="rect">
            <a:avLst/>
          </a:prstGeom>
          <a:noFill/>
          <a:ln/>
        </p:spPr>
        <p:txBody>
          <a:bodyPr wrap="square" lIns="0" tIns="0" rIns="0" bIns="0" rtlCol="0" anchor="ctr"/>
          <a:lstStyle/>
          <a:p>
            <a:pPr indent="0" marL="0">
              <a:lnSpc>
                <a:spcPct val="105000"/>
              </a:lnSpc>
              <a:buNone/>
            </a:pPr>
            <a:r>
              <a:rPr lang="en-US" sz="1000" dirty="0">
                <a:solidFill>
                  <a:srgbClr val="1A1A1A"/>
                </a:solidFill>
                <a:latin typeface="Arial" pitchFamily="34" charset="0"/>
                <a:ea typeface="Arial" pitchFamily="34" charset="-122"/>
                <a:cs typeface="Arial" pitchFamily="34" charset="-120"/>
              </a:rPr>
              <a:t>State the current date explicitly for time-sensitive tasks</a:t>
            </a:r>
            <a:endParaRPr lang="en-US" sz="1000" dirty="0"/>
          </a:p>
        </p:txBody>
      </p:sp>
      <p:sp>
        <p:nvSpPr>
          <p:cNvPr id="52" name="Text 50"/>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Anthropic, OpenAI &amp; Google official docs — snapshot, Aug 2026</a:t>
            </a:r>
            <a:endParaRPr lang="en-US" sz="900" dirty="0"/>
          </a:p>
        </p:txBody>
      </p:sp>
      <p:sp>
        <p:nvSpPr>
          <p:cNvPr id="53" name="Text 51"/>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22 / 24</a:t>
            </a:r>
            <a:endParaRPr lang="en-US" sz="900" dirty="0"/>
          </a:p>
        </p:txBody>
      </p:sp>
      <p:sp>
        <p:nvSpPr>
          <p:cNvPr id="54" name="Shape 52"/>
          <p:cNvSpPr/>
          <p:nvPr/>
        </p:nvSpPr>
        <p:spPr>
          <a:xfrm>
            <a:off x="11263579" y="6437376"/>
            <a:ext cx="283464" cy="283464"/>
          </a:xfrm>
          <a:prstGeom prst="rect">
            <a:avLst/>
          </a:prstGeom>
          <a:solidFill>
            <a:srgbClr val="FFFFFF"/>
          </a:solidFill>
          <a:ln/>
        </p:spPr>
      </p:sp>
      <p:sp>
        <p:nvSpPr>
          <p:cNvPr id="55" name="Shape 53"/>
          <p:cNvSpPr/>
          <p:nvPr/>
        </p:nvSpPr>
        <p:spPr>
          <a:xfrm rot="10800000">
            <a:off x="11263579" y="6437376"/>
            <a:ext cx="283464" cy="141732"/>
          </a:xfrm>
          <a:prstGeom prst="triangle">
            <a:avLst/>
          </a:prstGeom>
          <a:solidFill>
            <a:srgbClr val="DB0011"/>
          </a:solidFill>
          <a:ln/>
        </p:spPr>
      </p:sp>
      <p:sp>
        <p:nvSpPr>
          <p:cNvPr id="56" name="Shape 54"/>
          <p:cNvSpPr/>
          <p:nvPr/>
        </p:nvSpPr>
        <p:spPr>
          <a:xfrm>
            <a:off x="11263579" y="6579108"/>
            <a:ext cx="283464" cy="141732"/>
          </a:xfrm>
          <a:prstGeom prst="triangle">
            <a:avLst/>
          </a:prstGeom>
          <a:solidFill>
            <a:srgbClr val="DB0011"/>
          </a:solidFill>
          <a:ln/>
        </p:spPr>
      </p:sp>
      <p:sp>
        <p:nvSpPr>
          <p:cNvPr id="57" name="Shape 55"/>
          <p:cNvSpPr/>
          <p:nvPr/>
        </p:nvSpPr>
        <p:spPr>
          <a:xfrm rot="16200000">
            <a:off x="11121847" y="6437376"/>
            <a:ext cx="141732" cy="283464"/>
          </a:xfrm>
          <a:prstGeom prst="triangle">
            <a:avLst/>
          </a:prstGeom>
          <a:solidFill>
            <a:srgbClr val="DB0011"/>
          </a:solidFill>
          <a:ln/>
        </p:spPr>
      </p:sp>
      <p:sp>
        <p:nvSpPr>
          <p:cNvPr id="58" name="Shape 56"/>
          <p:cNvSpPr/>
          <p:nvPr/>
        </p:nvSpPr>
        <p:spPr>
          <a:xfrm rot="5400000">
            <a:off x="11547043" y="6437376"/>
            <a:ext cx="141732" cy="283464"/>
          </a:xfrm>
          <a:prstGeom prst="triangle">
            <a:avLst/>
          </a:prstGeom>
          <a:solidFill>
            <a:srgbClr val="DB0011"/>
          </a:solidFill>
          <a:ln/>
        </p:spPr>
      </p:sp>
      <p:sp>
        <p:nvSpPr>
          <p:cNvPr id="59" name="Text 57"/>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457200"/>
            <a:ext cx="11185855" cy="292608"/>
          </a:xfrm>
          <a:prstGeom prst="rect">
            <a:avLst/>
          </a:prstGeom>
          <a:noFill/>
          <a:ln/>
        </p:spPr>
        <p:txBody>
          <a:bodyPr wrap="square" lIns="0" tIns="0" rIns="0" bIns="0" rtlCol="0" anchor="ctr"/>
          <a:lstStyle/>
          <a:p>
            <a:pPr indent="0" marL="0">
              <a:buNone/>
            </a:pPr>
            <a:r>
              <a:rPr lang="en-US" sz="1250" b="1" spc="200" kern="0" dirty="0">
                <a:solidFill>
                  <a:srgbClr val="DB0011"/>
                </a:solidFill>
                <a:latin typeface="Arial" pitchFamily="34" charset="0"/>
                <a:ea typeface="Arial" pitchFamily="34" charset="-122"/>
                <a:cs typeface="Arial" pitchFamily="34" charset="-120"/>
              </a:rPr>
              <a:t>§13 · IF YOU ONLY REMEMBER ONE SLIDE</a:t>
            </a:r>
            <a:endParaRPr lang="en-US" sz="1250" dirty="0"/>
          </a:p>
        </p:txBody>
      </p:sp>
      <p:sp>
        <p:nvSpPr>
          <p:cNvPr id="3" name="Text 1"/>
          <p:cNvSpPr/>
          <p:nvPr/>
        </p:nvSpPr>
        <p:spPr>
          <a:xfrm>
            <a:off x="502920" y="749808"/>
            <a:ext cx="10271455" cy="868680"/>
          </a:xfrm>
          <a:prstGeom prst="rect">
            <a:avLst/>
          </a:prstGeom>
          <a:noFill/>
          <a:ln/>
        </p:spPr>
        <p:txBody>
          <a:bodyPr wrap="square" lIns="0" tIns="0" rIns="0" bIns="0" rtlCol="0" anchor="t"/>
          <a:lstStyle/>
          <a:p>
            <a:pPr indent="0" marL="0">
              <a:buNone/>
            </a:pPr>
            <a:r>
              <a:rPr lang="en-US" sz="3000" b="1" dirty="0">
                <a:solidFill>
                  <a:srgbClr val="1A1A1A"/>
                </a:solidFill>
                <a:latin typeface="Arial" pitchFamily="34" charset="0"/>
                <a:ea typeface="Arial" pitchFamily="34" charset="-122"/>
                <a:cs typeface="Arial" pitchFamily="34" charset="-120"/>
              </a:rPr>
              <a:t>The 80/20 playbook</a:t>
            </a:r>
            <a:endParaRPr lang="en-US" sz="3000" dirty="0"/>
          </a:p>
        </p:txBody>
      </p:sp>
      <p:sp>
        <p:nvSpPr>
          <p:cNvPr id="4" name="Shape 2"/>
          <p:cNvSpPr/>
          <p:nvPr/>
        </p:nvSpPr>
        <p:spPr>
          <a:xfrm>
            <a:off x="502920" y="2052828"/>
            <a:ext cx="292608" cy="292608"/>
          </a:xfrm>
          <a:prstGeom prst="ellipse">
            <a:avLst/>
          </a:prstGeom>
          <a:solidFill>
            <a:srgbClr val="DB0011"/>
          </a:solidFill>
          <a:ln/>
        </p:spPr>
      </p:sp>
      <p:sp>
        <p:nvSpPr>
          <p:cNvPr id="5" name="Text 3"/>
          <p:cNvSpPr/>
          <p:nvPr/>
        </p:nvSpPr>
        <p:spPr>
          <a:xfrm>
            <a:off x="502920" y="205282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905256" y="1828800"/>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State the goal, format, and constraints explicitly — don't make the model guess what “done” looks like.</a:t>
            </a:r>
            <a:endParaRPr lang="en-US" sz="1100" dirty="0"/>
          </a:p>
        </p:txBody>
      </p:sp>
      <p:sp>
        <p:nvSpPr>
          <p:cNvPr id="7" name="Shape 5"/>
          <p:cNvSpPr/>
          <p:nvPr/>
        </p:nvSpPr>
        <p:spPr>
          <a:xfrm>
            <a:off x="502920" y="2793492"/>
            <a:ext cx="292608" cy="292608"/>
          </a:xfrm>
          <a:prstGeom prst="ellipse">
            <a:avLst/>
          </a:prstGeom>
          <a:solidFill>
            <a:srgbClr val="DB0011"/>
          </a:solidFill>
          <a:ln/>
        </p:spPr>
      </p:sp>
      <p:sp>
        <p:nvSpPr>
          <p:cNvPr id="8" name="Text 6"/>
          <p:cNvSpPr/>
          <p:nvPr/>
        </p:nvSpPr>
        <p:spPr>
          <a:xfrm>
            <a:off x="502920" y="27934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p:nvPr/>
        </p:nvSpPr>
        <p:spPr>
          <a:xfrm>
            <a:off x="905256" y="2569464"/>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Check which channel a struggling instruction actually lives in before rewording it.</a:t>
            </a:r>
            <a:endParaRPr lang="en-US" sz="1100" dirty="0"/>
          </a:p>
        </p:txBody>
      </p:sp>
      <p:sp>
        <p:nvSpPr>
          <p:cNvPr id="10" name="Shape 8"/>
          <p:cNvSpPr/>
          <p:nvPr/>
        </p:nvSpPr>
        <p:spPr>
          <a:xfrm>
            <a:off x="502920" y="3534156"/>
            <a:ext cx="292608" cy="292608"/>
          </a:xfrm>
          <a:prstGeom prst="ellipse">
            <a:avLst/>
          </a:prstGeom>
          <a:solidFill>
            <a:srgbClr val="DB0011"/>
          </a:solidFill>
          <a:ln/>
        </p:spPr>
      </p:sp>
      <p:sp>
        <p:nvSpPr>
          <p:cNvPr id="11" name="Text 9"/>
          <p:cNvSpPr/>
          <p:nvPr/>
        </p:nvSpPr>
        <p:spPr>
          <a:xfrm>
            <a:off x="502920" y="35341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10"/>
          <p:cNvSpPr/>
          <p:nvPr/>
        </p:nvSpPr>
        <p:spPr>
          <a:xfrm>
            <a:off x="905256" y="3310128"/>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Ask: wording problem, missing-context problem, or missing-tool problem? Three different fixes.</a:t>
            </a:r>
            <a:endParaRPr lang="en-US" sz="1100" dirty="0"/>
          </a:p>
        </p:txBody>
      </p:sp>
      <p:sp>
        <p:nvSpPr>
          <p:cNvPr id="13" name="Shape 11"/>
          <p:cNvSpPr/>
          <p:nvPr/>
        </p:nvSpPr>
        <p:spPr>
          <a:xfrm>
            <a:off x="502920" y="4274820"/>
            <a:ext cx="292608" cy="292608"/>
          </a:xfrm>
          <a:prstGeom prst="ellipse">
            <a:avLst/>
          </a:prstGeom>
          <a:solidFill>
            <a:srgbClr val="DB0011"/>
          </a:solidFill>
          <a:ln/>
        </p:spPr>
      </p:sp>
      <p:sp>
        <p:nvSpPr>
          <p:cNvPr id="14" name="Text 12"/>
          <p:cNvSpPr/>
          <p:nvPr/>
        </p:nvSpPr>
        <p:spPr>
          <a:xfrm>
            <a:off x="502920" y="427482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p:nvPr/>
        </p:nvSpPr>
        <p:spPr>
          <a:xfrm>
            <a:off x="905256" y="4050792"/>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Don't force manual step-by-step onto a reasoning-native model — test without heavy scaffolding first.</a:t>
            </a:r>
            <a:endParaRPr lang="en-US" sz="1100" dirty="0"/>
          </a:p>
        </p:txBody>
      </p:sp>
      <p:sp>
        <p:nvSpPr>
          <p:cNvPr id="16" name="Shape 14"/>
          <p:cNvSpPr/>
          <p:nvPr/>
        </p:nvSpPr>
        <p:spPr>
          <a:xfrm>
            <a:off x="502920" y="5015484"/>
            <a:ext cx="292608" cy="292608"/>
          </a:xfrm>
          <a:prstGeom prst="ellipse">
            <a:avLst/>
          </a:prstGeom>
          <a:solidFill>
            <a:srgbClr val="DB0011"/>
          </a:solidFill>
          <a:ln/>
        </p:spPr>
      </p:sp>
      <p:sp>
        <p:nvSpPr>
          <p:cNvPr id="17" name="Text 15"/>
          <p:cNvSpPr/>
          <p:nvPr/>
        </p:nvSpPr>
        <p:spPr>
          <a:xfrm>
            <a:off x="502920" y="501548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8" name="Text 16"/>
          <p:cNvSpPr/>
          <p:nvPr/>
        </p:nvSpPr>
        <p:spPr>
          <a:xfrm>
            <a:off x="905256" y="4791456"/>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For long documents: data at the top, question at the end, quotes before conclusions.</a:t>
            </a:r>
            <a:endParaRPr lang="en-US" sz="1100" dirty="0"/>
          </a:p>
        </p:txBody>
      </p:sp>
      <p:sp>
        <p:nvSpPr>
          <p:cNvPr id="19" name="Shape 17"/>
          <p:cNvSpPr/>
          <p:nvPr/>
        </p:nvSpPr>
        <p:spPr>
          <a:xfrm>
            <a:off x="6233008" y="2052828"/>
            <a:ext cx="292608" cy="292608"/>
          </a:xfrm>
          <a:prstGeom prst="ellipse">
            <a:avLst/>
          </a:prstGeom>
          <a:solidFill>
            <a:srgbClr val="DB0011"/>
          </a:solidFill>
          <a:ln/>
        </p:spPr>
      </p:sp>
      <p:sp>
        <p:nvSpPr>
          <p:cNvPr id="20" name="Text 18"/>
          <p:cNvSpPr/>
          <p:nvPr/>
        </p:nvSpPr>
        <p:spPr>
          <a:xfrm>
            <a:off x="6233008" y="2052828"/>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1" name="Text 19"/>
          <p:cNvSpPr/>
          <p:nvPr/>
        </p:nvSpPr>
        <p:spPr>
          <a:xfrm>
            <a:off x="6635344" y="1828800"/>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For anything feeding another system, use real schema-constrained output, not a polite JSON request.</a:t>
            </a:r>
            <a:endParaRPr lang="en-US" sz="1100" dirty="0"/>
          </a:p>
        </p:txBody>
      </p:sp>
      <p:sp>
        <p:nvSpPr>
          <p:cNvPr id="22" name="Shape 20"/>
          <p:cNvSpPr/>
          <p:nvPr/>
        </p:nvSpPr>
        <p:spPr>
          <a:xfrm>
            <a:off x="6233008" y="2793492"/>
            <a:ext cx="292608" cy="292608"/>
          </a:xfrm>
          <a:prstGeom prst="ellipse">
            <a:avLst/>
          </a:prstGeom>
          <a:solidFill>
            <a:srgbClr val="DB0011"/>
          </a:solidFill>
          <a:ln/>
        </p:spPr>
      </p:sp>
      <p:sp>
        <p:nvSpPr>
          <p:cNvPr id="23" name="Text 21"/>
          <p:cNvSpPr/>
          <p:nvPr/>
        </p:nvSpPr>
        <p:spPr>
          <a:xfrm>
            <a:off x="6233008" y="27934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24" name="Text 22"/>
          <p:cNvSpPr/>
          <p:nvPr/>
        </p:nvSpPr>
        <p:spPr>
          <a:xfrm>
            <a:off x="6635344" y="2569464"/>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For agentic actions, state which need confirmation, based on reversibility — don't rely on inferred judgment.</a:t>
            </a:r>
            <a:endParaRPr lang="en-US" sz="1100" dirty="0"/>
          </a:p>
        </p:txBody>
      </p:sp>
      <p:sp>
        <p:nvSpPr>
          <p:cNvPr id="25" name="Shape 23"/>
          <p:cNvSpPr/>
          <p:nvPr/>
        </p:nvSpPr>
        <p:spPr>
          <a:xfrm>
            <a:off x="6233008" y="3534156"/>
            <a:ext cx="292608" cy="292608"/>
          </a:xfrm>
          <a:prstGeom prst="ellipse">
            <a:avLst/>
          </a:prstGeom>
          <a:solidFill>
            <a:srgbClr val="DB0011"/>
          </a:solidFill>
          <a:ln/>
        </p:spPr>
      </p:sp>
      <p:sp>
        <p:nvSpPr>
          <p:cNvPr id="26" name="Text 24"/>
          <p:cNvSpPr/>
          <p:nvPr/>
        </p:nvSpPr>
        <p:spPr>
          <a:xfrm>
            <a:off x="6233008" y="35341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27" name="Text 25"/>
          <p:cNvSpPr/>
          <p:nvPr/>
        </p:nvSpPr>
        <p:spPr>
          <a:xfrm>
            <a:off x="6635344" y="3310128"/>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Test against a small real set, including adversarial cases — re-test after any model version change.</a:t>
            </a:r>
            <a:endParaRPr lang="en-US" sz="1100" dirty="0"/>
          </a:p>
        </p:txBody>
      </p:sp>
      <p:sp>
        <p:nvSpPr>
          <p:cNvPr id="28" name="Shape 26"/>
          <p:cNvSpPr/>
          <p:nvPr/>
        </p:nvSpPr>
        <p:spPr>
          <a:xfrm>
            <a:off x="6233008" y="4274820"/>
            <a:ext cx="292608" cy="292608"/>
          </a:xfrm>
          <a:prstGeom prst="ellipse">
            <a:avLst/>
          </a:prstGeom>
          <a:solidFill>
            <a:srgbClr val="DB0011"/>
          </a:solidFill>
          <a:ln/>
        </p:spPr>
      </p:sp>
      <p:sp>
        <p:nvSpPr>
          <p:cNvPr id="29" name="Text 27"/>
          <p:cNvSpPr/>
          <p:nvPr/>
        </p:nvSpPr>
        <p:spPr>
          <a:xfrm>
            <a:off x="6233008" y="427482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30" name="Text 28"/>
          <p:cNvSpPr/>
          <p:nvPr/>
        </p:nvSpPr>
        <p:spPr>
          <a:xfrm>
            <a:off x="6635344" y="4050792"/>
            <a:ext cx="5053432" cy="740664"/>
          </a:xfrm>
          <a:prstGeom prst="rect">
            <a:avLst/>
          </a:prstGeom>
          <a:noFill/>
          <a:ln/>
        </p:spPr>
        <p:txBody>
          <a:bodyPr wrap="square" lIns="0" tIns="0" rIns="0" bIns="0" rtlCol="0" anchor="ctr"/>
          <a:lstStyle/>
          <a:p>
            <a:pPr indent="0" marL="0">
              <a:lnSpc>
                <a:spcPct val="110000"/>
              </a:lnSpc>
              <a:buNone/>
            </a:pPr>
            <a:r>
              <a:rPr lang="en-US" sz="1100" dirty="0">
                <a:solidFill>
                  <a:srgbClr val="1A1A1A"/>
                </a:solidFill>
                <a:latin typeface="Arial" pitchFamily="34" charset="0"/>
                <a:ea typeface="Arial" pitchFamily="34" charset="-122"/>
                <a:cs typeface="Arial" pitchFamily="34" charset="-120"/>
              </a:rPr>
              <a:t>Never let content the model reads be implicitly trusted as instruction.</a:t>
            </a:r>
            <a:endParaRPr lang="en-US" sz="1100" dirty="0"/>
          </a:p>
        </p:txBody>
      </p:sp>
      <p:sp>
        <p:nvSpPr>
          <p:cNvPr id="31" name="Text 29"/>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63666A"/>
                </a:solidFill>
                <a:latin typeface="Arial" pitchFamily="34" charset="0"/>
                <a:ea typeface="Arial" pitchFamily="34" charset="-122"/>
                <a:cs typeface="Arial" pitchFamily="34" charset="-120"/>
              </a:rPr>
              <a:t>The Complete Prompt Engineering Course, §13</a:t>
            </a:r>
            <a:endParaRPr lang="en-US" sz="900" dirty="0"/>
          </a:p>
        </p:txBody>
      </p:sp>
      <p:sp>
        <p:nvSpPr>
          <p:cNvPr id="32" name="Text 30"/>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63666A"/>
                </a:solidFill>
                <a:latin typeface="Arial" pitchFamily="34" charset="0"/>
                <a:ea typeface="Arial" pitchFamily="34" charset="-122"/>
                <a:cs typeface="Arial" pitchFamily="34" charset="-120"/>
              </a:rPr>
              <a:t>23 / 24</a:t>
            </a:r>
            <a:endParaRPr lang="en-US" sz="900" dirty="0"/>
          </a:p>
        </p:txBody>
      </p:sp>
      <p:sp>
        <p:nvSpPr>
          <p:cNvPr id="33" name="Shape 31"/>
          <p:cNvSpPr/>
          <p:nvPr/>
        </p:nvSpPr>
        <p:spPr>
          <a:xfrm>
            <a:off x="11263579" y="6437376"/>
            <a:ext cx="283464" cy="283464"/>
          </a:xfrm>
          <a:prstGeom prst="rect">
            <a:avLst/>
          </a:prstGeom>
          <a:solidFill>
            <a:srgbClr val="FFFFFF"/>
          </a:solidFill>
          <a:ln/>
        </p:spPr>
      </p:sp>
      <p:sp>
        <p:nvSpPr>
          <p:cNvPr id="34" name="Shape 32"/>
          <p:cNvSpPr/>
          <p:nvPr/>
        </p:nvSpPr>
        <p:spPr>
          <a:xfrm rot="10800000">
            <a:off x="11263579" y="6437376"/>
            <a:ext cx="283464" cy="141732"/>
          </a:xfrm>
          <a:prstGeom prst="triangle">
            <a:avLst/>
          </a:prstGeom>
          <a:solidFill>
            <a:srgbClr val="DB0011"/>
          </a:solidFill>
          <a:ln/>
        </p:spPr>
      </p:sp>
      <p:sp>
        <p:nvSpPr>
          <p:cNvPr id="35" name="Shape 33"/>
          <p:cNvSpPr/>
          <p:nvPr/>
        </p:nvSpPr>
        <p:spPr>
          <a:xfrm>
            <a:off x="11263579" y="6579108"/>
            <a:ext cx="283464" cy="141732"/>
          </a:xfrm>
          <a:prstGeom prst="triangle">
            <a:avLst/>
          </a:prstGeom>
          <a:solidFill>
            <a:srgbClr val="DB0011"/>
          </a:solidFill>
          <a:ln/>
        </p:spPr>
      </p:sp>
      <p:sp>
        <p:nvSpPr>
          <p:cNvPr id="36" name="Shape 34"/>
          <p:cNvSpPr/>
          <p:nvPr/>
        </p:nvSpPr>
        <p:spPr>
          <a:xfrm rot="16200000">
            <a:off x="11121847" y="6437376"/>
            <a:ext cx="141732" cy="283464"/>
          </a:xfrm>
          <a:prstGeom prst="triangle">
            <a:avLst/>
          </a:prstGeom>
          <a:solidFill>
            <a:srgbClr val="DB0011"/>
          </a:solidFill>
          <a:ln/>
        </p:spPr>
      </p:sp>
      <p:sp>
        <p:nvSpPr>
          <p:cNvPr id="37" name="Shape 35"/>
          <p:cNvSpPr/>
          <p:nvPr/>
        </p:nvSpPr>
        <p:spPr>
          <a:xfrm rot="5400000">
            <a:off x="11547043" y="6437376"/>
            <a:ext cx="141732" cy="283464"/>
          </a:xfrm>
          <a:prstGeom prst="triangle">
            <a:avLst/>
          </a:prstGeom>
          <a:solidFill>
            <a:srgbClr val="DB0011"/>
          </a:solidFill>
          <a:ln/>
        </p:spPr>
      </p:sp>
      <p:sp>
        <p:nvSpPr>
          <p:cNvPr id="38" name="Text 36"/>
          <p:cNvSpPr/>
          <p:nvPr/>
        </p:nvSpPr>
        <p:spPr>
          <a:xfrm>
            <a:off x="10271455" y="6437376"/>
            <a:ext cx="777240" cy="274320"/>
          </a:xfrm>
          <a:prstGeom prst="rect">
            <a:avLst/>
          </a:prstGeom>
          <a:noFill/>
          <a:ln/>
        </p:spPr>
        <p:txBody>
          <a:bodyPr wrap="square" lIns="0" tIns="0" rIns="0" bIns="0" rtlCol="0" anchor="ctr"/>
          <a:lstStyle/>
          <a:p>
            <a:pPr algn="r" indent="0" marL="0">
              <a:buNone/>
            </a:pPr>
            <a:r>
              <a:rPr lang="en-US" sz="1000" b="1" dirty="0">
                <a:solidFill>
                  <a:srgbClr val="1A1A1A"/>
                </a:solidFill>
                <a:latin typeface="Arial" pitchFamily="34" charset="0"/>
                <a:ea typeface="Arial" pitchFamily="34" charset="-122"/>
                <a:cs typeface="Arial" pitchFamily="34" charset="-120"/>
              </a:rPr>
              <a:t>HSBC</a:t>
            </a:r>
            <a:endParaRPr lang="en-US" sz="10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5867248" y="685800"/>
            <a:ext cx="457200" cy="457200"/>
          </a:xfrm>
          <a:prstGeom prst="rect">
            <a:avLst/>
          </a:prstGeom>
          <a:solidFill>
            <a:srgbClr val="FFFFFF"/>
          </a:solidFill>
          <a:ln/>
        </p:spPr>
      </p:sp>
      <p:sp>
        <p:nvSpPr>
          <p:cNvPr id="3" name="Shape 1"/>
          <p:cNvSpPr/>
          <p:nvPr/>
        </p:nvSpPr>
        <p:spPr>
          <a:xfrm rot="10800000">
            <a:off x="5867248" y="685800"/>
            <a:ext cx="457200" cy="228600"/>
          </a:xfrm>
          <a:prstGeom prst="triangle">
            <a:avLst/>
          </a:prstGeom>
          <a:solidFill>
            <a:srgbClr val="DB0011"/>
          </a:solidFill>
          <a:ln/>
        </p:spPr>
      </p:sp>
      <p:sp>
        <p:nvSpPr>
          <p:cNvPr id="4" name="Shape 2"/>
          <p:cNvSpPr/>
          <p:nvPr/>
        </p:nvSpPr>
        <p:spPr>
          <a:xfrm>
            <a:off x="5867248" y="914400"/>
            <a:ext cx="457200" cy="228600"/>
          </a:xfrm>
          <a:prstGeom prst="triangle">
            <a:avLst/>
          </a:prstGeom>
          <a:solidFill>
            <a:srgbClr val="DB0011"/>
          </a:solidFill>
          <a:ln/>
        </p:spPr>
      </p:sp>
      <p:sp>
        <p:nvSpPr>
          <p:cNvPr id="5" name="Shape 3"/>
          <p:cNvSpPr/>
          <p:nvPr/>
        </p:nvSpPr>
        <p:spPr>
          <a:xfrm rot="16200000">
            <a:off x="5638648" y="685800"/>
            <a:ext cx="228600" cy="457200"/>
          </a:xfrm>
          <a:prstGeom prst="triangle">
            <a:avLst/>
          </a:prstGeom>
          <a:solidFill>
            <a:srgbClr val="DB0011"/>
          </a:solidFill>
          <a:ln/>
        </p:spPr>
      </p:sp>
      <p:sp>
        <p:nvSpPr>
          <p:cNvPr id="6" name="Shape 4"/>
          <p:cNvSpPr/>
          <p:nvPr/>
        </p:nvSpPr>
        <p:spPr>
          <a:xfrm rot="5400000">
            <a:off x="6324448" y="685800"/>
            <a:ext cx="228600" cy="457200"/>
          </a:xfrm>
          <a:prstGeom prst="triangle">
            <a:avLst/>
          </a:prstGeom>
          <a:solidFill>
            <a:srgbClr val="DB0011"/>
          </a:solidFill>
          <a:ln/>
        </p:spPr>
      </p:sp>
      <p:sp>
        <p:nvSpPr>
          <p:cNvPr id="7" name="Text 5"/>
          <p:cNvSpPr/>
          <p:nvPr/>
        </p:nvSpPr>
        <p:spPr>
          <a:xfrm>
            <a:off x="731520" y="1783080"/>
            <a:ext cx="10728655"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Thank you</a:t>
            </a:r>
            <a:endParaRPr lang="en-US" sz="3000" dirty="0"/>
          </a:p>
        </p:txBody>
      </p:sp>
      <p:sp>
        <p:nvSpPr>
          <p:cNvPr id="8" name="Text 6"/>
          <p:cNvSpPr/>
          <p:nvPr/>
        </p:nvSpPr>
        <p:spPr>
          <a:xfrm>
            <a:off x="731520" y="2377440"/>
            <a:ext cx="10728655" cy="365760"/>
          </a:xfrm>
          <a:prstGeom prst="rect">
            <a:avLst/>
          </a:prstGeom>
          <a:noFill/>
          <a:ln/>
        </p:spPr>
        <p:txBody>
          <a:bodyPr wrap="square" lIns="0" tIns="0" rIns="0" bIns="0" rtlCol="0" anchor="ctr"/>
          <a:lstStyle/>
          <a:p>
            <a:pPr algn="ctr" indent="0" marL="0">
              <a:buNone/>
            </a:pPr>
            <a:r>
              <a:rPr lang="en-US" sz="1400" i="1" dirty="0">
                <a:solidFill>
                  <a:srgbClr val="DB0011"/>
                </a:solidFill>
                <a:latin typeface="Arial" pitchFamily="34" charset="0"/>
                <a:ea typeface="Arial" pitchFamily="34" charset="-122"/>
                <a:cs typeface="Arial" pitchFamily="34" charset="-120"/>
              </a:rPr>
              <a:t>Sources &amp; further reading</a:t>
            </a:r>
            <a:endParaRPr lang="en-US" sz="1400" dirty="0"/>
          </a:p>
        </p:txBody>
      </p:sp>
      <p:sp>
        <p:nvSpPr>
          <p:cNvPr id="9" name="Text 7"/>
          <p:cNvSpPr/>
          <p:nvPr/>
        </p:nvSpPr>
        <p:spPr>
          <a:xfrm>
            <a:off x="502920" y="3063240"/>
            <a:ext cx="3545738" cy="320040"/>
          </a:xfrm>
          <a:prstGeom prst="rect">
            <a:avLst/>
          </a:prstGeom>
          <a:noFill/>
          <a:ln/>
        </p:spPr>
        <p:txBody>
          <a:bodyPr wrap="square" lIns="0" tIns="0" rIns="0" bIns="0" rtlCol="0" anchor="ctr"/>
          <a:lstStyle/>
          <a:p>
            <a:pPr indent="0" marL="0">
              <a:buNone/>
            </a:pPr>
            <a:r>
              <a:rPr lang="en-US" sz="1100" b="1" spc="100" kern="0" dirty="0">
                <a:solidFill>
                  <a:srgbClr val="DB0011"/>
                </a:solidFill>
                <a:latin typeface="Arial" pitchFamily="34" charset="0"/>
                <a:ea typeface="Arial" pitchFamily="34" charset="-122"/>
                <a:cs typeface="Arial" pitchFamily="34" charset="-120"/>
              </a:rPr>
              <a:t>OFFICIAL, CURRENT GUIDANCE</a:t>
            </a:r>
            <a:endParaRPr lang="en-US" sz="1100" dirty="0"/>
          </a:p>
        </p:txBody>
      </p:sp>
      <p:sp>
        <p:nvSpPr>
          <p:cNvPr id="10" name="Text 8"/>
          <p:cNvSpPr/>
          <p:nvPr/>
        </p:nvSpPr>
        <p:spPr>
          <a:xfrm>
            <a:off x="502920" y="3401568"/>
            <a:ext cx="3545738" cy="2377440"/>
          </a:xfrm>
          <a:prstGeom prst="rect">
            <a:avLst/>
          </a:prstGeom>
          <a:noFill/>
          <a:ln/>
        </p:spPr>
        <p:txBody>
          <a:bodyPr wrap="square" lIns="0" tIns="0" rIns="0" bIns="0" rtlCol="0" anchor="ctr"/>
          <a:lstStyle/>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Anthropic — Prompt Engineering Overview</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Anthropic — Claude Prompting Best Practices</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Anthropic — Writing Effective Tools for AI Agents</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Google — Gemini API Prompting Strategies</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OpenAI — Reasoning Model Best Practices</a:t>
            </a:r>
            <a:endParaRPr lang="en-US" sz="1050" dirty="0"/>
          </a:p>
        </p:txBody>
      </p:sp>
      <p:sp>
        <p:nvSpPr>
          <p:cNvPr id="11" name="Text 9"/>
          <p:cNvSpPr/>
          <p:nvPr/>
        </p:nvSpPr>
        <p:spPr>
          <a:xfrm>
            <a:off x="4322978" y="3063240"/>
            <a:ext cx="3545738" cy="320040"/>
          </a:xfrm>
          <a:prstGeom prst="rect">
            <a:avLst/>
          </a:prstGeom>
          <a:noFill/>
          <a:ln/>
        </p:spPr>
        <p:txBody>
          <a:bodyPr wrap="square" lIns="0" tIns="0" rIns="0" bIns="0" rtlCol="0" anchor="ctr"/>
          <a:lstStyle/>
          <a:p>
            <a:pPr indent="0" marL="0">
              <a:buNone/>
            </a:pPr>
            <a:r>
              <a:rPr lang="en-US" sz="1100" b="1" spc="100" kern="0" dirty="0">
                <a:solidFill>
                  <a:srgbClr val="DB0011"/>
                </a:solidFill>
                <a:latin typeface="Arial" pitchFamily="34" charset="0"/>
                <a:ea typeface="Arial" pitchFamily="34" charset="-122"/>
                <a:cs typeface="Arial" pitchFamily="34" charset="-120"/>
              </a:rPr>
              <a:t>FOUNDATIONAL RESEARCH</a:t>
            </a:r>
            <a:endParaRPr lang="en-US" sz="1100" dirty="0"/>
          </a:p>
        </p:txBody>
      </p:sp>
      <p:sp>
        <p:nvSpPr>
          <p:cNvPr id="12" name="Text 10"/>
          <p:cNvSpPr/>
          <p:nvPr/>
        </p:nvSpPr>
        <p:spPr>
          <a:xfrm>
            <a:off x="4322978" y="3401568"/>
            <a:ext cx="3545738" cy="2377440"/>
          </a:xfrm>
          <a:prstGeom prst="rect">
            <a:avLst/>
          </a:prstGeom>
          <a:noFill/>
          <a:ln/>
        </p:spPr>
        <p:txBody>
          <a:bodyPr wrap="square" lIns="0" tIns="0" rIns="0" bIns="0" rtlCol="0" anchor="ctr"/>
          <a:lstStyle/>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Wei et al., 2022 — Chain-of-Thought Prompting</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Wang et al., 2022 — Self-Consistency</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Yao et al., 2022/2023 — ReAct / Tree of Thoughts</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Liu et al., 2023 — Lost in the Middle</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Hsieh et al., 2024 — Found in the Middle</a:t>
            </a:r>
            <a:endParaRPr lang="en-US" sz="1050" dirty="0"/>
          </a:p>
        </p:txBody>
      </p:sp>
      <p:sp>
        <p:nvSpPr>
          <p:cNvPr id="13" name="Text 11"/>
          <p:cNvSpPr/>
          <p:nvPr/>
        </p:nvSpPr>
        <p:spPr>
          <a:xfrm>
            <a:off x="8143037" y="3063240"/>
            <a:ext cx="3545738" cy="320040"/>
          </a:xfrm>
          <a:prstGeom prst="rect">
            <a:avLst/>
          </a:prstGeom>
          <a:noFill/>
          <a:ln/>
        </p:spPr>
        <p:txBody>
          <a:bodyPr wrap="square" lIns="0" tIns="0" rIns="0" bIns="0" rtlCol="0" anchor="ctr"/>
          <a:lstStyle/>
          <a:p>
            <a:pPr indent="0" marL="0">
              <a:buNone/>
            </a:pPr>
            <a:r>
              <a:rPr lang="en-US" sz="1100" b="1" spc="100" kern="0" dirty="0">
                <a:solidFill>
                  <a:srgbClr val="DB0011"/>
                </a:solidFill>
                <a:latin typeface="Arial" pitchFamily="34" charset="0"/>
                <a:ea typeface="Arial" pitchFamily="34" charset="-122"/>
                <a:cs typeface="Arial" pitchFamily="34" charset="-120"/>
              </a:rPr>
              <a:t>PRACTICE &amp; SECURITY</a:t>
            </a:r>
            <a:endParaRPr lang="en-US" sz="1100" dirty="0"/>
          </a:p>
        </p:txBody>
      </p:sp>
      <p:sp>
        <p:nvSpPr>
          <p:cNvPr id="14" name="Text 12"/>
          <p:cNvSpPr/>
          <p:nvPr/>
        </p:nvSpPr>
        <p:spPr>
          <a:xfrm>
            <a:off x="8143037" y="3401568"/>
            <a:ext cx="3545738" cy="2377440"/>
          </a:xfrm>
          <a:prstGeom prst="rect">
            <a:avLst/>
          </a:prstGeom>
          <a:noFill/>
          <a:ln/>
        </p:spPr>
        <p:txBody>
          <a:bodyPr wrap="square" lIns="0" tIns="0" rIns="0" bIns="0" rtlCol="0" anchor="ctr"/>
          <a:lstStyle/>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Elastic — Context vs. Prompt Engineering</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Hamel Husain — LLM-as-a-Judge Guide</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OWASP Top 10 for LLM Applications</a:t>
            </a:r>
            <a:endParaRPr lang="en-US" sz="1050" dirty="0"/>
          </a:p>
          <a:p>
            <a:pPr marL="342900" indent="-342900">
              <a:lnSpc>
                <a:spcPct val="130000"/>
              </a:lnSpc>
              <a:buSzPct val="100000"/>
              <a:buChar char="•"/>
            </a:pPr>
            <a:r>
              <a:rPr lang="en-US" sz="1050" dirty="0">
                <a:solidFill>
                  <a:srgbClr val="B7B9BB"/>
                </a:solidFill>
                <a:latin typeface="Arial" pitchFamily="34" charset="0"/>
                <a:ea typeface="Arial" pitchFamily="34" charset="-122"/>
                <a:cs typeface="Arial" pitchFamily="34" charset="-120"/>
              </a:rPr>
              <a:t>Simon Willison — Reasoning Models Advice</a:t>
            </a:r>
            <a:endParaRPr lang="en-US" sz="1050" dirty="0"/>
          </a:p>
        </p:txBody>
      </p:sp>
      <p:sp>
        <p:nvSpPr>
          <p:cNvPr id="15" name="Text 13"/>
          <p:cNvSpPr/>
          <p:nvPr/>
        </p:nvSpPr>
        <p:spPr>
          <a:xfrm>
            <a:off x="502920" y="6437376"/>
            <a:ext cx="9539935" cy="274320"/>
          </a:xfrm>
          <a:prstGeom prst="rect">
            <a:avLst/>
          </a:prstGeom>
          <a:noFill/>
          <a:ln/>
        </p:spPr>
        <p:txBody>
          <a:bodyPr wrap="square" lIns="0" tIns="0" rIns="0" bIns="0" rtlCol="0" anchor="ctr"/>
          <a:lstStyle/>
          <a:p>
            <a:pPr algn="l" indent="0" marL="0">
              <a:buNone/>
            </a:pPr>
            <a:r>
              <a:rPr lang="en-US" sz="900" i="1" dirty="0">
                <a:solidFill>
                  <a:srgbClr val="B7B9BB"/>
                </a:solidFill>
                <a:latin typeface="Arial" pitchFamily="34" charset="0"/>
                <a:ea typeface="Arial" pitchFamily="34" charset="-122"/>
                <a:cs typeface="Arial" pitchFamily="34" charset="-120"/>
              </a:rPr>
              <a:t>Full citation list: notes/reference/prompt-engineering-course.md</a:t>
            </a:r>
            <a:endParaRPr lang="en-US" sz="900" dirty="0"/>
          </a:p>
        </p:txBody>
      </p:sp>
      <p:sp>
        <p:nvSpPr>
          <p:cNvPr id="16" name="Text 14"/>
          <p:cNvSpPr/>
          <p:nvPr/>
        </p:nvSpPr>
        <p:spPr>
          <a:xfrm>
            <a:off x="9905695" y="6437376"/>
            <a:ext cx="365760" cy="274320"/>
          </a:xfrm>
          <a:prstGeom prst="rect">
            <a:avLst/>
          </a:prstGeom>
          <a:noFill/>
          <a:ln/>
        </p:spPr>
        <p:txBody>
          <a:bodyPr wrap="square" lIns="0" tIns="0" rIns="0" bIns="0" rtlCol="0" anchor="ctr"/>
          <a:lstStyle/>
          <a:p>
            <a:pPr algn="r" indent="0" marL="0">
              <a:buNone/>
            </a:pPr>
            <a:r>
              <a:rPr lang="en-US" sz="900" dirty="0">
                <a:solidFill>
                  <a:srgbClr val="B7B9BB"/>
                </a:solidFill>
                <a:latin typeface="Arial" pitchFamily="34" charset="0"/>
                <a:ea typeface="Arial" pitchFamily="34" charset="-122"/>
                <a:cs typeface="Arial" pitchFamily="34" charset="-120"/>
              </a:rPr>
              <a:t>24 / 24</a:t>
            </a:r>
            <a:endParaRPr lang="en-US" sz="900" dirty="0"/>
          </a:p>
        </p:txBody>
      </p:sp>
      <p:sp>
        <p:nvSpPr>
          <p:cNvPr id="17" name="Shape 15"/>
          <p:cNvSpPr/>
          <p:nvPr/>
        </p:nvSpPr>
        <p:spPr>
          <a:xfrm>
            <a:off x="11263579" y="6437376"/>
            <a:ext cx="283464" cy="283464"/>
          </a:xfrm>
          <a:prstGeom prst="rect">
            <a:avLst/>
          </a:prstGeom>
          <a:solidFill>
            <a:srgbClr val="FFFFFF"/>
          </a:solidFill>
          <a:ln/>
        </p:spPr>
      </p:sp>
      <p:sp>
        <p:nvSpPr>
          <p:cNvPr id="18" name="Shape 16"/>
          <p:cNvSpPr/>
          <p:nvPr/>
        </p:nvSpPr>
        <p:spPr>
          <a:xfrm rot="10800000">
            <a:off x="11263579" y="6437376"/>
            <a:ext cx="283464" cy="141732"/>
          </a:xfrm>
          <a:prstGeom prst="triangle">
            <a:avLst/>
          </a:prstGeom>
          <a:solidFill>
            <a:srgbClr val="DB0011"/>
          </a:solidFill>
          <a:ln/>
        </p:spPr>
      </p:sp>
      <p:sp>
        <p:nvSpPr>
          <p:cNvPr id="19" name="Shape 17"/>
          <p:cNvSpPr/>
          <p:nvPr/>
        </p:nvSpPr>
        <p:spPr>
          <a:xfrm>
            <a:off x="11263579" y="6579108"/>
            <a:ext cx="283464" cy="141732"/>
          </a:xfrm>
          <a:prstGeom prst="triangle">
            <a:avLst/>
          </a:prstGeom>
          <a:solidFill>
            <a:srgbClr val="DB0011"/>
          </a:solidFill>
          <a:ln/>
        </p:spPr>
      </p:sp>
      <p:sp>
        <p:nvSpPr>
          <p:cNvPr id="20" name="Shape 18"/>
          <p:cNvSpPr/>
          <p:nvPr/>
        </p:nvSpPr>
        <p:spPr>
          <a:xfrm rot="16200000">
            <a:off x="11121847" y="6437376"/>
            <a:ext cx="141732" cy="283464"/>
          </a:xfrm>
          <a:prstGeom prst="triangle">
            <a:avLst/>
          </a:prstGeom>
          <a:solidFill>
            <a:srgbClr val="DB0011"/>
          </a:solidFill>
          <a:ln/>
        </p:spPr>
      </p:sp>
      <p:sp>
        <p:nvSpPr>
          <p:cNvPr id="21" name="Shape 19"/>
          <p:cNvSpPr/>
          <p:nvPr/>
        </p:nvSpPr>
        <p:spPr>
          <a:xfrm rot="5400000">
            <a:off x="11547043" y="6437376"/>
            <a:ext cx="141732" cy="283464"/>
          </a:xfrm>
          <a:prstGeom prst="triangle">
            <a:avLst/>
          </a:prstGeom>
          <a:solidFill>
            <a:srgbClr val="DB0011"/>
          </a:solidFill>
          <a:ln/>
        </p:spPr>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HSBC Global Markets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 Engineering: From First Principles to Production</dc:title>
  <dc:subject>PptxGenJS Presentation</dc:subject>
  <dc:creator>Sai Srinivas</dc:creator>
  <cp:lastModifiedBy>Sai Srinivas</cp:lastModifiedBy>
  <cp:revision>1</cp:revision>
  <dcterms:created xsi:type="dcterms:W3CDTF">2026-10-04T19:48:16Z</dcterms:created>
  <dcterms:modified xsi:type="dcterms:W3CDTF">2026-10-04T19:48:16Z</dcterms:modified>
</cp:coreProperties>
</file>